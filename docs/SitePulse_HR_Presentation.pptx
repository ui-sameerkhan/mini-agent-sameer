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63"/>
                </a:solidFill>
                <a:latin typeface="Calibri"/>
              </a:defRPr>
            </a:pPr>
            <a:r>
              <a:rPr sz="1200" b="0" i="0" u="none" strike="noStrike">
                <a:solidFill>
                  <a:srgbClr val="5B6B63"/>
                </a:solidFill>
                <a:latin typeface="Calibri"/>
              </a:rPr>
              <a:t>Excel report generation (seconds)</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0B66D6"/>
            </a:solidFill>
            <a:effectLst/>
          </c:spPr>
          <c:invertIfNegative val="0"/>
          <c:dLbls>
            <c:numFmt formatCode="#,##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dPt>
            <c:idx val="0"/>
            <c:invertIfNegative val="0"/>
            <c:bubble3D val="0"/>
            <c:spPr>
              <a:solidFill>
                <a:srgbClr val="0B66D6"/>
              </a:solidFill>
              <a:effectLst/>
            </c:spPr>
          </c:dPt>
          <c:dPt>
            <c:idx val="1"/>
            <c:invertIfNegative val="0"/>
            <c:bubble3D val="0"/>
            <c:spPr>
              <a:solidFill>
                <a:srgbClr val="00113D"/>
              </a:solidFill>
              <a:effectLst/>
            </c:spPr>
          </c:dPt>
          <c:cat>
            <c:multiLvlStrRef>
              <c:f>Sheet1!$A$2:$A$3</c:f>
              <c:multiLvlStrCache>
                <c:ptCount val="2"/>
                <c:lvl>
                  <c:pt idx="0">
                    <c:v>Whole company,
one day
4,000 rows</c:v>
                  </c:pt>
                  <c:pt idx="1">
                    <c:v>One project,
full month
10,400 rows</c:v>
                  </c:pt>
                </c:lvl>
              </c:multiLvlStrCache>
            </c:multiLvlStrRef>
          </c:cat>
          <c:val>
            <c:numRef>
              <c:f>Sheet1!$B$2:$B$3</c:f>
              <c:numCache>
                <c:formatCode>General</c:formatCode>
                <c:ptCount val="2"/>
                <c:pt idx="0">
                  <c:v>1.9</c:v>
                </c:pt>
                <c:pt idx="1">
                  <c:v>8.6</c:v>
                </c:pt>
              </c:numCache>
            </c:numRef>
          </c:val>
        </c:ser>
        <c:dLbls>
          <c:numFmt formatCode="#,##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9525" cap="flat">
              <a:solidFill>
                <a:srgbClr val="DEE6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SitePulse is a workforce attendance system built for KTC. Two apps — Android for site, web for office — sharing one live database. This deck covers what it does, what it proves,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HR and site management raised. Every feature that follows exists to close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a prototype. Both apps are built, tested and running against the live Firebase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refusal is the point. A blocked attempt is written to its own record, so nothing is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first question HR always asks: how do we know the man was on site? The answer is that the phone had to be inside the fence before the record could be written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assignment is the second half of the permission. A timekeeper on Project A cannot open Project B's attendance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operational gap. Attendance was never blocked for a transferred worker, but the roster stayed wrong, so the headcount reports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Absent Report is the one HR cares about most: approved leave and public holidays are already excluded, so an absence in that sheet is a real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and project scope at the top of the dashboard drives everything below it, including the worker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tests are the strongest thing in this deck. They are not claims — they run, and they fail loudly if a permission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is the figure HR gave. The daily company-wide report — the one run every day — finishes in under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slide is remembered, this is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cost line: it is a projection. The point is the shape — no licence, no per-user fee, cost follows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pilot project and a date. A single site for two weeks proves it in front of real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7223760" y="-1371600"/>
            <a:ext cx="3840480" cy="3840480"/>
          </a:xfrm>
          <a:prstGeom prst="ellipse">
            <a:avLst/>
          </a:prstGeom>
          <a:solidFill>
            <a:srgbClr val="0A2050"/>
          </a:solidFill>
          <a:ln w="12700">
            <a:solidFill>
              <a:srgbClr val="0A2050"/>
            </a:solidFill>
            <a:prstDash val="solid"/>
          </a:ln>
        </p:spPr>
      </p:sp>
      <p:sp>
        <p:nvSpPr>
          <p:cNvPr id="3" name="Shape 1"/>
          <p:cNvSpPr/>
          <p:nvPr/>
        </p:nvSpPr>
        <p:spPr>
          <a:xfrm>
            <a:off x="8138160" y="3108960"/>
            <a:ext cx="2377440" cy="2377440"/>
          </a:xfrm>
          <a:prstGeom prst="ellipse">
            <a:avLst/>
          </a:prstGeom>
          <a:solidFill>
            <a:srgbClr val="0A2050"/>
          </a:solidFill>
          <a:ln w="12700">
            <a:solidFill>
              <a:srgbClr val="0A2050"/>
            </a:solidFill>
            <a:prstDash val="solid"/>
          </a:ln>
        </p:spPr>
      </p:sp>
      <p:sp>
        <p:nvSpPr>
          <p:cNvPr id="4" name="Text 2"/>
          <p:cNvSpPr txBox="1"/>
          <p:nvPr/>
        </p:nvSpPr>
        <p:spPr>
          <a:xfrm>
            <a:off x="457200" y="1417320"/>
            <a:ext cx="658368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SitePulse</a:t>
            </a:r>
            <a:endParaRPr lang="en-US" sz="6000" dirty="0"/>
          </a:p>
        </p:txBody>
      </p:sp>
      <p:sp>
        <p:nvSpPr>
          <p:cNvPr id="5" name="Text 3"/>
          <p:cNvSpPr txBox="1"/>
          <p:nvPr/>
        </p:nvSpPr>
        <p:spPr>
          <a:xfrm>
            <a:off x="457200" y="2395728"/>
            <a:ext cx="6583680" cy="411480"/>
          </a:xfrm>
          <a:prstGeom prst="rect">
            <a:avLst/>
          </a:prstGeom>
          <a:noFill/>
          <a:ln/>
        </p:spPr>
        <p:txBody>
          <a:bodyPr wrap="square" lIns="0" tIns="0" rIns="0" bIns="0" rtlCol="0" anchor="ctr"/>
          <a:lstStyle/>
          <a:p>
            <a:pPr indent="0" marL="0">
              <a:buNone/>
            </a:pPr>
            <a:r>
              <a:rPr lang="en-US" sz="1900" dirty="0">
                <a:solidFill>
                  <a:srgbClr val="F9CB14"/>
                </a:solidFill>
                <a:latin typeface="Calibri" pitchFamily="34" charset="0"/>
                <a:ea typeface="Calibri" pitchFamily="34" charset="-122"/>
                <a:cs typeface="Calibri" pitchFamily="34" charset="-120"/>
              </a:rPr>
              <a:t>Workforce Attendance &amp; Manpower Control</a:t>
            </a:r>
            <a:endParaRPr lang="en-US" sz="1900" dirty="0"/>
          </a:p>
        </p:txBody>
      </p:sp>
      <p:sp>
        <p:nvSpPr>
          <p:cNvPr id="6" name="Text 4"/>
          <p:cNvSpPr txBox="1"/>
          <p:nvPr/>
        </p:nvSpPr>
        <p:spPr>
          <a:xfrm>
            <a:off x="457200" y="2907792"/>
            <a:ext cx="6309360" cy="640080"/>
          </a:xfrm>
          <a:prstGeom prst="rect">
            <a:avLst/>
          </a:prstGeom>
          <a:noFill/>
          <a:ln/>
        </p:spPr>
        <p:txBody>
          <a:bodyPr wrap="square" lIns="0" tIns="0" rIns="0" bIns="0" rtlCol="0" anchor="ctr"/>
          <a:lstStyle/>
          <a:p>
            <a:pPr indent="0" marL="0">
              <a:lnSpc>
                <a:spcPct val="115000"/>
              </a:lnSpc>
              <a:buNone/>
            </a:pPr>
            <a:r>
              <a:rPr lang="en-US" sz="1300" dirty="0">
                <a:solidFill>
                  <a:srgbClr val="CADCFC"/>
                </a:solidFill>
                <a:latin typeface="Calibri" pitchFamily="34" charset="0"/>
                <a:ea typeface="Calibri" pitchFamily="34" charset="-122"/>
                <a:cs typeface="Calibri" pitchFamily="34" charset="-120"/>
              </a:rPr>
              <a:t>GPS-verified attendance for every worker, on every project — captured at the gate and in head office at the same moment.</a:t>
            </a:r>
            <a:endParaRPr lang="en-US" sz="1300" dirty="0"/>
          </a:p>
        </p:txBody>
      </p:sp>
      <p:sp>
        <p:nvSpPr>
          <p:cNvPr id="7" name="Shape 5"/>
          <p:cNvSpPr/>
          <p:nvPr/>
        </p:nvSpPr>
        <p:spPr>
          <a:xfrm>
            <a:off x="457200" y="4069080"/>
            <a:ext cx="384048" cy="384048"/>
          </a:xfrm>
          <a:prstGeom prst="ellipse">
            <a:avLst/>
          </a:prstGeom>
          <a:solidFill>
            <a:srgbClr val="F9CB14"/>
          </a:solidFill>
          <a:ln w="12700">
            <a:solidFill>
              <a:srgbClr val="F9CB14"/>
            </a:solidFill>
            <a:prstDash val="solid"/>
          </a:ln>
        </p:spPr>
      </p:sp>
      <p:sp>
        <p:nvSpPr>
          <p:cNvPr id="8" name="Text 6"/>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K</a:t>
            </a:r>
            <a:endParaRPr lang="en-US" sz="1200" dirty="0"/>
          </a:p>
        </p:txBody>
      </p:sp>
      <p:sp>
        <p:nvSpPr>
          <p:cNvPr id="9" name="Text 7"/>
          <p:cNvSpPr txBox="1"/>
          <p:nvPr/>
        </p:nvSpPr>
        <p:spPr>
          <a:xfrm>
            <a:off x="932688" y="4069080"/>
            <a:ext cx="4114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KTC International Contracting</a:t>
            </a:r>
            <a:endParaRPr lang="en-US" sz="1300" dirty="0"/>
          </a:p>
        </p:txBody>
      </p:sp>
      <p:sp>
        <p:nvSpPr>
          <p:cNvPr id="10" name="Text 8"/>
          <p:cNvSpPr txBox="1"/>
          <p:nvPr/>
        </p:nvSpPr>
        <p:spPr>
          <a:xfrm>
            <a:off x="5120640" y="4069080"/>
            <a:ext cx="3566160" cy="384048"/>
          </a:xfrm>
          <a:prstGeom prst="rect">
            <a:avLst/>
          </a:prstGeom>
          <a:noFill/>
          <a:ln/>
        </p:spPr>
        <p:txBody>
          <a:bodyPr wrap="square" lIns="0" tIns="0" rIns="0" bIns="0" rtlCol="0" anchor="ctr"/>
          <a:lstStyle/>
          <a:p>
            <a:pPr algn="r" indent="0" marL="0">
              <a:buNone/>
            </a:pPr>
            <a:r>
              <a:rPr lang="en-US" sz="1200" dirty="0">
                <a:solidFill>
                  <a:srgbClr val="8FA8CC"/>
                </a:solidFill>
                <a:latin typeface="Calibri" pitchFamily="34" charset="0"/>
                <a:ea typeface="Calibri" pitchFamily="34" charset="-122"/>
                <a:cs typeface="Calibri" pitchFamily="34" charset="-120"/>
              </a:rPr>
              <a:t>Prepared for Human Resources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Where attendance breaks down today</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four failures SitePulse was built to remove</a:t>
            </a:r>
            <a:endParaRPr lang="en-US" sz="1300" dirty="0"/>
          </a:p>
        </p:txBody>
      </p:sp>
      <p:sp>
        <p:nvSpPr>
          <p:cNvPr id="4" name="Shape 2"/>
          <p:cNvSpPr/>
          <p:nvPr/>
        </p:nvSpPr>
        <p:spPr>
          <a:xfrm>
            <a:off x="457200" y="1371600"/>
            <a:ext cx="3977640" cy="1481328"/>
          </a:xfrm>
          <a:prstGeom prst="roundRect">
            <a:avLst>
              <a:gd name="adj" fmla="val 5556"/>
            </a:avLst>
          </a:prstGeom>
          <a:solidFill>
            <a:srgbClr val="F5F7F5"/>
          </a:solidFill>
          <a:ln w="9525">
            <a:solidFill>
              <a:srgbClr val="DEE6E1"/>
            </a:solidFill>
            <a:prstDash val="solid"/>
          </a:ln>
        </p:spPr>
      </p:sp>
      <p:sp>
        <p:nvSpPr>
          <p:cNvPr id="5" name="Shape 3"/>
          <p:cNvSpPr/>
          <p:nvPr/>
        </p:nvSpPr>
        <p:spPr>
          <a:xfrm>
            <a:off x="658368" y="1591056"/>
            <a:ext cx="402336" cy="402336"/>
          </a:xfrm>
          <a:prstGeom prst="ellipse">
            <a:avLst/>
          </a:prstGeom>
          <a:solidFill>
            <a:srgbClr val="0B66D6"/>
          </a:solidFill>
          <a:ln w="12700">
            <a:solidFill>
              <a:srgbClr val="0B66D6"/>
            </a:solidFill>
            <a:prstDash val="solid"/>
          </a:ln>
        </p:spPr>
      </p:sp>
      <p:sp>
        <p:nvSpPr>
          <p:cNvPr id="6" name="Text 4"/>
          <p:cNvSpPr txBox="1"/>
          <p:nvPr/>
        </p:nvSpPr>
        <p:spPr>
          <a:xfrm>
            <a:off x="65836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Paper and Excel</a:t>
            </a:r>
            <a:endParaRPr lang="en-US" sz="1400" dirty="0"/>
          </a:p>
        </p:txBody>
      </p:sp>
      <p:sp>
        <p:nvSpPr>
          <p:cNvPr id="8" name="Text 6"/>
          <p:cNvSpPr txBox="1"/>
          <p:nvPr/>
        </p:nvSpPr>
        <p:spPr>
          <a:xfrm>
            <a:off x="118872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day's attendance is collected on paper, typed up later, and consolidated by hand. Mistakes only surface at payroll.</a:t>
            </a:r>
            <a:endParaRPr lang="en-US" sz="1100" dirty="0"/>
          </a:p>
        </p:txBody>
      </p:sp>
      <p:sp>
        <p:nvSpPr>
          <p:cNvPr id="9" name="Shape 7"/>
          <p:cNvSpPr/>
          <p:nvPr/>
        </p:nvSpPr>
        <p:spPr>
          <a:xfrm>
            <a:off x="4709160" y="1371600"/>
            <a:ext cx="3977640" cy="1481328"/>
          </a:xfrm>
          <a:prstGeom prst="roundRect">
            <a:avLst>
              <a:gd name="adj" fmla="val 5556"/>
            </a:avLst>
          </a:prstGeom>
          <a:solidFill>
            <a:srgbClr val="F5F7F5"/>
          </a:solidFill>
          <a:ln w="9525">
            <a:solidFill>
              <a:srgbClr val="DEE6E1"/>
            </a:solidFill>
            <a:prstDash val="solid"/>
          </a:ln>
        </p:spPr>
      </p:sp>
      <p:sp>
        <p:nvSpPr>
          <p:cNvPr id="10" name="Shape 8"/>
          <p:cNvSpPr/>
          <p:nvPr/>
        </p:nvSpPr>
        <p:spPr>
          <a:xfrm>
            <a:off x="4910328" y="1591056"/>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1032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44068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No proof of presence</a:t>
            </a:r>
            <a:endParaRPr lang="en-US" sz="1400" dirty="0"/>
          </a:p>
        </p:txBody>
      </p:sp>
      <p:sp>
        <p:nvSpPr>
          <p:cNvPr id="13" name="Text 11"/>
          <p:cNvSpPr txBox="1"/>
          <p:nvPr/>
        </p:nvSpPr>
        <p:spPr>
          <a:xfrm>
            <a:off x="544068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name written on a sheet does not prove the man was on the project. There is nothing to check the claim against.</a:t>
            </a:r>
            <a:endParaRPr lang="en-US" sz="1100" dirty="0"/>
          </a:p>
        </p:txBody>
      </p:sp>
      <p:sp>
        <p:nvSpPr>
          <p:cNvPr id="14" name="Shape 12"/>
          <p:cNvSpPr/>
          <p:nvPr/>
        </p:nvSpPr>
        <p:spPr>
          <a:xfrm>
            <a:off x="457200" y="3072384"/>
            <a:ext cx="3977640" cy="1481328"/>
          </a:xfrm>
          <a:prstGeom prst="roundRect">
            <a:avLst>
              <a:gd name="adj" fmla="val 5556"/>
            </a:avLst>
          </a:prstGeom>
          <a:solidFill>
            <a:srgbClr val="F5F7F5"/>
          </a:solidFill>
          <a:ln w="9525">
            <a:solidFill>
              <a:srgbClr val="DEE6E1"/>
            </a:solidFill>
            <a:prstDash val="solid"/>
          </a:ln>
        </p:spPr>
      </p:sp>
      <p:sp>
        <p:nvSpPr>
          <p:cNvPr id="15" name="Shape 13"/>
          <p:cNvSpPr/>
          <p:nvPr/>
        </p:nvSpPr>
        <p:spPr>
          <a:xfrm>
            <a:off x="658368" y="3291840"/>
            <a:ext cx="402336" cy="402336"/>
          </a:xfrm>
          <a:prstGeom prst="ellipse">
            <a:avLst/>
          </a:prstGeom>
          <a:solidFill>
            <a:srgbClr val="0B66D6"/>
          </a:solidFill>
          <a:ln w="12700">
            <a:solidFill>
              <a:srgbClr val="0B66D6"/>
            </a:solidFill>
            <a:prstDash val="solid"/>
          </a:ln>
        </p:spPr>
      </p:sp>
      <p:sp>
        <p:nvSpPr>
          <p:cNvPr id="16" name="Text 14"/>
          <p:cNvSpPr txBox="1"/>
          <p:nvPr/>
        </p:nvSpPr>
        <p:spPr>
          <a:xfrm>
            <a:off x="65836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8872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Transfers go stale</a:t>
            </a:r>
            <a:endParaRPr lang="en-US" sz="1400" dirty="0"/>
          </a:p>
        </p:txBody>
      </p:sp>
      <p:sp>
        <p:nvSpPr>
          <p:cNvPr id="18" name="Text 16"/>
          <p:cNvSpPr txBox="1"/>
          <p:nvPr/>
        </p:nvSpPr>
        <p:spPr>
          <a:xfrm>
            <a:off x="118872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worker moves from Project A to Project B and keeps counting against the site he left, until head office reassigns him by hand.</a:t>
            </a:r>
            <a:endParaRPr lang="en-US" sz="1100" dirty="0"/>
          </a:p>
        </p:txBody>
      </p:sp>
      <p:sp>
        <p:nvSpPr>
          <p:cNvPr id="19" name="Shape 17"/>
          <p:cNvSpPr/>
          <p:nvPr/>
        </p:nvSpPr>
        <p:spPr>
          <a:xfrm>
            <a:off x="4709160" y="3072384"/>
            <a:ext cx="3977640" cy="1481328"/>
          </a:xfrm>
          <a:prstGeom prst="roundRect">
            <a:avLst>
              <a:gd name="adj" fmla="val 5556"/>
            </a:avLst>
          </a:prstGeom>
          <a:solidFill>
            <a:srgbClr val="F5F7F5"/>
          </a:solidFill>
          <a:ln w="9525">
            <a:solidFill>
              <a:srgbClr val="DEE6E1"/>
            </a:solidFill>
            <a:prstDash val="solid"/>
          </a:ln>
        </p:spPr>
      </p:sp>
      <p:sp>
        <p:nvSpPr>
          <p:cNvPr id="20" name="Shape 18"/>
          <p:cNvSpPr/>
          <p:nvPr/>
        </p:nvSpPr>
        <p:spPr>
          <a:xfrm>
            <a:off x="4910328" y="3291840"/>
            <a:ext cx="402336" cy="402336"/>
          </a:xfrm>
          <a:prstGeom prst="ellipse">
            <a:avLst/>
          </a:prstGeom>
          <a:solidFill>
            <a:srgbClr val="00113D"/>
          </a:solidFill>
          <a:ln w="12700">
            <a:solidFill>
              <a:srgbClr val="00113D"/>
            </a:solidFill>
            <a:prstDash val="solid"/>
          </a:ln>
        </p:spPr>
      </p:sp>
      <p:sp>
        <p:nvSpPr>
          <p:cNvPr id="21" name="Text 19"/>
          <p:cNvSpPr txBox="1"/>
          <p:nvPr/>
        </p:nvSpPr>
        <p:spPr>
          <a:xfrm>
            <a:off x="491032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4068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Month-end scramble</a:t>
            </a:r>
            <a:endParaRPr lang="en-US" sz="1400" dirty="0"/>
          </a:p>
        </p:txBody>
      </p:sp>
      <p:sp>
        <p:nvSpPr>
          <p:cNvPr id="23" name="Text 21"/>
          <p:cNvSpPr txBox="1"/>
          <p:nvPr/>
        </p:nvSpPr>
        <p:spPr>
          <a:xfrm>
            <a:off x="544068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Trade-wise manpower, absentee lists and hours are rebuilt from scratch every month, under time pressure.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One system, two apps, one live database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same data, whether you are standing at the gate or sitting in head office</a:t>
            </a:r>
            <a:endParaRPr lang="en-US" sz="1300" dirty="0"/>
          </a:p>
        </p:txBody>
      </p:sp>
      <p:sp>
        <p:nvSpPr>
          <p:cNvPr id="4" name="Shape 2"/>
          <p:cNvSpPr/>
          <p:nvPr/>
        </p:nvSpPr>
        <p:spPr>
          <a:xfrm>
            <a:off x="457200" y="1371600"/>
            <a:ext cx="3977640" cy="1325880"/>
          </a:xfrm>
          <a:prstGeom prst="roundRect">
            <a:avLst>
              <a:gd name="adj" fmla="val 6207"/>
            </a:avLst>
          </a:prstGeom>
          <a:solidFill>
            <a:srgbClr val="E8F1FC"/>
          </a:solidFill>
          <a:ln w="9525">
            <a:solidFill>
              <a:srgbClr val="DEE6E1"/>
            </a:solidFill>
            <a:prstDash val="solid"/>
          </a:ln>
        </p:spPr>
      </p:sp>
      <p:sp>
        <p:nvSpPr>
          <p:cNvPr id="5" name="Shape 3"/>
          <p:cNvSpPr/>
          <p:nvPr/>
        </p:nvSpPr>
        <p:spPr>
          <a:xfrm>
            <a:off x="676656" y="1572768"/>
            <a:ext cx="402336" cy="402336"/>
          </a:xfrm>
          <a:prstGeom prst="ellipse">
            <a:avLst/>
          </a:prstGeom>
          <a:solidFill>
            <a:srgbClr val="0B66D6"/>
          </a:solidFill>
          <a:ln w="12700">
            <a:solidFill>
              <a:srgbClr val="0B66D6"/>
            </a:solidFill>
            <a:prstDash val="solid"/>
          </a:ln>
        </p:spPr>
      </p:sp>
      <p:sp>
        <p:nvSpPr>
          <p:cNvPr id="6" name="Text 4"/>
          <p:cNvSpPr txBox="1"/>
          <p:nvPr/>
        </p:nvSpPr>
        <p:spPr>
          <a:xfrm>
            <a:off x="67665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20700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Android app — for site</a:t>
            </a:r>
            <a:endParaRPr lang="en-US" sz="1400" dirty="0"/>
          </a:p>
        </p:txBody>
      </p:sp>
      <p:sp>
        <p:nvSpPr>
          <p:cNvPr id="8" name="Text 6"/>
          <p:cNvSpPr txBox="1"/>
          <p:nvPr/>
        </p:nvSpPr>
        <p:spPr>
          <a:xfrm>
            <a:off x="120700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Installed on the timekeeper's or foreman's phone. GPS, badge scanning, works on a normal site phone.</a:t>
            </a:r>
            <a:endParaRPr lang="en-US" sz="1100" dirty="0"/>
          </a:p>
        </p:txBody>
      </p:sp>
      <p:sp>
        <p:nvSpPr>
          <p:cNvPr id="9" name="Shape 7"/>
          <p:cNvSpPr/>
          <p:nvPr/>
        </p:nvSpPr>
        <p:spPr>
          <a:xfrm>
            <a:off x="4709160" y="1371600"/>
            <a:ext cx="3977640" cy="1325880"/>
          </a:xfrm>
          <a:prstGeom prst="roundRect">
            <a:avLst>
              <a:gd name="adj" fmla="val 6207"/>
            </a:avLst>
          </a:prstGeom>
          <a:solidFill>
            <a:srgbClr val="E8F1FC"/>
          </a:solidFill>
          <a:ln w="9525">
            <a:solidFill>
              <a:srgbClr val="DEE6E1"/>
            </a:solidFill>
            <a:prstDash val="solid"/>
          </a:ln>
        </p:spPr>
      </p:sp>
      <p:sp>
        <p:nvSpPr>
          <p:cNvPr id="10" name="Shape 8"/>
          <p:cNvSpPr/>
          <p:nvPr/>
        </p:nvSpPr>
        <p:spPr>
          <a:xfrm>
            <a:off x="4928616" y="1572768"/>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2861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
            </a:r>
            <a:endParaRPr lang="en-US" sz="1200" dirty="0"/>
          </a:p>
        </p:txBody>
      </p:sp>
      <p:sp>
        <p:nvSpPr>
          <p:cNvPr id="12" name="Text 10"/>
          <p:cNvSpPr txBox="1"/>
          <p:nvPr/>
        </p:nvSpPr>
        <p:spPr>
          <a:xfrm>
            <a:off x="545896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Web app — for office</a:t>
            </a:r>
            <a:endParaRPr lang="en-US" sz="1400" dirty="0"/>
          </a:p>
        </p:txBody>
      </p:sp>
      <p:sp>
        <p:nvSpPr>
          <p:cNvPr id="13" name="Text 11"/>
          <p:cNvSpPr txBox="1"/>
          <p:nvPr/>
        </p:nvSpPr>
        <p:spPr>
          <a:xfrm>
            <a:off x="545896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Opens in any browser, no install. Dashboards, reports, roster and user management.</a:t>
            </a:r>
            <a:endParaRPr lang="en-US" sz="1100" dirty="0"/>
          </a:p>
        </p:txBody>
      </p:sp>
      <p:sp>
        <p:nvSpPr>
          <p:cNvPr id="14" name="Shape 12"/>
          <p:cNvSpPr/>
          <p:nvPr/>
        </p:nvSpPr>
        <p:spPr>
          <a:xfrm>
            <a:off x="457200" y="2852928"/>
            <a:ext cx="8229600" cy="960120"/>
          </a:xfrm>
          <a:prstGeom prst="roundRect">
            <a:avLst>
              <a:gd name="adj" fmla="val 8571"/>
            </a:avLst>
          </a:prstGeom>
          <a:solidFill>
            <a:srgbClr val="F5F7F5"/>
          </a:solidFill>
          <a:ln w="9525">
            <a:solidFill>
              <a:srgbClr val="DEE6E1"/>
            </a:solidFill>
            <a:prstDash val="solid"/>
          </a:ln>
        </p:spPr>
      </p:sp>
      <p:sp>
        <p:nvSpPr>
          <p:cNvPr id="15" name="Text 13"/>
          <p:cNvSpPr txBox="1"/>
          <p:nvPr/>
        </p:nvSpPr>
        <p:spPr>
          <a:xfrm>
            <a:off x="713232" y="3035808"/>
            <a:ext cx="7717536" cy="640080"/>
          </a:xfrm>
          <a:prstGeom prst="rect">
            <a:avLst/>
          </a:prstGeom>
          <a:noFill/>
          <a:ln/>
        </p:spPr>
        <p:txBody>
          <a:bodyPr wrap="square" lIns="0" tIns="0" rIns="0" bIns="0" rtlCol="0" anchor="t"/>
          <a:lstStyle/>
          <a:p>
            <a:pPr algn="l" indent="0" marL="0">
              <a:lnSpc>
                <a:spcPct val="110000"/>
              </a:lnSpc>
              <a:buNone/>
            </a:pPr>
            <a:r>
              <a:rPr lang="en-US" sz="1200" dirty="0">
                <a:solidFill>
                  <a:srgbClr val="141F1A"/>
                </a:solidFill>
                <a:latin typeface="Calibri" pitchFamily="34" charset="0"/>
                <a:ea typeface="Calibri" pitchFamily="34" charset="-122"/>
                <a:cs typeface="Calibri" pitchFamily="34" charset="-120"/>
              </a:rPr>
              <a:t>Both run on Google Firebase — the same infrastructure Google runs its own products on. Data is replicated and backed up by Google; a lost or broken site phone loses nothing.</a:t>
            </a:r>
            <a:endParaRPr lang="en-US" sz="1200" dirty="0"/>
          </a:p>
        </p:txBody>
      </p:sp>
      <p:sp>
        <p:nvSpPr>
          <p:cNvPr id="16" name="Text 14"/>
          <p:cNvSpPr txBox="1"/>
          <p:nvPr/>
        </p:nvSpPr>
        <p:spPr>
          <a:xfrm>
            <a:off x="457200" y="3840480"/>
            <a:ext cx="2011680" cy="658368"/>
          </a:xfrm>
          <a:prstGeom prst="rect">
            <a:avLst/>
          </a:prstGeom>
          <a:noFill/>
          <a:ln/>
        </p:spPr>
        <p:txBody>
          <a:bodyPr wrap="square" lIns="0" tIns="0" rIns="0" bIns="0" rtlCol="0" anchor="ctr"/>
          <a:lstStyle/>
          <a:p>
            <a:pPr algn="l" indent="0" marL="0">
              <a:buNone/>
            </a:pPr>
            <a:r>
              <a:rPr lang="en-US" sz="4000" b="1" dirty="0">
                <a:solidFill>
                  <a:srgbClr val="00113D"/>
                </a:solidFill>
                <a:latin typeface="Cambria" pitchFamily="34" charset="0"/>
                <a:ea typeface="Cambria" pitchFamily="34" charset="-122"/>
                <a:cs typeface="Cambria" pitchFamily="34" charset="-120"/>
              </a:rPr>
              <a:t>6</a:t>
            </a:r>
            <a:endParaRPr lang="en-US" sz="4000" dirty="0"/>
          </a:p>
        </p:txBody>
      </p:sp>
      <p:sp>
        <p:nvSpPr>
          <p:cNvPr id="17" name="Text 15"/>
          <p:cNvSpPr txBox="1"/>
          <p:nvPr/>
        </p:nvSpPr>
        <p:spPr>
          <a:xfrm>
            <a:off x="457200" y="4480560"/>
            <a:ext cx="201168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user roles, each with its own access</a:t>
            </a:r>
            <a:endParaRPr lang="en-US" sz="1200" dirty="0"/>
          </a:p>
        </p:txBody>
      </p:sp>
      <p:sp>
        <p:nvSpPr>
          <p:cNvPr id="18" name="Text 16"/>
          <p:cNvSpPr txBox="1"/>
          <p:nvPr/>
        </p:nvSpPr>
        <p:spPr>
          <a:xfrm>
            <a:off x="2880360" y="3840480"/>
            <a:ext cx="2194560" cy="658368"/>
          </a:xfrm>
          <a:prstGeom prst="rect">
            <a:avLst/>
          </a:prstGeom>
          <a:noFill/>
          <a:ln/>
        </p:spPr>
        <p:txBody>
          <a:bodyPr wrap="square" lIns="0" tIns="0" rIns="0" bIns="0" rtlCol="0" anchor="ctr"/>
          <a:lstStyle/>
          <a:p>
            <a:pPr algn="l" indent="0" marL="0">
              <a:buNone/>
            </a:pPr>
            <a:r>
              <a:rPr lang="en-US" sz="4000" b="1" dirty="0">
                <a:solidFill>
                  <a:srgbClr val="0B66D6"/>
                </a:solidFill>
                <a:latin typeface="Cambria" pitchFamily="34" charset="0"/>
                <a:ea typeface="Cambria" pitchFamily="34" charset="-122"/>
                <a:cs typeface="Cambria" pitchFamily="34" charset="-120"/>
              </a:rPr>
              <a:t>2</a:t>
            </a:r>
            <a:endParaRPr lang="en-US" sz="4000" dirty="0"/>
          </a:p>
        </p:txBody>
      </p:sp>
      <p:sp>
        <p:nvSpPr>
          <p:cNvPr id="19" name="Text 17"/>
          <p:cNvSpPr txBox="1"/>
          <p:nvPr/>
        </p:nvSpPr>
        <p:spPr>
          <a:xfrm>
            <a:off x="2880360" y="4480560"/>
            <a:ext cx="21945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apps, one shared database</a:t>
            </a:r>
            <a:endParaRPr lang="en-US" sz="1200" dirty="0"/>
          </a:p>
        </p:txBody>
      </p:sp>
      <p:sp>
        <p:nvSpPr>
          <p:cNvPr id="20" name="Text 18"/>
          <p:cNvSpPr txBox="1"/>
          <p:nvPr/>
        </p:nvSpPr>
        <p:spPr>
          <a:xfrm>
            <a:off x="5532120" y="3840480"/>
            <a:ext cx="3108960" cy="658368"/>
          </a:xfrm>
          <a:prstGeom prst="rect">
            <a:avLst/>
          </a:prstGeom>
          <a:noFill/>
          <a:ln/>
        </p:spPr>
        <p:txBody>
          <a:bodyPr wrap="square" lIns="0" tIns="0" rIns="0" bIns="0" rtlCol="0" anchor="ctr"/>
          <a:lstStyle/>
          <a:p>
            <a:pPr algn="l" indent="0" marL="0">
              <a:buNone/>
            </a:pPr>
            <a:r>
              <a:rPr lang="en-US" sz="4000" b="1" dirty="0">
                <a:solidFill>
                  <a:srgbClr val="17875E"/>
                </a:solidFill>
                <a:latin typeface="Cambria" pitchFamily="34" charset="0"/>
                <a:ea typeface="Cambria" pitchFamily="34" charset="-122"/>
                <a:cs typeface="Cambria" pitchFamily="34" charset="-120"/>
              </a:rPr>
              <a:t>0</a:t>
            </a:r>
            <a:endParaRPr lang="en-US" sz="4000" dirty="0"/>
          </a:p>
        </p:txBody>
      </p:sp>
      <p:sp>
        <p:nvSpPr>
          <p:cNvPr id="21" name="Text 19"/>
          <p:cNvSpPr txBox="1"/>
          <p:nvPr/>
        </p:nvSpPr>
        <p:spPr>
          <a:xfrm>
            <a:off x="5532120" y="4480560"/>
            <a:ext cx="31089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paper attendance sheets required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How a worker is marked present</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Three steps, roughly five seconds per man</a:t>
            </a:r>
            <a:endParaRPr lang="en-US" sz="1300" dirty="0"/>
          </a:p>
        </p:txBody>
      </p:sp>
      <p:sp>
        <p:nvSpPr>
          <p:cNvPr id="4" name="Shape 2"/>
          <p:cNvSpPr/>
          <p:nvPr/>
        </p:nvSpPr>
        <p:spPr>
          <a:xfrm>
            <a:off x="457200" y="1417320"/>
            <a:ext cx="2578608" cy="1920240"/>
          </a:xfrm>
          <a:prstGeom prst="roundRect">
            <a:avLst>
              <a:gd name="adj" fmla="val 4286"/>
            </a:avLst>
          </a:prstGeom>
          <a:solidFill>
            <a:srgbClr val="F5F7F5"/>
          </a:solidFill>
          <a:ln w="9525">
            <a:solidFill>
              <a:srgbClr val="DEE6E1"/>
            </a:solidFill>
            <a:prstDash val="solid"/>
          </a:ln>
        </p:spPr>
      </p:sp>
      <p:sp>
        <p:nvSpPr>
          <p:cNvPr id="5" name="Shape 3"/>
          <p:cNvSpPr/>
          <p:nvPr/>
        </p:nvSpPr>
        <p:spPr>
          <a:xfrm>
            <a:off x="676656" y="1645920"/>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Identify</a:t>
            </a:r>
            <a:endParaRPr lang="en-US" sz="1500" dirty="0"/>
          </a:p>
        </p:txBody>
      </p:sp>
      <p:sp>
        <p:nvSpPr>
          <p:cNvPr id="8" name="Text 6"/>
          <p:cNvSpPr txBox="1"/>
          <p:nvPr/>
        </p:nvSpPr>
        <p:spPr>
          <a:xfrm>
            <a:off x="676656"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Scan the QR or barcode on the worker's ID badge, or search him by name or employee number.</a:t>
            </a:r>
            <a:endParaRPr lang="en-US" sz="1100" dirty="0"/>
          </a:p>
        </p:txBody>
      </p:sp>
      <p:sp>
        <p:nvSpPr>
          <p:cNvPr id="9" name="Text 7"/>
          <p:cNvSpPr txBox="1"/>
          <p:nvPr/>
        </p:nvSpPr>
        <p:spPr>
          <a:xfrm>
            <a:off x="3035808"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282696" y="1417320"/>
            <a:ext cx="2578608" cy="1920240"/>
          </a:xfrm>
          <a:prstGeom prst="roundRect">
            <a:avLst>
              <a:gd name="adj" fmla="val 4286"/>
            </a:avLst>
          </a:prstGeom>
          <a:solidFill>
            <a:srgbClr val="F5F7F5"/>
          </a:solidFill>
          <a:ln w="9525">
            <a:solidFill>
              <a:srgbClr val="DEE6E1"/>
            </a:solidFill>
            <a:prstDash val="solid"/>
          </a:ln>
        </p:spPr>
      </p:sp>
      <p:sp>
        <p:nvSpPr>
          <p:cNvPr id="11" name="Shape 9"/>
          <p:cNvSpPr/>
          <p:nvPr/>
        </p:nvSpPr>
        <p:spPr>
          <a:xfrm>
            <a:off x="3502152" y="1645920"/>
            <a:ext cx="457200" cy="457200"/>
          </a:xfrm>
          <a:prstGeom prst="ellipse">
            <a:avLst/>
          </a:prstGeom>
          <a:solidFill>
            <a:srgbClr val="00113D"/>
          </a:solidFill>
          <a:ln w="12700">
            <a:solidFill>
              <a:srgbClr val="00113D"/>
            </a:solidFill>
            <a:prstDash val="solid"/>
          </a:ln>
        </p:spPr>
      </p:sp>
      <p:sp>
        <p:nvSpPr>
          <p:cNvPr id="12" name="Text 10"/>
          <p:cNvSpPr txBox="1"/>
          <p:nvPr/>
        </p:nvSpPr>
        <p:spPr>
          <a:xfrm>
            <a:off x="3502152"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502152"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Verify location</a:t>
            </a:r>
            <a:endParaRPr lang="en-US" sz="1500" dirty="0"/>
          </a:p>
        </p:txBody>
      </p:sp>
      <p:sp>
        <p:nvSpPr>
          <p:cNvPr id="14" name="Text 12"/>
          <p:cNvSpPr txBox="1"/>
          <p:nvPr/>
        </p:nvSpPr>
        <p:spPr>
          <a:xfrm>
            <a:off x="3502152"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phone's GPS is checked against the project's geofence before anything is saved.</a:t>
            </a:r>
            <a:endParaRPr lang="en-US" sz="1100" dirty="0"/>
          </a:p>
        </p:txBody>
      </p:sp>
      <p:sp>
        <p:nvSpPr>
          <p:cNvPr id="15" name="Text 13"/>
          <p:cNvSpPr txBox="1"/>
          <p:nvPr/>
        </p:nvSpPr>
        <p:spPr>
          <a:xfrm>
            <a:off x="5861304"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108192" y="1417320"/>
            <a:ext cx="2578608" cy="1920240"/>
          </a:xfrm>
          <a:prstGeom prst="roundRect">
            <a:avLst>
              <a:gd name="adj" fmla="val 4286"/>
            </a:avLst>
          </a:prstGeom>
          <a:solidFill>
            <a:srgbClr val="F5F7F5"/>
          </a:solidFill>
          <a:ln w="9525">
            <a:solidFill>
              <a:srgbClr val="DEE6E1"/>
            </a:solidFill>
            <a:prstDash val="solid"/>
          </a:ln>
        </p:spPr>
      </p:sp>
      <p:sp>
        <p:nvSpPr>
          <p:cNvPr id="17" name="Shape 15"/>
          <p:cNvSpPr/>
          <p:nvPr/>
        </p:nvSpPr>
        <p:spPr>
          <a:xfrm>
            <a:off x="6327648" y="1645920"/>
            <a:ext cx="457200" cy="457200"/>
          </a:xfrm>
          <a:prstGeom prst="ellipse">
            <a:avLst/>
          </a:prstGeom>
          <a:solidFill>
            <a:srgbClr val="17875E"/>
          </a:solidFill>
          <a:ln w="12700">
            <a:solidFill>
              <a:srgbClr val="17875E"/>
            </a:solidFill>
            <a:prstDash val="solid"/>
          </a:ln>
        </p:spPr>
      </p:sp>
      <p:sp>
        <p:nvSpPr>
          <p:cNvPr id="18" name="Text 16"/>
          <p:cNvSpPr txBox="1"/>
          <p:nvPr/>
        </p:nvSpPr>
        <p:spPr>
          <a:xfrm>
            <a:off x="6327648"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327648"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20" name="Text 18"/>
          <p:cNvSpPr txBox="1"/>
          <p:nvPr/>
        </p:nvSpPr>
        <p:spPr>
          <a:xfrm>
            <a:off x="6327648"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 or OUT is stored with the time, shift, project, and the name of the person who marked it.</a:t>
            </a:r>
            <a:endParaRPr lang="en-US" sz="1100" dirty="0"/>
          </a:p>
        </p:txBody>
      </p:sp>
      <p:sp>
        <p:nvSpPr>
          <p:cNvPr id="21" name="Shape 19"/>
          <p:cNvSpPr/>
          <p:nvPr/>
        </p:nvSpPr>
        <p:spPr>
          <a:xfrm>
            <a:off x="457200" y="3520440"/>
            <a:ext cx="8229600" cy="1078992"/>
          </a:xfrm>
          <a:prstGeom prst="roundRect">
            <a:avLst>
              <a:gd name="adj" fmla="val 7627"/>
            </a:avLst>
          </a:prstGeom>
          <a:solidFill>
            <a:srgbClr val="FDF3F2"/>
          </a:solidFill>
          <a:ln w="9525">
            <a:solidFill>
              <a:srgbClr val="DEE6E1"/>
            </a:solidFill>
            <a:prstDash val="solid"/>
          </a:ln>
        </p:spPr>
      </p:sp>
      <p:sp>
        <p:nvSpPr>
          <p:cNvPr id="22" name="Shape 20"/>
          <p:cNvSpPr/>
          <p:nvPr/>
        </p:nvSpPr>
        <p:spPr>
          <a:xfrm>
            <a:off x="713232" y="3767328"/>
            <a:ext cx="420624" cy="420624"/>
          </a:xfrm>
          <a:prstGeom prst="ellipse">
            <a:avLst/>
          </a:prstGeom>
          <a:solidFill>
            <a:srgbClr val="B3261E"/>
          </a:solidFill>
          <a:ln w="12700">
            <a:solidFill>
              <a:srgbClr val="B3261E"/>
            </a:solidFill>
            <a:prstDash val="solid"/>
          </a:ln>
        </p:spPr>
      </p:sp>
      <p:sp>
        <p:nvSpPr>
          <p:cNvPr id="23" name="Text 21"/>
          <p:cNvSpPr txBox="1"/>
          <p:nvPr/>
        </p:nvSpPr>
        <p:spPr>
          <a:xfrm>
            <a:off x="713232" y="376732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280160" y="3730752"/>
            <a:ext cx="7315200" cy="274320"/>
          </a:xfrm>
          <a:prstGeom prst="rect">
            <a:avLst/>
          </a:prstGeom>
          <a:noFill/>
          <a:ln/>
        </p:spPr>
        <p:txBody>
          <a:bodyPr wrap="square" lIns="0" tIns="0" rIns="0" bIns="0" rtlCol="0" anchor="t"/>
          <a:lstStyle/>
          <a:p>
            <a:pPr algn="l" indent="0" marL="0">
              <a:lnSpc>
                <a:spcPct val="110000"/>
              </a:lnSpc>
              <a:buNone/>
            </a:pPr>
            <a:r>
              <a:rPr lang="en-US" sz="1300" b="1" dirty="0">
                <a:solidFill>
                  <a:srgbClr val="B3261E"/>
                </a:solidFill>
                <a:latin typeface="Calibri" pitchFamily="34" charset="0"/>
                <a:ea typeface="Calibri" pitchFamily="34" charset="-122"/>
                <a:cs typeface="Calibri" pitchFamily="34" charset="-120"/>
              </a:rPr>
              <a:t>If the phone is outside the project's geofence, the check-in is refused</a:t>
            </a:r>
            <a:endParaRPr lang="en-US" sz="1300" dirty="0"/>
          </a:p>
        </p:txBody>
      </p:sp>
      <p:sp>
        <p:nvSpPr>
          <p:cNvPr id="25" name="Text 23"/>
          <p:cNvSpPr txBox="1"/>
          <p:nvPr/>
        </p:nvSpPr>
        <p:spPr>
          <a:xfrm>
            <a:off x="1280160" y="4041648"/>
            <a:ext cx="7315200" cy="4572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refused attempt is still recorded — who tried, where they were, and how far off site — so a pattern of attempts is visible rather than lost.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Proof that the man was actually there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Location is checked by the system, not asserted by a person</a:t>
            </a:r>
            <a:endParaRPr lang="en-US" sz="1300" dirty="0"/>
          </a:p>
        </p:txBody>
      </p:sp>
      <p:sp>
        <p:nvSpPr>
          <p:cNvPr id="4" name="Shape 2"/>
          <p:cNvSpPr/>
          <p:nvPr/>
        </p:nvSpPr>
        <p:spPr>
          <a:xfrm>
            <a:off x="457200" y="1426464"/>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26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371600"/>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Every project carries its own geofence</a:t>
            </a:r>
            <a:endParaRPr lang="en-US" sz="1350" dirty="0"/>
          </a:p>
        </p:txBody>
      </p:sp>
      <p:sp>
        <p:nvSpPr>
          <p:cNvPr id="7" name="Text 5"/>
          <p:cNvSpPr txBox="1"/>
          <p:nvPr/>
        </p:nvSpPr>
        <p:spPr>
          <a:xfrm>
            <a:off x="969264" y="1664208"/>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Super Admin sets each project's coordinates and radius. A tight compound and a spread-out site get different limits.</a:t>
            </a:r>
            <a:endParaRPr lang="en-US" sz="1100" dirty="0"/>
          </a:p>
        </p:txBody>
      </p:sp>
      <p:sp>
        <p:nvSpPr>
          <p:cNvPr id="8" name="Shape 6"/>
          <p:cNvSpPr/>
          <p:nvPr/>
        </p:nvSpPr>
        <p:spPr>
          <a:xfrm>
            <a:off x="457200" y="2286000"/>
            <a:ext cx="310896" cy="310896"/>
          </a:xfrm>
          <a:prstGeom prst="ellipse">
            <a:avLst/>
          </a:prstGeom>
          <a:solidFill>
            <a:srgbClr val="00113D"/>
          </a:solidFill>
          <a:ln w="12700">
            <a:solidFill>
              <a:srgbClr val="00113D"/>
            </a:solidFill>
            <a:prstDash val="solid"/>
          </a:ln>
        </p:spPr>
      </p:sp>
      <p:sp>
        <p:nvSpPr>
          <p:cNvPr id="9" name="Text 7"/>
          <p:cNvSpPr txBox="1"/>
          <p:nvPr/>
        </p:nvSpPr>
        <p:spPr>
          <a:xfrm>
            <a:off x="457200" y="2286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9264" y="2231136"/>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Distance is recorded, not just pass or fail</a:t>
            </a:r>
            <a:endParaRPr lang="en-US" sz="1350" dirty="0"/>
          </a:p>
        </p:txBody>
      </p:sp>
      <p:sp>
        <p:nvSpPr>
          <p:cNvPr id="11" name="Text 9"/>
          <p:cNvSpPr txBox="1"/>
          <p:nvPr/>
        </p:nvSpPr>
        <p:spPr>
          <a:xfrm>
            <a:off x="969264" y="2523744"/>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Each record keeps how far from the site centre the phone actually was, so a borderline check-in can be reviewed later.</a:t>
            </a:r>
            <a:endParaRPr lang="en-US" sz="1100" dirty="0"/>
          </a:p>
        </p:txBody>
      </p:sp>
      <p:sp>
        <p:nvSpPr>
          <p:cNvPr id="12" name="Shape 10"/>
          <p:cNvSpPr/>
          <p:nvPr/>
        </p:nvSpPr>
        <p:spPr>
          <a:xfrm>
            <a:off x="457200" y="3145536"/>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9264" y="3090672"/>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Off-roster arrivals are flagged</a:t>
            </a:r>
            <a:endParaRPr lang="en-US" sz="1350" dirty="0"/>
          </a:p>
        </p:txBody>
      </p:sp>
      <p:sp>
        <p:nvSpPr>
          <p:cNvPr id="15" name="Text 13"/>
          <p:cNvSpPr txBox="1"/>
          <p:nvPr/>
        </p:nvSpPr>
        <p:spPr>
          <a:xfrm>
            <a:off x="969264" y="3383280"/>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If a worker is marked at a project other than the one his roster shows, the record is flagged as a site deviation for review.</a:t>
            </a:r>
            <a:endParaRPr lang="en-US" sz="1100" dirty="0"/>
          </a:p>
        </p:txBody>
      </p:sp>
      <p:sp>
        <p:nvSpPr>
          <p:cNvPr id="16" name="Shape 14"/>
          <p:cNvSpPr/>
          <p:nvPr/>
        </p:nvSpPr>
        <p:spPr>
          <a:xfrm>
            <a:off x="457200" y="40050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57200" y="40050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9264" y="3950208"/>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Office staff have their own wider radius</a:t>
            </a:r>
            <a:endParaRPr lang="en-US" sz="1350" dirty="0"/>
          </a:p>
        </p:txBody>
      </p:sp>
      <p:sp>
        <p:nvSpPr>
          <p:cNvPr id="19" name="Text 17"/>
          <p:cNvSpPr txBox="1"/>
          <p:nvPr/>
        </p:nvSpPr>
        <p:spPr>
          <a:xfrm>
            <a:off x="969264" y="4242816"/>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Set separately per site, so office staff are not held to a gate-level fence while the crew is.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Six roles, each seeing only their own work</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Access is decided by role plus the projects that person is assigned to</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00113D"/>
          </a:solidFill>
          <a:ln w="12700">
            <a:solidFill>
              <a:srgbClr val="00113D"/>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7" name="Text 5"/>
          <p:cNvSpPr txBox="1"/>
          <p:nvPr/>
        </p:nvSpPr>
        <p:spPr>
          <a:xfrm>
            <a:off x="1152144"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 Admin</a:t>
            </a:r>
            <a:endParaRPr lang="en-US" sz="1300" dirty="0"/>
          </a:p>
        </p:txBody>
      </p:sp>
      <p:sp>
        <p:nvSpPr>
          <p:cNvPr id="8" name="Text 6"/>
          <p:cNvSpPr txBox="1"/>
          <p:nvPr/>
        </p:nvSpPr>
        <p:spPr>
          <a:xfrm>
            <a:off x="676656"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Full access. Creates users, sets roles, configures projects and geofences.</a:t>
            </a:r>
            <a:endParaRPr lang="en-US" sz="105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3977640"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Admin</a:t>
            </a:r>
            <a:endParaRPr lang="en-US" sz="1300" dirty="0"/>
          </a:p>
        </p:txBody>
      </p:sp>
      <p:sp>
        <p:nvSpPr>
          <p:cNvPr id="13" name="Text 11"/>
          <p:cNvSpPr txBox="1"/>
          <p:nvPr/>
        </p:nvSpPr>
        <p:spPr>
          <a:xfrm>
            <a:off x="3502152"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Manages the workforce, attendance and reports across their assigned projects.</a:t>
            </a:r>
            <a:endParaRPr lang="en-US" sz="105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378E2"/>
          </a:solidFill>
          <a:ln w="12700">
            <a:solidFill>
              <a:srgbClr val="0378E2"/>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t>
            </a:r>
            <a:endParaRPr lang="en-US" sz="1200" dirty="0"/>
          </a:p>
        </p:txBody>
      </p:sp>
      <p:sp>
        <p:nvSpPr>
          <p:cNvPr id="17" name="Text 15"/>
          <p:cNvSpPr txBox="1"/>
          <p:nvPr/>
        </p:nvSpPr>
        <p:spPr>
          <a:xfrm>
            <a:off x="6803136"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18" name="Text 16"/>
          <p:cNvSpPr txBox="1"/>
          <p:nvPr/>
        </p:nvSpPr>
        <p:spPr>
          <a:xfrm>
            <a:off x="6327648"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Owns their site's roster and attendance. Approves incoming worker transfers.</a:t>
            </a:r>
            <a:endParaRPr lang="en-US" sz="105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17875E"/>
          </a:solidFill>
          <a:ln w="12700">
            <a:solidFill>
              <a:srgbClr val="17875E"/>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22" name="Text 20"/>
          <p:cNvSpPr txBox="1"/>
          <p:nvPr/>
        </p:nvSpPr>
        <p:spPr>
          <a:xfrm>
            <a:off x="1152144"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Supervisor</a:t>
            </a:r>
            <a:endParaRPr lang="en-US" sz="1300" dirty="0"/>
          </a:p>
        </p:txBody>
      </p:sp>
      <p:sp>
        <p:nvSpPr>
          <p:cNvPr id="23" name="Text 21"/>
          <p:cNvSpPr txBox="1"/>
          <p:nvPr/>
        </p:nvSpPr>
        <p:spPr>
          <a:xfrm>
            <a:off x="676656"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and reads manpower for the projects they hold.</a:t>
            </a:r>
            <a:endParaRPr lang="en-US" sz="105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
            </a:r>
            <a:endParaRPr lang="en-US" sz="1200" dirty="0"/>
          </a:p>
        </p:txBody>
      </p:sp>
      <p:sp>
        <p:nvSpPr>
          <p:cNvPr id="27" name="Text 25"/>
          <p:cNvSpPr txBox="1"/>
          <p:nvPr/>
        </p:nvSpPr>
        <p:spPr>
          <a:xfrm>
            <a:off x="3977640"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28" name="Text 26"/>
          <p:cNvSpPr txBox="1"/>
          <p:nvPr/>
        </p:nvSpPr>
        <p:spPr>
          <a:xfrm>
            <a:off x="3502152"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at the gate and raises transfers for workers who turn up.</a:t>
            </a:r>
            <a:endParaRPr lang="en-US" sz="105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32" name="Text 30"/>
          <p:cNvSpPr txBox="1"/>
          <p:nvPr/>
        </p:nvSpPr>
        <p:spPr>
          <a:xfrm>
            <a:off x="6803136"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Staff</a:t>
            </a:r>
            <a:endParaRPr lang="en-US" sz="1300" dirty="0"/>
          </a:p>
        </p:txBody>
      </p:sp>
      <p:sp>
        <p:nvSpPr>
          <p:cNvPr id="33" name="Text 31"/>
          <p:cNvSpPr txBox="1"/>
          <p:nvPr/>
        </p:nvSpPr>
        <p:spPr>
          <a:xfrm>
            <a:off x="6327648"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Office staff. Marks only their own attendance and applies for their own leave.</a:t>
            </a:r>
            <a:endParaRPr lang="en-US" sz="1050" dirty="0"/>
          </a:p>
        </p:txBody>
      </p:sp>
      <p:sp>
        <p:nvSpPr>
          <p:cNvPr id="34" name="Text 32"/>
          <p:cNvSpPr txBox="1"/>
          <p:nvPr/>
        </p:nvSpPr>
        <p:spPr>
          <a:xfrm>
            <a:off x="457200" y="44988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person cannot see, mark or export data for a project they are not assigned to.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Worker moves from Project A to B</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Fixed at the gate by the people who can see him, not by head office</a:t>
            </a:r>
            <a:endParaRPr lang="en-US" sz="1300" dirty="0"/>
          </a:p>
        </p:txBody>
      </p:sp>
      <p:sp>
        <p:nvSpPr>
          <p:cNvPr id="4" name="Shape 2"/>
          <p:cNvSpPr/>
          <p:nvPr/>
        </p:nvSpPr>
        <p:spPr>
          <a:xfrm>
            <a:off x="457200" y="1371600"/>
            <a:ext cx="3977640" cy="1481328"/>
          </a:xfrm>
          <a:prstGeom prst="roundRect">
            <a:avLst>
              <a:gd name="adj" fmla="val 5556"/>
            </a:avLst>
          </a:prstGeom>
          <a:solidFill>
            <a:srgbClr val="FDF3F2"/>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B3261E"/>
                </a:solidFill>
                <a:latin typeface="Calibri" pitchFamily="34" charset="0"/>
                <a:ea typeface="Calibri" pitchFamily="34" charset="-122"/>
                <a:cs typeface="Calibri" pitchFamily="34" charset="-120"/>
              </a:rPr>
              <a:t>BEFORE</a:t>
            </a:r>
            <a:endParaRPr lang="en-US" sz="1050" dirty="0"/>
          </a:p>
        </p:txBody>
      </p:sp>
      <p:sp>
        <p:nvSpPr>
          <p:cNvPr id="6" name="Text 4"/>
          <p:cNvSpPr txBox="1"/>
          <p:nvPr/>
        </p:nvSpPr>
        <p:spPr>
          <a:xfrm>
            <a:off x="69494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man could be marked present at Project B, but his roster still said Project A. He kept counting against the site he had left until head office reassigned him by hand — often weeks later.</a:t>
            </a:r>
            <a:endParaRPr lang="en-US" sz="1100" dirty="0"/>
          </a:p>
        </p:txBody>
      </p:sp>
      <p:sp>
        <p:nvSpPr>
          <p:cNvPr id="7" name="Shape 5"/>
          <p:cNvSpPr/>
          <p:nvPr/>
        </p:nvSpPr>
        <p:spPr>
          <a:xfrm>
            <a:off x="4709160" y="1371600"/>
            <a:ext cx="3977640" cy="1481328"/>
          </a:xfrm>
          <a:prstGeom prst="roundRect">
            <a:avLst>
              <a:gd name="adj" fmla="val 5556"/>
            </a:avLst>
          </a:prstGeom>
          <a:solidFill>
            <a:srgbClr val="E9F2ED"/>
          </a:solidFill>
          <a:ln w="9525">
            <a:solidFill>
              <a:srgbClr val="DEE6E1"/>
            </a:solidFill>
            <a:prstDash val="solid"/>
          </a:ln>
        </p:spPr>
      </p:sp>
      <p:sp>
        <p:nvSpPr>
          <p:cNvPr id="8" name="Text 6"/>
          <p:cNvSpPr txBox="1"/>
          <p:nvPr/>
        </p:nvSpPr>
        <p:spPr>
          <a:xfrm>
            <a:off x="494690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NOW</a:t>
            </a:r>
            <a:endParaRPr lang="en-US" sz="1050" dirty="0"/>
          </a:p>
        </p:txBody>
      </p:sp>
      <p:sp>
        <p:nvSpPr>
          <p:cNvPr id="9" name="Text 7"/>
          <p:cNvSpPr txBox="1"/>
          <p:nvPr/>
        </p:nvSpPr>
        <p:spPr>
          <a:xfrm>
            <a:off x="494690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foreman who is looking at him raises a transfer. Project B's own timekeeper approves it in one tap and the roster moves across. Head office is not in the loop.</a:t>
            </a:r>
            <a:endParaRPr lang="en-US" sz="1100" dirty="0"/>
          </a:p>
        </p:txBody>
      </p:sp>
      <p:sp>
        <p:nvSpPr>
          <p:cNvPr id="10" name="Shape 8"/>
          <p:cNvSpPr/>
          <p:nvPr/>
        </p:nvSpPr>
        <p:spPr>
          <a:xfrm>
            <a:off x="457200" y="3090672"/>
            <a:ext cx="2578608" cy="960120"/>
          </a:xfrm>
          <a:prstGeom prst="roundRect">
            <a:avLst>
              <a:gd name="adj" fmla="val 8571"/>
            </a:avLst>
          </a:prstGeom>
          <a:solidFill>
            <a:srgbClr val="F5F7F5"/>
          </a:solidFill>
          <a:ln w="9525">
            <a:solidFill>
              <a:srgbClr val="DEE6E1"/>
            </a:solidFill>
            <a:prstDash val="solid"/>
          </a:ln>
        </p:spPr>
      </p:sp>
      <p:sp>
        <p:nvSpPr>
          <p:cNvPr id="11" name="Shape 9"/>
          <p:cNvSpPr/>
          <p:nvPr/>
        </p:nvSpPr>
        <p:spPr>
          <a:xfrm>
            <a:off x="676656" y="3310128"/>
            <a:ext cx="384048" cy="384048"/>
          </a:xfrm>
          <a:prstGeom prst="ellipse">
            <a:avLst/>
          </a:prstGeom>
          <a:solidFill>
            <a:srgbClr val="0B66D6"/>
          </a:solidFill>
          <a:ln w="12700">
            <a:solidFill>
              <a:srgbClr val="0B66D6"/>
            </a:solidFill>
            <a:prstDash val="solid"/>
          </a:ln>
        </p:spPr>
      </p:sp>
      <p:sp>
        <p:nvSpPr>
          <p:cNvPr id="12" name="Text 10"/>
          <p:cNvSpPr txBox="1"/>
          <p:nvPr/>
        </p:nvSpPr>
        <p:spPr>
          <a:xfrm>
            <a:off x="676656"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170432"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14" name="Text 12"/>
          <p:cNvSpPr txBox="1"/>
          <p:nvPr/>
        </p:nvSpPr>
        <p:spPr>
          <a:xfrm>
            <a:off x="1170432"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raises the transfer</a:t>
            </a:r>
            <a:endParaRPr lang="en-US" sz="1050" dirty="0"/>
          </a:p>
        </p:txBody>
      </p:sp>
      <p:sp>
        <p:nvSpPr>
          <p:cNvPr id="15" name="Text 13"/>
          <p:cNvSpPr txBox="1"/>
          <p:nvPr/>
        </p:nvSpPr>
        <p:spPr>
          <a:xfrm>
            <a:off x="3035808"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3282696" y="3090672"/>
            <a:ext cx="2578608" cy="960120"/>
          </a:xfrm>
          <a:prstGeom prst="roundRect">
            <a:avLst>
              <a:gd name="adj" fmla="val 8571"/>
            </a:avLst>
          </a:prstGeom>
          <a:solidFill>
            <a:srgbClr val="F5F7F5"/>
          </a:solidFill>
          <a:ln w="9525">
            <a:solidFill>
              <a:srgbClr val="DEE6E1"/>
            </a:solidFill>
            <a:prstDash val="solid"/>
          </a:ln>
        </p:spPr>
      </p:sp>
      <p:sp>
        <p:nvSpPr>
          <p:cNvPr id="17" name="Shape 15"/>
          <p:cNvSpPr/>
          <p:nvPr/>
        </p:nvSpPr>
        <p:spPr>
          <a:xfrm>
            <a:off x="3502152" y="3310128"/>
            <a:ext cx="384048" cy="384048"/>
          </a:xfrm>
          <a:prstGeom prst="ellipse">
            <a:avLst/>
          </a:prstGeom>
          <a:solidFill>
            <a:srgbClr val="00113D"/>
          </a:solidFill>
          <a:ln w="12700">
            <a:solidFill>
              <a:srgbClr val="00113D"/>
            </a:solidFill>
            <a:prstDash val="solid"/>
          </a:ln>
        </p:spPr>
      </p:sp>
      <p:sp>
        <p:nvSpPr>
          <p:cNvPr id="18" name="Text 16"/>
          <p:cNvSpPr txBox="1"/>
          <p:nvPr/>
        </p:nvSpPr>
        <p:spPr>
          <a:xfrm>
            <a:off x="3502152"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3995928"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20" name="Text 18"/>
          <p:cNvSpPr txBox="1"/>
          <p:nvPr/>
        </p:nvSpPr>
        <p:spPr>
          <a:xfrm>
            <a:off x="3995928"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approves it</a:t>
            </a:r>
            <a:endParaRPr lang="en-US" sz="1050" dirty="0"/>
          </a:p>
        </p:txBody>
      </p:sp>
      <p:sp>
        <p:nvSpPr>
          <p:cNvPr id="21" name="Text 19"/>
          <p:cNvSpPr txBox="1"/>
          <p:nvPr/>
        </p:nvSpPr>
        <p:spPr>
          <a:xfrm>
            <a:off x="5861304"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6108192" y="3090672"/>
            <a:ext cx="2578608" cy="960120"/>
          </a:xfrm>
          <a:prstGeom prst="roundRect">
            <a:avLst>
              <a:gd name="adj" fmla="val 8571"/>
            </a:avLst>
          </a:prstGeom>
          <a:solidFill>
            <a:srgbClr val="F5F7F5"/>
          </a:solidFill>
          <a:ln w="9525">
            <a:solidFill>
              <a:srgbClr val="DEE6E1"/>
            </a:solidFill>
            <a:prstDash val="solid"/>
          </a:ln>
        </p:spPr>
      </p:sp>
      <p:sp>
        <p:nvSpPr>
          <p:cNvPr id="23" name="Shape 21"/>
          <p:cNvSpPr/>
          <p:nvPr/>
        </p:nvSpPr>
        <p:spPr>
          <a:xfrm>
            <a:off x="6327648" y="3310128"/>
            <a:ext cx="384048" cy="384048"/>
          </a:xfrm>
          <a:prstGeom prst="ellipse">
            <a:avLst/>
          </a:prstGeom>
          <a:solidFill>
            <a:srgbClr val="17875E"/>
          </a:solidFill>
          <a:ln w="12700">
            <a:solidFill>
              <a:srgbClr val="17875E"/>
            </a:solidFill>
            <a:prstDash val="solid"/>
          </a:ln>
        </p:spPr>
      </p:sp>
      <p:sp>
        <p:nvSpPr>
          <p:cNvPr id="24" name="Text 22"/>
          <p:cNvSpPr txBox="1"/>
          <p:nvPr/>
        </p:nvSpPr>
        <p:spPr>
          <a:xfrm>
            <a:off x="6327648"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txBox="1"/>
          <p:nvPr/>
        </p:nvSpPr>
        <p:spPr>
          <a:xfrm>
            <a:off x="6821424"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Roster</a:t>
            </a:r>
            <a:endParaRPr lang="en-US" sz="1300" dirty="0"/>
          </a:p>
        </p:txBody>
      </p:sp>
      <p:sp>
        <p:nvSpPr>
          <p:cNvPr id="26" name="Text 24"/>
          <p:cNvSpPr txBox="1"/>
          <p:nvPr/>
        </p:nvSpPr>
        <p:spPr>
          <a:xfrm>
            <a:off x="6821424"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moves to Project B</a:t>
            </a:r>
            <a:endParaRPr lang="en-US" sz="1050" dirty="0"/>
          </a:p>
        </p:txBody>
      </p:sp>
      <p:sp>
        <p:nvSpPr>
          <p:cNvPr id="27" name="Text 25"/>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foreman can only pull a worker towards a project he is assigned to, and cannot approve his own request.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Month-end in one tap</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Every report below is generated as a single Excel workbook, ready to send</a:t>
            </a:r>
            <a:endParaRPr lang="en-US" sz="1300" dirty="0"/>
          </a:p>
        </p:txBody>
      </p:sp>
      <p:sp>
        <p:nvSpPr>
          <p:cNvPr id="4" name="Shape 2"/>
          <p:cNvSpPr/>
          <p:nvPr/>
        </p:nvSpPr>
        <p:spPr>
          <a:xfrm>
            <a:off x="457200" y="1444752"/>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1440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Attendance</a:t>
            </a:r>
            <a:endParaRPr lang="en-US" sz="1300" dirty="0"/>
          </a:p>
        </p:txBody>
      </p:sp>
      <p:sp>
        <p:nvSpPr>
          <p:cNvPr id="7" name="Text 5"/>
          <p:cNvSpPr txBox="1"/>
          <p:nvPr/>
        </p:nvSpPr>
        <p:spPr>
          <a:xfrm>
            <a:off x="91440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One sheet per project — every IN and OUT with time and shift</a:t>
            </a:r>
            <a:endParaRPr lang="en-US" sz="1050" dirty="0"/>
          </a:p>
        </p:txBody>
      </p:sp>
      <p:sp>
        <p:nvSpPr>
          <p:cNvPr id="8" name="Shape 6"/>
          <p:cNvSpPr/>
          <p:nvPr/>
        </p:nvSpPr>
        <p:spPr>
          <a:xfrm>
            <a:off x="4709160" y="1444752"/>
            <a:ext cx="310896" cy="310896"/>
          </a:xfrm>
          <a:prstGeom prst="ellipse">
            <a:avLst/>
          </a:prstGeom>
          <a:solidFill>
            <a:srgbClr val="00113D"/>
          </a:solidFill>
          <a:ln w="12700">
            <a:solidFill>
              <a:srgbClr val="00113D"/>
            </a:solidFill>
            <a:prstDash val="solid"/>
          </a:ln>
        </p:spPr>
      </p:sp>
      <p:sp>
        <p:nvSpPr>
          <p:cNvPr id="9" name="Text 7"/>
          <p:cNvSpPr txBox="1"/>
          <p:nvPr/>
        </p:nvSpPr>
        <p:spPr>
          <a:xfrm>
            <a:off x="470916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516636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Project Summary</a:t>
            </a:r>
            <a:endParaRPr lang="en-US" sz="1300" dirty="0"/>
          </a:p>
        </p:txBody>
      </p:sp>
      <p:sp>
        <p:nvSpPr>
          <p:cNvPr id="11" name="Text 9"/>
          <p:cNvSpPr txBox="1"/>
          <p:nvPr/>
        </p:nvSpPr>
        <p:spPr>
          <a:xfrm>
            <a:off x="516636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Headcount and attendance by project, side by side</a:t>
            </a:r>
            <a:endParaRPr lang="en-US" sz="1050" dirty="0"/>
          </a:p>
        </p:txBody>
      </p:sp>
      <p:sp>
        <p:nvSpPr>
          <p:cNvPr id="12" name="Shape 10"/>
          <p:cNvSpPr/>
          <p:nvPr/>
        </p:nvSpPr>
        <p:spPr>
          <a:xfrm>
            <a:off x="457200" y="2404872"/>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1440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Trade-wise Summary</a:t>
            </a:r>
            <a:endParaRPr lang="en-US" sz="1300" dirty="0"/>
          </a:p>
        </p:txBody>
      </p:sp>
      <p:sp>
        <p:nvSpPr>
          <p:cNvPr id="15" name="Text 13"/>
          <p:cNvSpPr txBox="1"/>
          <p:nvPr/>
        </p:nvSpPr>
        <p:spPr>
          <a:xfrm>
            <a:off x="91440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Manpower by trade, per project or across all projects</a:t>
            </a:r>
            <a:endParaRPr lang="en-US" sz="1050" dirty="0"/>
          </a:p>
        </p:txBody>
      </p:sp>
      <p:sp>
        <p:nvSpPr>
          <p:cNvPr id="16" name="Shape 14"/>
          <p:cNvSpPr/>
          <p:nvPr/>
        </p:nvSpPr>
        <p:spPr>
          <a:xfrm>
            <a:off x="4709160" y="24048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70916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516636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Monthly Hours</a:t>
            </a:r>
            <a:endParaRPr lang="en-US" sz="1300" dirty="0"/>
          </a:p>
        </p:txBody>
      </p:sp>
      <p:sp>
        <p:nvSpPr>
          <p:cNvPr id="19" name="Text 17"/>
          <p:cNvSpPr txBox="1"/>
          <p:nvPr/>
        </p:nvSpPr>
        <p:spPr>
          <a:xfrm>
            <a:off x="516636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Hours worked per worker across the month</a:t>
            </a:r>
            <a:endParaRPr lang="en-US" sz="1050" dirty="0"/>
          </a:p>
        </p:txBody>
      </p:sp>
      <p:sp>
        <p:nvSpPr>
          <p:cNvPr id="20" name="Shape 18"/>
          <p:cNvSpPr/>
          <p:nvPr/>
        </p:nvSpPr>
        <p:spPr>
          <a:xfrm>
            <a:off x="457200" y="3364992"/>
            <a:ext cx="310896" cy="310896"/>
          </a:xfrm>
          <a:prstGeom prst="ellipse">
            <a:avLst/>
          </a:prstGeom>
          <a:solidFill>
            <a:srgbClr val="0B66D6"/>
          </a:solidFill>
          <a:ln w="12700">
            <a:solidFill>
              <a:srgbClr val="0B66D6"/>
            </a:solidFill>
            <a:prstDash val="solid"/>
          </a:ln>
        </p:spPr>
      </p:sp>
      <p:sp>
        <p:nvSpPr>
          <p:cNvPr id="21" name="Text 19"/>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1440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Daily Manpower</a:t>
            </a:r>
            <a:endParaRPr lang="en-US" sz="1300" dirty="0"/>
          </a:p>
        </p:txBody>
      </p:sp>
      <p:sp>
        <p:nvSpPr>
          <p:cNvPr id="23" name="Text 21"/>
          <p:cNvSpPr txBox="1"/>
          <p:nvPr/>
        </p:nvSpPr>
        <p:spPr>
          <a:xfrm>
            <a:off x="91440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Present, absent, on leave and late, by project and trade</a:t>
            </a:r>
            <a:endParaRPr lang="en-US" sz="1050" dirty="0"/>
          </a:p>
        </p:txBody>
      </p:sp>
      <p:sp>
        <p:nvSpPr>
          <p:cNvPr id="24" name="Shape 22"/>
          <p:cNvSpPr/>
          <p:nvPr/>
        </p:nvSpPr>
        <p:spPr>
          <a:xfrm>
            <a:off x="4709160" y="3364992"/>
            <a:ext cx="310896" cy="310896"/>
          </a:xfrm>
          <a:prstGeom prst="ellipse">
            <a:avLst/>
          </a:prstGeom>
          <a:solidFill>
            <a:srgbClr val="00113D"/>
          </a:solidFill>
          <a:ln w="12700">
            <a:solidFill>
              <a:srgbClr val="00113D"/>
            </a:solidFill>
            <a:prstDash val="solid"/>
          </a:ln>
        </p:spPr>
      </p:sp>
      <p:sp>
        <p:nvSpPr>
          <p:cNvPr id="25" name="Text 23"/>
          <p:cNvSpPr txBox="1"/>
          <p:nvPr/>
        </p:nvSpPr>
        <p:spPr>
          <a:xfrm>
            <a:off x="470916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516636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Absent Report</a:t>
            </a:r>
            <a:endParaRPr lang="en-US" sz="1300" dirty="0"/>
          </a:p>
        </p:txBody>
      </p:sp>
      <p:sp>
        <p:nvSpPr>
          <p:cNvPr id="27" name="Text 25"/>
          <p:cNvSpPr txBox="1"/>
          <p:nvPr/>
        </p:nvSpPr>
        <p:spPr>
          <a:xfrm>
            <a:off x="516636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was absent, with approved leave and public holidays excluded</a:t>
            </a:r>
            <a:endParaRPr lang="en-US" sz="1050" dirty="0"/>
          </a:p>
        </p:txBody>
      </p:sp>
      <p:sp>
        <p:nvSpPr>
          <p:cNvPr id="28" name="Shape 26"/>
          <p:cNvSpPr/>
          <p:nvPr/>
        </p:nvSpPr>
        <p:spPr>
          <a:xfrm>
            <a:off x="457200" y="4315968"/>
            <a:ext cx="8229600" cy="603504"/>
          </a:xfrm>
          <a:prstGeom prst="roundRect">
            <a:avLst>
              <a:gd name="adj" fmla="val 13636"/>
            </a:avLst>
          </a:prstGeom>
          <a:solidFill>
            <a:srgbClr val="E8F1FC"/>
          </a:solidFill>
          <a:ln w="9525">
            <a:solidFill>
              <a:srgbClr val="DEE6E1"/>
            </a:solidFill>
            <a:prstDash val="solid"/>
          </a:ln>
        </p:spPr>
      </p:sp>
      <p:sp>
        <p:nvSpPr>
          <p:cNvPr id="29" name="Text 27"/>
          <p:cNvSpPr txBox="1"/>
          <p:nvPr/>
        </p:nvSpPr>
        <p:spPr>
          <a:xfrm>
            <a:off x="713232" y="4462272"/>
            <a:ext cx="7717536" cy="329184"/>
          </a:xfrm>
          <a:prstGeom prst="rect">
            <a:avLst/>
          </a:prstGeom>
          <a:noFill/>
          <a:ln/>
        </p:spPr>
        <p:txBody>
          <a:bodyPr wrap="square" lIns="0" tIns="0" rIns="0" bIns="0" rtlCol="0" anchor="t"/>
          <a:lstStyle/>
          <a:p>
            <a:pPr algn="l" indent="0" marL="0">
              <a:lnSpc>
                <a:spcPct val="110000"/>
              </a:lnSpc>
              <a:buNone/>
            </a:pPr>
            <a:r>
              <a:rPr lang="en-US" sz="1100" b="1" dirty="0">
                <a:solidFill>
                  <a:srgbClr val="00113D"/>
                </a:solidFill>
                <a:latin typeface="Calibri" pitchFamily="34" charset="0"/>
                <a:ea typeface="Calibri" pitchFamily="34" charset="-122"/>
                <a:cs typeface="Calibri" pitchFamily="34" charset="-120"/>
              </a:rPr>
              <a:t>Reports respect the same access rules — a timekeeper's export contains their projects only, never the whole company.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The whole workforce on one screen</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Live figures for any date and any project, without waiting for a report</a:t>
            </a:r>
            <a:endParaRPr lang="en-US" sz="1300" dirty="0"/>
          </a:p>
        </p:txBody>
      </p:sp>
      <p:sp>
        <p:nvSpPr>
          <p:cNvPr id="4" name="Shape 2"/>
          <p:cNvSpPr/>
          <p:nvPr/>
        </p:nvSpPr>
        <p:spPr>
          <a:xfrm>
            <a:off x="457200" y="1389888"/>
            <a:ext cx="1280160" cy="786384"/>
          </a:xfrm>
          <a:prstGeom prst="roundRect">
            <a:avLst>
              <a:gd name="adj" fmla="val 10465"/>
            </a:avLst>
          </a:prstGeom>
          <a:solidFill>
            <a:srgbClr val="F5F7F5"/>
          </a:solidFill>
          <a:ln w="9525">
            <a:solidFill>
              <a:srgbClr val="DEE6E1"/>
            </a:solidFill>
            <a:prstDash val="solid"/>
          </a:ln>
        </p:spPr>
      </p:sp>
      <p:sp>
        <p:nvSpPr>
          <p:cNvPr id="5" name="Shape 3"/>
          <p:cNvSpPr/>
          <p:nvPr/>
        </p:nvSpPr>
        <p:spPr>
          <a:xfrm>
            <a:off x="585216" y="1536192"/>
            <a:ext cx="146304" cy="146304"/>
          </a:xfrm>
          <a:prstGeom prst="ellipse">
            <a:avLst/>
          </a:prstGeom>
          <a:solidFill>
            <a:srgbClr val="17875E"/>
          </a:solidFill>
          <a:ln w="12700">
            <a:solidFill>
              <a:srgbClr val="17875E"/>
            </a:solidFill>
            <a:prstDash val="solid"/>
          </a:ln>
        </p:spPr>
      </p:sp>
      <p:sp>
        <p:nvSpPr>
          <p:cNvPr id="6" name="Text 4"/>
          <p:cNvSpPr txBox="1"/>
          <p:nvPr/>
        </p:nvSpPr>
        <p:spPr>
          <a:xfrm>
            <a:off x="58521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Present</a:t>
            </a:r>
            <a:endParaRPr lang="en-US" sz="950" dirty="0"/>
          </a:p>
        </p:txBody>
      </p:sp>
      <p:sp>
        <p:nvSpPr>
          <p:cNvPr id="7" name="Shape 5"/>
          <p:cNvSpPr/>
          <p:nvPr/>
        </p:nvSpPr>
        <p:spPr>
          <a:xfrm>
            <a:off x="1847088" y="1389888"/>
            <a:ext cx="1280160" cy="786384"/>
          </a:xfrm>
          <a:prstGeom prst="roundRect">
            <a:avLst>
              <a:gd name="adj" fmla="val 10465"/>
            </a:avLst>
          </a:prstGeom>
          <a:solidFill>
            <a:srgbClr val="F5F7F5"/>
          </a:solidFill>
          <a:ln w="9525">
            <a:solidFill>
              <a:srgbClr val="DEE6E1"/>
            </a:solidFill>
            <a:prstDash val="solid"/>
          </a:ln>
        </p:spPr>
      </p:sp>
      <p:sp>
        <p:nvSpPr>
          <p:cNvPr id="8" name="Shape 6"/>
          <p:cNvSpPr/>
          <p:nvPr/>
        </p:nvSpPr>
        <p:spPr>
          <a:xfrm>
            <a:off x="1975104" y="1536192"/>
            <a:ext cx="146304" cy="146304"/>
          </a:xfrm>
          <a:prstGeom prst="ellipse">
            <a:avLst/>
          </a:prstGeom>
          <a:solidFill>
            <a:srgbClr val="B3261E"/>
          </a:solidFill>
          <a:ln w="12700">
            <a:solidFill>
              <a:srgbClr val="B3261E"/>
            </a:solidFill>
            <a:prstDash val="solid"/>
          </a:ln>
        </p:spPr>
      </p:sp>
      <p:sp>
        <p:nvSpPr>
          <p:cNvPr id="9" name="Text 7"/>
          <p:cNvSpPr txBox="1"/>
          <p:nvPr/>
        </p:nvSpPr>
        <p:spPr>
          <a:xfrm>
            <a:off x="1975104"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Absent</a:t>
            </a:r>
            <a:endParaRPr lang="en-US" sz="950" dirty="0"/>
          </a:p>
        </p:txBody>
      </p:sp>
      <p:sp>
        <p:nvSpPr>
          <p:cNvPr id="10" name="Shape 8"/>
          <p:cNvSpPr/>
          <p:nvPr/>
        </p:nvSpPr>
        <p:spPr>
          <a:xfrm>
            <a:off x="3236976" y="1389888"/>
            <a:ext cx="1280160" cy="786384"/>
          </a:xfrm>
          <a:prstGeom prst="roundRect">
            <a:avLst>
              <a:gd name="adj" fmla="val 10465"/>
            </a:avLst>
          </a:prstGeom>
          <a:solidFill>
            <a:srgbClr val="F5F7F5"/>
          </a:solidFill>
          <a:ln w="9525">
            <a:solidFill>
              <a:srgbClr val="DEE6E1"/>
            </a:solidFill>
            <a:prstDash val="solid"/>
          </a:ln>
        </p:spPr>
      </p:sp>
      <p:sp>
        <p:nvSpPr>
          <p:cNvPr id="11" name="Shape 9"/>
          <p:cNvSpPr/>
          <p:nvPr/>
        </p:nvSpPr>
        <p:spPr>
          <a:xfrm>
            <a:off x="3364992" y="1536192"/>
            <a:ext cx="146304" cy="146304"/>
          </a:xfrm>
          <a:prstGeom prst="ellipse">
            <a:avLst/>
          </a:prstGeom>
          <a:solidFill>
            <a:srgbClr val="0378E2"/>
          </a:solidFill>
          <a:ln w="12700">
            <a:solidFill>
              <a:srgbClr val="0378E2"/>
            </a:solidFill>
            <a:prstDash val="solid"/>
          </a:ln>
        </p:spPr>
      </p:sp>
      <p:sp>
        <p:nvSpPr>
          <p:cNvPr id="12" name="Text 10"/>
          <p:cNvSpPr txBox="1"/>
          <p:nvPr/>
        </p:nvSpPr>
        <p:spPr>
          <a:xfrm>
            <a:off x="3364992"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On Leave</a:t>
            </a:r>
            <a:endParaRPr lang="en-US" sz="950" dirty="0"/>
          </a:p>
        </p:txBody>
      </p:sp>
      <p:sp>
        <p:nvSpPr>
          <p:cNvPr id="13" name="Shape 11"/>
          <p:cNvSpPr/>
          <p:nvPr/>
        </p:nvSpPr>
        <p:spPr>
          <a:xfrm>
            <a:off x="4626864" y="1389888"/>
            <a:ext cx="1280160" cy="786384"/>
          </a:xfrm>
          <a:prstGeom prst="roundRect">
            <a:avLst>
              <a:gd name="adj" fmla="val 10465"/>
            </a:avLst>
          </a:prstGeom>
          <a:solidFill>
            <a:srgbClr val="F5F7F5"/>
          </a:solidFill>
          <a:ln w="9525">
            <a:solidFill>
              <a:srgbClr val="DEE6E1"/>
            </a:solidFill>
            <a:prstDash val="solid"/>
          </a:ln>
        </p:spPr>
      </p:sp>
      <p:sp>
        <p:nvSpPr>
          <p:cNvPr id="14" name="Shape 12"/>
          <p:cNvSpPr/>
          <p:nvPr/>
        </p:nvSpPr>
        <p:spPr>
          <a:xfrm>
            <a:off x="4754880" y="1536192"/>
            <a:ext cx="146304" cy="146304"/>
          </a:xfrm>
          <a:prstGeom prst="ellipse">
            <a:avLst/>
          </a:prstGeom>
          <a:solidFill>
            <a:srgbClr val="B8842E"/>
          </a:solidFill>
          <a:ln w="12700">
            <a:solidFill>
              <a:srgbClr val="B8842E"/>
            </a:solidFill>
            <a:prstDash val="solid"/>
          </a:ln>
        </p:spPr>
      </p:sp>
      <p:sp>
        <p:nvSpPr>
          <p:cNvPr id="15" name="Text 13"/>
          <p:cNvSpPr txBox="1"/>
          <p:nvPr/>
        </p:nvSpPr>
        <p:spPr>
          <a:xfrm>
            <a:off x="4754880"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Late</a:t>
            </a:r>
            <a:endParaRPr lang="en-US" sz="950" dirty="0"/>
          </a:p>
        </p:txBody>
      </p:sp>
      <p:sp>
        <p:nvSpPr>
          <p:cNvPr id="16" name="Shape 14"/>
          <p:cNvSpPr/>
          <p:nvPr/>
        </p:nvSpPr>
        <p:spPr>
          <a:xfrm>
            <a:off x="6016752" y="1389888"/>
            <a:ext cx="1280160" cy="786384"/>
          </a:xfrm>
          <a:prstGeom prst="roundRect">
            <a:avLst>
              <a:gd name="adj" fmla="val 10465"/>
            </a:avLst>
          </a:prstGeom>
          <a:solidFill>
            <a:srgbClr val="F5F7F5"/>
          </a:solidFill>
          <a:ln w="9525">
            <a:solidFill>
              <a:srgbClr val="DEE6E1"/>
            </a:solidFill>
            <a:prstDash val="solid"/>
          </a:ln>
        </p:spPr>
      </p:sp>
      <p:sp>
        <p:nvSpPr>
          <p:cNvPr id="17" name="Shape 15"/>
          <p:cNvSpPr/>
          <p:nvPr/>
        </p:nvSpPr>
        <p:spPr>
          <a:xfrm>
            <a:off x="6144768" y="1536192"/>
            <a:ext cx="146304" cy="146304"/>
          </a:xfrm>
          <a:prstGeom prst="ellipse">
            <a:avLst/>
          </a:prstGeom>
          <a:solidFill>
            <a:srgbClr val="5B6B63"/>
          </a:solidFill>
          <a:ln w="12700">
            <a:solidFill>
              <a:srgbClr val="5B6B63"/>
            </a:solidFill>
            <a:prstDash val="solid"/>
          </a:ln>
        </p:spPr>
      </p:sp>
      <p:sp>
        <p:nvSpPr>
          <p:cNvPr id="18" name="Text 16"/>
          <p:cNvSpPr txBox="1"/>
          <p:nvPr/>
        </p:nvSpPr>
        <p:spPr>
          <a:xfrm>
            <a:off x="6144768"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Checked Out</a:t>
            </a:r>
            <a:endParaRPr lang="en-US" sz="950" dirty="0"/>
          </a:p>
        </p:txBody>
      </p:sp>
      <p:sp>
        <p:nvSpPr>
          <p:cNvPr id="19" name="Shape 17"/>
          <p:cNvSpPr/>
          <p:nvPr/>
        </p:nvSpPr>
        <p:spPr>
          <a:xfrm>
            <a:off x="7406640" y="1389888"/>
            <a:ext cx="1280160" cy="786384"/>
          </a:xfrm>
          <a:prstGeom prst="roundRect">
            <a:avLst>
              <a:gd name="adj" fmla="val 10465"/>
            </a:avLst>
          </a:prstGeom>
          <a:solidFill>
            <a:srgbClr val="F5F7F5"/>
          </a:solidFill>
          <a:ln w="9525">
            <a:solidFill>
              <a:srgbClr val="DEE6E1"/>
            </a:solidFill>
            <a:prstDash val="solid"/>
          </a:ln>
        </p:spPr>
      </p:sp>
      <p:sp>
        <p:nvSpPr>
          <p:cNvPr id="20" name="Shape 18"/>
          <p:cNvSpPr/>
          <p:nvPr/>
        </p:nvSpPr>
        <p:spPr>
          <a:xfrm>
            <a:off x="7534656" y="1536192"/>
            <a:ext cx="146304" cy="146304"/>
          </a:xfrm>
          <a:prstGeom prst="ellipse">
            <a:avLst/>
          </a:prstGeom>
          <a:solidFill>
            <a:srgbClr val="B3261E"/>
          </a:solidFill>
          <a:ln w="12700">
            <a:solidFill>
              <a:srgbClr val="B3261E"/>
            </a:solidFill>
            <a:prstDash val="solid"/>
          </a:ln>
        </p:spPr>
      </p:sp>
      <p:sp>
        <p:nvSpPr>
          <p:cNvPr id="21" name="Text 19"/>
          <p:cNvSpPr txBox="1"/>
          <p:nvPr/>
        </p:nvSpPr>
        <p:spPr>
          <a:xfrm>
            <a:off x="753465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Blocked</a:t>
            </a:r>
            <a:endParaRPr lang="en-US" sz="950" dirty="0"/>
          </a:p>
        </p:txBody>
      </p:sp>
      <p:sp>
        <p:nvSpPr>
          <p:cNvPr id="22" name="Shape 20"/>
          <p:cNvSpPr/>
          <p:nvPr/>
        </p:nvSpPr>
        <p:spPr>
          <a:xfrm>
            <a:off x="457200" y="2286000"/>
            <a:ext cx="1280160" cy="786384"/>
          </a:xfrm>
          <a:prstGeom prst="roundRect">
            <a:avLst>
              <a:gd name="adj" fmla="val 10465"/>
            </a:avLst>
          </a:prstGeom>
          <a:solidFill>
            <a:srgbClr val="F5F7F5"/>
          </a:solidFill>
          <a:ln w="9525">
            <a:solidFill>
              <a:srgbClr val="DEE6E1"/>
            </a:solidFill>
            <a:prstDash val="solid"/>
          </a:ln>
        </p:spPr>
      </p:sp>
      <p:sp>
        <p:nvSpPr>
          <p:cNvPr id="23" name="Shape 21"/>
          <p:cNvSpPr/>
          <p:nvPr/>
        </p:nvSpPr>
        <p:spPr>
          <a:xfrm>
            <a:off x="585216" y="2432304"/>
            <a:ext cx="146304" cy="146304"/>
          </a:xfrm>
          <a:prstGeom prst="ellipse">
            <a:avLst/>
          </a:prstGeom>
          <a:solidFill>
            <a:srgbClr val="00113D"/>
          </a:solidFill>
          <a:ln w="12700">
            <a:solidFill>
              <a:srgbClr val="00113D"/>
            </a:solidFill>
            <a:prstDash val="solid"/>
          </a:ln>
        </p:spPr>
      </p:sp>
      <p:sp>
        <p:nvSpPr>
          <p:cNvPr id="24" name="Text 22"/>
          <p:cNvSpPr txBox="1"/>
          <p:nvPr/>
        </p:nvSpPr>
        <p:spPr>
          <a:xfrm>
            <a:off x="585216"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Staff</a:t>
            </a:r>
            <a:endParaRPr lang="en-US" sz="950" dirty="0"/>
          </a:p>
        </p:txBody>
      </p:sp>
      <p:sp>
        <p:nvSpPr>
          <p:cNvPr id="25" name="Shape 23"/>
          <p:cNvSpPr/>
          <p:nvPr/>
        </p:nvSpPr>
        <p:spPr>
          <a:xfrm>
            <a:off x="1847088" y="2286000"/>
            <a:ext cx="1280160" cy="786384"/>
          </a:xfrm>
          <a:prstGeom prst="roundRect">
            <a:avLst>
              <a:gd name="adj" fmla="val 10465"/>
            </a:avLst>
          </a:prstGeom>
          <a:solidFill>
            <a:srgbClr val="F5F7F5"/>
          </a:solidFill>
          <a:ln w="9525">
            <a:solidFill>
              <a:srgbClr val="DEE6E1"/>
            </a:solidFill>
            <a:prstDash val="solid"/>
          </a:ln>
        </p:spPr>
      </p:sp>
      <p:sp>
        <p:nvSpPr>
          <p:cNvPr id="26" name="Shape 24"/>
          <p:cNvSpPr/>
          <p:nvPr/>
        </p:nvSpPr>
        <p:spPr>
          <a:xfrm>
            <a:off x="1975104" y="2432304"/>
            <a:ext cx="146304" cy="146304"/>
          </a:xfrm>
          <a:prstGeom prst="ellipse">
            <a:avLst/>
          </a:prstGeom>
          <a:solidFill>
            <a:srgbClr val="17875E"/>
          </a:solidFill>
          <a:ln w="12700">
            <a:solidFill>
              <a:srgbClr val="17875E"/>
            </a:solidFill>
            <a:prstDash val="solid"/>
          </a:ln>
        </p:spPr>
      </p:sp>
      <p:sp>
        <p:nvSpPr>
          <p:cNvPr id="27" name="Text 25"/>
          <p:cNvSpPr txBox="1"/>
          <p:nvPr/>
        </p:nvSpPr>
        <p:spPr>
          <a:xfrm>
            <a:off x="1975104"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KTC</a:t>
            </a:r>
            <a:endParaRPr lang="en-US" sz="950" dirty="0"/>
          </a:p>
        </p:txBody>
      </p:sp>
      <p:sp>
        <p:nvSpPr>
          <p:cNvPr id="28" name="Shape 26"/>
          <p:cNvSpPr/>
          <p:nvPr/>
        </p:nvSpPr>
        <p:spPr>
          <a:xfrm>
            <a:off x="3236976" y="2286000"/>
            <a:ext cx="1280160" cy="786384"/>
          </a:xfrm>
          <a:prstGeom prst="roundRect">
            <a:avLst>
              <a:gd name="adj" fmla="val 10465"/>
            </a:avLst>
          </a:prstGeom>
          <a:solidFill>
            <a:srgbClr val="F5F7F5"/>
          </a:solidFill>
          <a:ln w="9525">
            <a:solidFill>
              <a:srgbClr val="DEE6E1"/>
            </a:solidFill>
            <a:prstDash val="solid"/>
          </a:ln>
        </p:spPr>
      </p:sp>
      <p:sp>
        <p:nvSpPr>
          <p:cNvPr id="29" name="Shape 27"/>
          <p:cNvSpPr/>
          <p:nvPr/>
        </p:nvSpPr>
        <p:spPr>
          <a:xfrm>
            <a:off x="3364992" y="2432304"/>
            <a:ext cx="146304" cy="146304"/>
          </a:xfrm>
          <a:prstGeom prst="ellipse">
            <a:avLst/>
          </a:prstGeom>
          <a:solidFill>
            <a:srgbClr val="B8842E"/>
          </a:solidFill>
          <a:ln w="12700">
            <a:solidFill>
              <a:srgbClr val="B8842E"/>
            </a:solidFill>
            <a:prstDash val="solid"/>
          </a:ln>
        </p:spPr>
      </p:sp>
      <p:sp>
        <p:nvSpPr>
          <p:cNvPr id="30" name="Text 28"/>
          <p:cNvSpPr txBox="1"/>
          <p:nvPr/>
        </p:nvSpPr>
        <p:spPr>
          <a:xfrm>
            <a:off x="3364992"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Supplier</a:t>
            </a:r>
            <a:endParaRPr lang="en-US" sz="950" dirty="0"/>
          </a:p>
        </p:txBody>
      </p:sp>
      <p:sp>
        <p:nvSpPr>
          <p:cNvPr id="31" name="Shape 29"/>
          <p:cNvSpPr/>
          <p:nvPr/>
        </p:nvSpPr>
        <p:spPr>
          <a:xfrm>
            <a:off x="4626864" y="2286000"/>
            <a:ext cx="1280160" cy="786384"/>
          </a:xfrm>
          <a:prstGeom prst="roundRect">
            <a:avLst>
              <a:gd name="adj" fmla="val 10465"/>
            </a:avLst>
          </a:prstGeom>
          <a:solidFill>
            <a:srgbClr val="F5F7F5"/>
          </a:solidFill>
          <a:ln w="9525">
            <a:solidFill>
              <a:srgbClr val="DEE6E1"/>
            </a:solidFill>
            <a:prstDash val="solid"/>
          </a:ln>
        </p:spPr>
      </p:sp>
      <p:sp>
        <p:nvSpPr>
          <p:cNvPr id="32" name="Shape 30"/>
          <p:cNvSpPr/>
          <p:nvPr/>
        </p:nvSpPr>
        <p:spPr>
          <a:xfrm>
            <a:off x="4754880" y="2432304"/>
            <a:ext cx="146304" cy="146304"/>
          </a:xfrm>
          <a:prstGeom prst="ellipse">
            <a:avLst/>
          </a:prstGeom>
          <a:solidFill>
            <a:srgbClr val="17875E"/>
          </a:solidFill>
          <a:ln w="12700">
            <a:solidFill>
              <a:srgbClr val="17875E"/>
            </a:solidFill>
            <a:prstDash val="solid"/>
          </a:ln>
        </p:spPr>
      </p:sp>
      <p:sp>
        <p:nvSpPr>
          <p:cNvPr id="33" name="Text 31"/>
          <p:cNvSpPr txBox="1"/>
          <p:nvPr/>
        </p:nvSpPr>
        <p:spPr>
          <a:xfrm>
            <a:off x="4754880"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Active Projects</a:t>
            </a:r>
            <a:endParaRPr lang="en-US" sz="950" dirty="0"/>
          </a:p>
        </p:txBody>
      </p:sp>
      <p:sp>
        <p:nvSpPr>
          <p:cNvPr id="34" name="Shape 32"/>
          <p:cNvSpPr/>
          <p:nvPr/>
        </p:nvSpPr>
        <p:spPr>
          <a:xfrm>
            <a:off x="6016752" y="2286000"/>
            <a:ext cx="1280160" cy="786384"/>
          </a:xfrm>
          <a:prstGeom prst="roundRect">
            <a:avLst>
              <a:gd name="adj" fmla="val 10465"/>
            </a:avLst>
          </a:prstGeom>
          <a:solidFill>
            <a:srgbClr val="F5F7F5"/>
          </a:solidFill>
          <a:ln w="9525">
            <a:solidFill>
              <a:srgbClr val="DEE6E1"/>
            </a:solidFill>
            <a:prstDash val="solid"/>
          </a:ln>
        </p:spPr>
      </p:sp>
      <p:sp>
        <p:nvSpPr>
          <p:cNvPr id="35" name="Shape 33"/>
          <p:cNvSpPr/>
          <p:nvPr/>
        </p:nvSpPr>
        <p:spPr>
          <a:xfrm>
            <a:off x="6144768" y="2432304"/>
            <a:ext cx="146304" cy="146304"/>
          </a:xfrm>
          <a:prstGeom prst="ellipse">
            <a:avLst/>
          </a:prstGeom>
          <a:solidFill>
            <a:srgbClr val="5B6B63"/>
          </a:solidFill>
          <a:ln w="12700">
            <a:solidFill>
              <a:srgbClr val="5B6B63"/>
            </a:solidFill>
            <a:prstDash val="solid"/>
          </a:ln>
        </p:spPr>
      </p:sp>
      <p:sp>
        <p:nvSpPr>
          <p:cNvPr id="36" name="Text 34"/>
          <p:cNvSpPr txBox="1"/>
          <p:nvPr/>
        </p:nvSpPr>
        <p:spPr>
          <a:xfrm>
            <a:off x="6144768"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Projects</a:t>
            </a:r>
            <a:endParaRPr lang="en-US" sz="950" dirty="0"/>
          </a:p>
        </p:txBody>
      </p:sp>
      <p:sp>
        <p:nvSpPr>
          <p:cNvPr id="37" name="Text 35"/>
          <p:cNvSpPr txBox="1"/>
          <p:nvPr/>
        </p:nvSpPr>
        <p:spPr>
          <a:xfrm>
            <a:off x="457200" y="31272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Eleven live figures, illustrated above. Values update as attendance is marked.</a:t>
            </a:r>
            <a:endParaRPr lang="en-US" sz="1000" dirty="0"/>
          </a:p>
        </p:txBody>
      </p:sp>
      <p:sp>
        <p:nvSpPr>
          <p:cNvPr id="38" name="Shape 36"/>
          <p:cNvSpPr/>
          <p:nvPr/>
        </p:nvSpPr>
        <p:spPr>
          <a:xfrm>
            <a:off x="457200" y="3584448"/>
            <a:ext cx="3977640" cy="1170432"/>
          </a:xfrm>
          <a:prstGeom prst="roundRect">
            <a:avLst>
              <a:gd name="adj" fmla="val 7031"/>
            </a:avLst>
          </a:prstGeom>
          <a:solidFill>
            <a:srgbClr val="E8F1FC"/>
          </a:solidFill>
          <a:ln w="9525">
            <a:solidFill>
              <a:srgbClr val="DEE6E1"/>
            </a:solidFill>
            <a:prstDash val="solid"/>
          </a:ln>
        </p:spPr>
      </p:sp>
      <p:sp>
        <p:nvSpPr>
          <p:cNvPr id="39" name="Shape 37"/>
          <p:cNvSpPr/>
          <p:nvPr/>
        </p:nvSpPr>
        <p:spPr>
          <a:xfrm>
            <a:off x="676656" y="3803904"/>
            <a:ext cx="384048" cy="384048"/>
          </a:xfrm>
          <a:prstGeom prst="ellipse">
            <a:avLst/>
          </a:prstGeom>
          <a:solidFill>
            <a:srgbClr val="00113D"/>
          </a:solidFill>
          <a:ln w="12700">
            <a:solidFill>
              <a:srgbClr val="00113D"/>
            </a:solidFill>
            <a:prstDash val="solid"/>
          </a:ln>
        </p:spPr>
      </p:sp>
      <p:sp>
        <p:nvSpPr>
          <p:cNvPr id="40" name="Text 38"/>
          <p:cNvSpPr txBox="1"/>
          <p:nvPr/>
        </p:nvSpPr>
        <p:spPr>
          <a:xfrm>
            <a:off x="67665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txBox="1"/>
          <p:nvPr/>
        </p:nvSpPr>
        <p:spPr>
          <a:xfrm>
            <a:off x="117043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Worker Locator</a:t>
            </a:r>
            <a:endParaRPr lang="en-US" sz="1300" dirty="0"/>
          </a:p>
        </p:txBody>
      </p:sp>
      <p:sp>
        <p:nvSpPr>
          <p:cNvPr id="42" name="Text 40"/>
          <p:cNvSpPr txBox="1"/>
          <p:nvPr/>
        </p:nvSpPr>
        <p:spPr>
          <a:xfrm>
            <a:off x="117043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Type a name or ID and see which project he was on for any chosen date.</a:t>
            </a:r>
            <a:endParaRPr lang="en-US" sz="1050" dirty="0"/>
          </a:p>
        </p:txBody>
      </p:sp>
      <p:sp>
        <p:nvSpPr>
          <p:cNvPr id="43" name="Shape 41"/>
          <p:cNvSpPr/>
          <p:nvPr/>
        </p:nvSpPr>
        <p:spPr>
          <a:xfrm>
            <a:off x="4709160" y="3584448"/>
            <a:ext cx="3977640" cy="1170432"/>
          </a:xfrm>
          <a:prstGeom prst="roundRect">
            <a:avLst>
              <a:gd name="adj" fmla="val 7031"/>
            </a:avLst>
          </a:prstGeom>
          <a:solidFill>
            <a:srgbClr val="FDF7E8"/>
          </a:solidFill>
          <a:ln w="9525">
            <a:solidFill>
              <a:srgbClr val="DEE6E1"/>
            </a:solidFill>
            <a:prstDash val="solid"/>
          </a:ln>
        </p:spPr>
      </p:sp>
      <p:sp>
        <p:nvSpPr>
          <p:cNvPr id="44" name="Shape 42"/>
          <p:cNvSpPr/>
          <p:nvPr/>
        </p:nvSpPr>
        <p:spPr>
          <a:xfrm>
            <a:off x="4928616" y="3803904"/>
            <a:ext cx="384048" cy="384048"/>
          </a:xfrm>
          <a:prstGeom prst="ellipse">
            <a:avLst/>
          </a:prstGeom>
          <a:solidFill>
            <a:srgbClr val="B8842E"/>
          </a:solidFill>
          <a:ln w="12700">
            <a:solidFill>
              <a:srgbClr val="B8842E"/>
            </a:solidFill>
            <a:prstDash val="solid"/>
          </a:ln>
        </p:spPr>
      </p:sp>
      <p:sp>
        <p:nvSpPr>
          <p:cNvPr id="45" name="Text 43"/>
          <p:cNvSpPr txBox="1"/>
          <p:nvPr/>
        </p:nvSpPr>
        <p:spPr>
          <a:xfrm>
            <a:off x="492861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6" name="Text 44"/>
          <p:cNvSpPr txBox="1"/>
          <p:nvPr/>
        </p:nvSpPr>
        <p:spPr>
          <a:xfrm>
            <a:off x="542239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Site Deviations</a:t>
            </a:r>
            <a:endParaRPr lang="en-US" sz="1300" dirty="0"/>
          </a:p>
        </p:txBody>
      </p:sp>
      <p:sp>
        <p:nvSpPr>
          <p:cNvPr id="47" name="Text 45"/>
          <p:cNvSpPr txBox="1"/>
          <p:nvPr/>
        </p:nvSpPr>
        <p:spPr>
          <a:xfrm>
            <a:off x="542239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Anyone marked at a project other than their roster, listed for review the same day.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13D"/>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Access is enforced by the database</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8FA8CC"/>
                </a:solidFill>
                <a:latin typeface="Calibri" pitchFamily="34" charset="0"/>
                <a:ea typeface="Calibri" pitchFamily="34" charset="-122"/>
                <a:cs typeface="Calibri" pitchFamily="34" charset="-120"/>
              </a:rPr>
              <a:t>Hiding a button is a convenience. It is never the security boundary.</a:t>
            </a:r>
            <a:endParaRPr lang="en-US" sz="1300" dirty="0"/>
          </a:p>
        </p:txBody>
      </p:sp>
      <p:sp>
        <p:nvSpPr>
          <p:cNvPr id="4" name="Shape 2"/>
          <p:cNvSpPr/>
          <p:nvPr/>
        </p:nvSpPr>
        <p:spPr>
          <a:xfrm>
            <a:off x="457200" y="1517904"/>
            <a:ext cx="329184" cy="329184"/>
          </a:xfrm>
          <a:prstGeom prst="ellipse">
            <a:avLst/>
          </a:prstGeom>
          <a:solidFill>
            <a:srgbClr val="F9CB14"/>
          </a:solidFill>
          <a:ln w="12700">
            <a:solidFill>
              <a:srgbClr val="F9CB14"/>
            </a:solidFill>
            <a:prstDash val="solid"/>
          </a:ln>
        </p:spPr>
      </p:sp>
      <p:sp>
        <p:nvSpPr>
          <p:cNvPr id="5" name="Text 3"/>
          <p:cNvSpPr txBox="1"/>
          <p:nvPr/>
        </p:nvSpPr>
        <p:spPr>
          <a:xfrm>
            <a:off x="457200" y="1517904"/>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87552" y="1481328"/>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Rules live on Google's servers</a:t>
            </a:r>
            <a:endParaRPr lang="en-US" sz="1400" dirty="0"/>
          </a:p>
        </p:txBody>
      </p:sp>
      <p:sp>
        <p:nvSpPr>
          <p:cNvPr id="7" name="Text 5"/>
          <p:cNvSpPr txBox="1"/>
          <p:nvPr/>
        </p:nvSpPr>
        <p:spPr>
          <a:xfrm>
            <a:off x="987552" y="1783080"/>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Even a modified app cannot read another project's attendance — the request is refused before it reaches the data.</a:t>
            </a:r>
            <a:endParaRPr lang="en-US" sz="1100" dirty="0"/>
          </a:p>
        </p:txBody>
      </p:sp>
      <p:sp>
        <p:nvSpPr>
          <p:cNvPr id="8" name="Shape 6"/>
          <p:cNvSpPr/>
          <p:nvPr/>
        </p:nvSpPr>
        <p:spPr>
          <a:xfrm>
            <a:off x="457200" y="2487168"/>
            <a:ext cx="329184" cy="329184"/>
          </a:xfrm>
          <a:prstGeom prst="ellipse">
            <a:avLst/>
          </a:prstGeom>
          <a:solidFill>
            <a:srgbClr val="F9CB14"/>
          </a:solidFill>
          <a:ln w="12700">
            <a:solidFill>
              <a:srgbClr val="F9CB14"/>
            </a:solidFill>
            <a:prstDash val="solid"/>
          </a:ln>
        </p:spPr>
      </p:sp>
      <p:sp>
        <p:nvSpPr>
          <p:cNvPr id="9" name="Text 7"/>
          <p:cNvSpPr txBox="1"/>
          <p:nvPr/>
        </p:nvSpPr>
        <p:spPr>
          <a:xfrm>
            <a:off x="457200" y="2487168"/>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87552" y="2450592"/>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Nobody can promote themselves</a:t>
            </a:r>
            <a:endParaRPr lang="en-US" sz="1400" dirty="0"/>
          </a:p>
        </p:txBody>
      </p:sp>
      <p:sp>
        <p:nvSpPr>
          <p:cNvPr id="11" name="Text 9"/>
          <p:cNvSpPr txBox="1"/>
          <p:nvPr/>
        </p:nvSpPr>
        <p:spPr>
          <a:xfrm>
            <a:off x="987552" y="2752344"/>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A user cannot write their own role or site list. Only Super Admin can, and every change is stamped with who made it.</a:t>
            </a:r>
            <a:endParaRPr lang="en-US" sz="1100" dirty="0"/>
          </a:p>
        </p:txBody>
      </p:sp>
      <p:sp>
        <p:nvSpPr>
          <p:cNvPr id="12" name="Shape 10"/>
          <p:cNvSpPr/>
          <p:nvPr/>
        </p:nvSpPr>
        <p:spPr>
          <a:xfrm>
            <a:off x="457200" y="3456432"/>
            <a:ext cx="329184" cy="329184"/>
          </a:xfrm>
          <a:prstGeom prst="ellipse">
            <a:avLst/>
          </a:prstGeom>
          <a:solidFill>
            <a:srgbClr val="F9CB14"/>
          </a:solidFill>
          <a:ln w="12700">
            <a:solidFill>
              <a:srgbClr val="F9CB14"/>
            </a:solidFill>
            <a:prstDash val="solid"/>
          </a:ln>
        </p:spPr>
      </p:sp>
      <p:sp>
        <p:nvSpPr>
          <p:cNvPr id="13" name="Text 11"/>
          <p:cNvSpPr txBox="1"/>
          <p:nvPr/>
        </p:nvSpPr>
        <p:spPr>
          <a:xfrm>
            <a:off x="457200" y="3456432"/>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87552" y="3419856"/>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Attendance is never deleted</a:t>
            </a:r>
            <a:endParaRPr lang="en-US" sz="1400" dirty="0"/>
          </a:p>
        </p:txBody>
      </p:sp>
      <p:sp>
        <p:nvSpPr>
          <p:cNvPr id="15" name="Text 13"/>
          <p:cNvSpPr txBox="1"/>
          <p:nvPr/>
        </p:nvSpPr>
        <p:spPr>
          <a:xfrm>
            <a:off x="987552" y="3721608"/>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Corrections are recorded as edits, so the original entry and the correction both survive for audit.</a:t>
            </a:r>
            <a:endParaRPr lang="en-US" sz="1100" dirty="0"/>
          </a:p>
        </p:txBody>
      </p:sp>
      <p:sp>
        <p:nvSpPr>
          <p:cNvPr id="16" name="Shape 14"/>
          <p:cNvSpPr/>
          <p:nvPr/>
        </p:nvSpPr>
        <p:spPr>
          <a:xfrm>
            <a:off x="6053328" y="1481328"/>
            <a:ext cx="2633472" cy="2395728"/>
          </a:xfrm>
          <a:prstGeom prst="roundRect">
            <a:avLst>
              <a:gd name="adj" fmla="val 3435"/>
            </a:avLst>
          </a:prstGeom>
          <a:solidFill>
            <a:srgbClr val="0A2050"/>
          </a:solidFill>
          <a:ln w="9525">
            <a:solidFill>
              <a:srgbClr val="DEE6E1"/>
            </a:solidFill>
            <a:prstDash val="solid"/>
          </a:ln>
        </p:spPr>
      </p:sp>
      <p:sp>
        <p:nvSpPr>
          <p:cNvPr id="17" name="Shape 15"/>
          <p:cNvSpPr/>
          <p:nvPr/>
        </p:nvSpPr>
        <p:spPr>
          <a:xfrm>
            <a:off x="6053328" y="1481328"/>
            <a:ext cx="2633472" cy="2395728"/>
          </a:xfrm>
          <a:prstGeom prst="roundRect">
            <a:avLst>
              <a:gd name="adj" fmla="val 3435"/>
            </a:avLst>
          </a:prstGeom>
          <a:solidFill>
            <a:srgbClr val="0A2050"/>
          </a:solidFill>
          <a:ln w="12700">
            <a:solidFill>
              <a:srgbClr val="1B3468"/>
            </a:solidFill>
            <a:prstDash val="solid"/>
          </a:ln>
        </p:spPr>
      </p:sp>
      <p:sp>
        <p:nvSpPr>
          <p:cNvPr id="18" name="Text 16"/>
          <p:cNvSpPr txBox="1"/>
          <p:nvPr/>
        </p:nvSpPr>
        <p:spPr>
          <a:xfrm>
            <a:off x="6053328" y="1828800"/>
            <a:ext cx="2633472" cy="914400"/>
          </a:xfrm>
          <a:prstGeom prst="rect">
            <a:avLst/>
          </a:prstGeom>
          <a:noFill/>
          <a:ln/>
        </p:spPr>
        <p:txBody>
          <a:bodyPr wrap="square" lIns="0" tIns="0" rIns="0" bIns="0" rtlCol="0" anchor="ctr"/>
          <a:lstStyle/>
          <a:p>
            <a:pPr algn="ctr" indent="0" marL="0">
              <a:buNone/>
            </a:pPr>
            <a:r>
              <a:rPr lang="en-US" sz="6000" b="1" dirty="0">
                <a:solidFill>
                  <a:srgbClr val="F9CB14"/>
                </a:solidFill>
                <a:latin typeface="Cambria" pitchFamily="34" charset="0"/>
                <a:ea typeface="Cambria" pitchFamily="34" charset="-122"/>
                <a:cs typeface="Cambria" pitchFamily="34" charset="-120"/>
              </a:rPr>
              <a:t>44</a:t>
            </a:r>
            <a:endParaRPr lang="en-US" sz="6000" dirty="0"/>
          </a:p>
        </p:txBody>
      </p:sp>
      <p:sp>
        <p:nvSpPr>
          <p:cNvPr id="19" name="Text 17"/>
          <p:cNvSpPr txBox="1"/>
          <p:nvPr/>
        </p:nvSpPr>
        <p:spPr>
          <a:xfrm>
            <a:off x="6144768" y="2706624"/>
            <a:ext cx="245059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automated security tests</a:t>
            </a:r>
            <a:endParaRPr lang="en-US" sz="1200" dirty="0"/>
          </a:p>
        </p:txBody>
      </p:sp>
      <p:sp>
        <p:nvSpPr>
          <p:cNvPr id="20" name="Text 18"/>
          <p:cNvSpPr txBox="1"/>
          <p:nvPr/>
        </p:nvSpPr>
        <p:spPr>
          <a:xfrm>
            <a:off x="6272784" y="3017520"/>
            <a:ext cx="2194560" cy="731520"/>
          </a:xfrm>
          <a:prstGeom prst="rect">
            <a:avLst/>
          </a:prstGeom>
          <a:noFill/>
          <a:ln/>
        </p:spPr>
        <p:txBody>
          <a:bodyPr wrap="square" lIns="0" tIns="0" rIns="0" bIns="0" rtlCol="0" anchor="ctr"/>
          <a:lstStyle/>
          <a:p>
            <a:pPr algn="ctr" indent="0" marL="0">
              <a:lnSpc>
                <a:spcPct val="110000"/>
              </a:lnSpc>
              <a:buNone/>
            </a:pPr>
            <a:r>
              <a:rPr lang="en-US" sz="1000" dirty="0">
                <a:solidFill>
                  <a:srgbClr val="B9C7DE"/>
                </a:solidFill>
                <a:latin typeface="Calibri" pitchFamily="34" charset="0"/>
                <a:ea typeface="Calibri" pitchFamily="34" charset="-122"/>
                <a:cs typeface="Calibri" pitchFamily="34" charset="-120"/>
              </a:rPr>
              <a:t>Each one checks a permission that must be granted — and one that must be refused. All 44 pass.</a:t>
            </a:r>
            <a:endParaRPr lang="en-US" sz="1000" dirty="0"/>
          </a:p>
        </p:txBody>
      </p:sp>
      <p:sp>
        <p:nvSpPr>
          <p:cNvPr id="21" name="Text 19"/>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i="1" dirty="0">
                <a:solidFill>
                  <a:srgbClr val="8FA8CC"/>
                </a:solidFill>
                <a:latin typeface="Calibri" pitchFamily="34" charset="0"/>
                <a:ea typeface="Calibri" pitchFamily="34" charset="-122"/>
                <a:cs typeface="Calibri" pitchFamily="34" charset="-120"/>
              </a:rPr>
              <a:t>Tests are re-run against a Firebase emulator before every release.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Built and measured for 4,000 workers</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Report generation timed on the standard build, not estimated</a:t>
            </a:r>
            <a:endParaRPr lang="en-US" sz="1300" dirty="0"/>
          </a:p>
        </p:txBody>
      </p:sp>
      <p:graphicFrame>
        <p:nvGraphicFramePr>
          <p:cNvPr id="4" name="Chart 0" descr=""/>
          <p:cNvGraphicFramePr/>
          <p:nvPr/>
        </p:nvGraphicFramePr>
        <p:xfrm>
          <a:off x="457200" y="132588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577840" y="1517904"/>
            <a:ext cx="310896" cy="310896"/>
          </a:xfrm>
          <a:prstGeom prst="ellipse">
            <a:avLst/>
          </a:prstGeom>
          <a:solidFill>
            <a:srgbClr val="0B66D6"/>
          </a:solidFill>
          <a:ln w="12700">
            <a:solidFill>
              <a:srgbClr val="0B66D6"/>
            </a:solidFill>
            <a:prstDash val="solid"/>
          </a:ln>
        </p:spPr>
      </p:sp>
      <p:sp>
        <p:nvSpPr>
          <p:cNvPr id="6" name="Text 3"/>
          <p:cNvSpPr txBox="1"/>
          <p:nvPr/>
        </p:nvSpPr>
        <p:spPr>
          <a:xfrm>
            <a:off x="5577840" y="1517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6035040" y="1481328"/>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Attendance is written per project, per day</a:t>
            </a:r>
            <a:endParaRPr lang="en-US" sz="1150" dirty="0"/>
          </a:p>
        </p:txBody>
      </p:sp>
      <p:sp>
        <p:nvSpPr>
          <p:cNvPr id="8" name="Text 5"/>
          <p:cNvSpPr txBox="1"/>
          <p:nvPr/>
        </p:nvSpPr>
        <p:spPr>
          <a:xfrm>
            <a:off x="6035040" y="1901952"/>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The system never has to load the whole company at once, so adding projects does not slow the existing ones down.</a:t>
            </a:r>
            <a:endParaRPr lang="en-US" sz="1000" dirty="0"/>
          </a:p>
        </p:txBody>
      </p:sp>
      <p:sp>
        <p:nvSpPr>
          <p:cNvPr id="9" name="Shape 6"/>
          <p:cNvSpPr/>
          <p:nvPr/>
        </p:nvSpPr>
        <p:spPr>
          <a:xfrm>
            <a:off x="5577840" y="2542032"/>
            <a:ext cx="310896" cy="310896"/>
          </a:xfrm>
          <a:prstGeom prst="ellipse">
            <a:avLst/>
          </a:prstGeom>
          <a:solidFill>
            <a:srgbClr val="00113D"/>
          </a:solidFill>
          <a:ln w="12700">
            <a:solidFill>
              <a:srgbClr val="00113D"/>
            </a:solidFill>
            <a:prstDash val="solid"/>
          </a:ln>
        </p:spPr>
      </p:sp>
      <p:sp>
        <p:nvSpPr>
          <p:cNvPr id="10" name="Text 7"/>
          <p:cNvSpPr txBox="1"/>
          <p:nvPr/>
        </p:nvSpPr>
        <p:spPr>
          <a:xfrm>
            <a:off x="5577840" y="2542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6035040" y="2505456"/>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Every phone loads only its own projects</a:t>
            </a:r>
            <a:endParaRPr lang="en-US" sz="1150" dirty="0"/>
          </a:p>
        </p:txBody>
      </p:sp>
      <p:sp>
        <p:nvSpPr>
          <p:cNvPr id="12" name="Text 9"/>
          <p:cNvSpPr txBox="1"/>
          <p:nvPr/>
        </p:nvSpPr>
        <p:spPr>
          <a:xfrm>
            <a:off x="6035040" y="2926080"/>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 foreman's phone fetches his site's crew, not 4,000 records.</a:t>
            </a:r>
            <a:endParaRPr lang="en-US" sz="1000" dirty="0"/>
          </a:p>
        </p:txBody>
      </p:sp>
      <p:sp>
        <p:nvSpPr>
          <p:cNvPr id="13" name="Shape 10"/>
          <p:cNvSpPr/>
          <p:nvPr/>
        </p:nvSpPr>
        <p:spPr>
          <a:xfrm>
            <a:off x="5577840" y="3566160"/>
            <a:ext cx="310896" cy="310896"/>
          </a:xfrm>
          <a:prstGeom prst="ellipse">
            <a:avLst/>
          </a:prstGeom>
          <a:solidFill>
            <a:srgbClr val="0B66D6"/>
          </a:solidFill>
          <a:ln w="12700">
            <a:solidFill>
              <a:srgbClr val="0B66D6"/>
            </a:solidFill>
            <a:prstDash val="solid"/>
          </a:ln>
        </p:spPr>
      </p:sp>
      <p:sp>
        <p:nvSpPr>
          <p:cNvPr id="14" name="Text 11"/>
          <p:cNvSpPr txBox="1"/>
          <p:nvPr/>
        </p:nvSpPr>
        <p:spPr>
          <a:xfrm>
            <a:off x="5577840" y="3566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6035040" y="3529584"/>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Growth is priced per record, not per user</a:t>
            </a:r>
            <a:endParaRPr lang="en-US" sz="1150" dirty="0"/>
          </a:p>
        </p:txBody>
      </p:sp>
      <p:sp>
        <p:nvSpPr>
          <p:cNvPr id="16" name="Text 13"/>
          <p:cNvSpPr txBox="1"/>
          <p:nvPr/>
        </p:nvSpPr>
        <p:spPr>
          <a:xfrm>
            <a:off x="6035040" y="3950208"/>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Adding a site or a supervisor costs nothing extra by itself.</a:t>
            </a:r>
            <a:endParaRPr lang="en-US" sz="1000" dirty="0"/>
          </a:p>
        </p:txBody>
      </p:sp>
      <p:sp>
        <p:nvSpPr>
          <p:cNvPr id="17" name="Text 14"/>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Measured on the release build with an Android-sized memory limit. Both reports completed well inside it.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What this changes for HR</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Six outcomes, in the order HR feels them</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17875E"/>
          </a:solidFill>
          <a:ln w="12700">
            <a:solidFill>
              <a:srgbClr val="17875E"/>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52144"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Payroll you can defend</a:t>
            </a:r>
            <a:endParaRPr lang="en-US" sz="1200" dirty="0"/>
          </a:p>
        </p:txBody>
      </p:sp>
      <p:sp>
        <p:nvSpPr>
          <p:cNvPr id="8" name="Text 6"/>
          <p:cNvSpPr txBox="1"/>
          <p:nvPr/>
        </p:nvSpPr>
        <p:spPr>
          <a:xfrm>
            <a:off x="676656"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Every paid day traces back to a GPS-verified record naming the person who marked it.</a:t>
            </a:r>
            <a:endParaRPr lang="en-US" sz="100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977640"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Month-end in minutes</a:t>
            </a:r>
            <a:endParaRPr lang="en-US" sz="1200" dirty="0"/>
          </a:p>
        </p:txBody>
      </p:sp>
      <p:sp>
        <p:nvSpPr>
          <p:cNvPr id="13" name="Text 11"/>
          <p:cNvSpPr txBox="1"/>
          <p:nvPr/>
        </p:nvSpPr>
        <p:spPr>
          <a:xfrm>
            <a:off x="3502152"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Trade-wise, absentee and hours reports generate on demand instead of being rebuilt by hand.</a:t>
            </a:r>
            <a:endParaRPr lang="en-US" sz="100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0113D"/>
          </a:solidFill>
          <a:ln w="12700">
            <a:solidFill>
              <a:srgbClr val="00113D"/>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03136"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Accurate cost allocation</a:t>
            </a:r>
            <a:endParaRPr lang="en-US" sz="1200" dirty="0"/>
          </a:p>
        </p:txBody>
      </p:sp>
      <p:sp>
        <p:nvSpPr>
          <p:cNvPr id="18" name="Text 16"/>
          <p:cNvSpPr txBox="1"/>
          <p:nvPr/>
        </p:nvSpPr>
        <p:spPr>
          <a:xfrm>
            <a:off x="6327648"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Transfers move the roster the same day, so a worker is charged to the project he actually worked on.</a:t>
            </a:r>
            <a:endParaRPr lang="en-US" sz="100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0378E2"/>
          </a:solidFill>
          <a:ln w="12700">
            <a:solidFill>
              <a:srgbClr val="0378E2"/>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152144"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Leave handled in the system</a:t>
            </a:r>
            <a:endParaRPr lang="en-US" sz="1200" dirty="0"/>
          </a:p>
        </p:txBody>
      </p:sp>
      <p:sp>
        <p:nvSpPr>
          <p:cNvPr id="23" name="Text 21"/>
          <p:cNvSpPr txBox="1"/>
          <p:nvPr/>
        </p:nvSpPr>
        <p:spPr>
          <a:xfrm>
            <a:off x="676656"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Staff apply, admin approves, and approved leave is automatically excluded from absence.</a:t>
            </a:r>
            <a:endParaRPr lang="en-US" sz="100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3977640"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Disputes settled by record</a:t>
            </a:r>
            <a:endParaRPr lang="en-US" sz="1200" dirty="0"/>
          </a:p>
        </p:txBody>
      </p:sp>
      <p:sp>
        <p:nvSpPr>
          <p:cNvPr id="28" name="Text 26"/>
          <p:cNvSpPr txBox="1"/>
          <p:nvPr/>
        </p:nvSpPr>
        <p:spPr>
          <a:xfrm>
            <a:off x="3502152"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Worker Locator answers 'where was he on the 14th?' in seconds, for any past date.</a:t>
            </a:r>
            <a:endParaRPr lang="en-US" sz="100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803136"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Nothing lost with a phone</a:t>
            </a:r>
            <a:endParaRPr lang="en-US" sz="1200" dirty="0"/>
          </a:p>
        </p:txBody>
      </p:sp>
      <p:sp>
        <p:nvSpPr>
          <p:cNvPr id="33" name="Text 31"/>
          <p:cNvSpPr txBox="1"/>
          <p:nvPr/>
        </p:nvSpPr>
        <p:spPr>
          <a:xfrm>
            <a:off x="6327648"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Data lives in Google's cloud, not on the device. A broken or stolen phone loses no attendance.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Running cost and what comes next</a:t>
            </a:r>
            <a:endParaRPr lang="en-US" sz="3200" dirty="0"/>
          </a:p>
        </p:txBody>
      </p:sp>
      <p:sp>
        <p:nvSpPr>
          <p:cNvPr id="3" name="Text 1"/>
          <p:cNvSpPr txBox="1"/>
          <p:nvPr/>
        </p:nvSpPr>
        <p:spPr>
          <a:xfrm>
            <a:off x="457200" y="905256"/>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No licence fees, no per-user charge, no server to buy</a:t>
            </a:r>
            <a:endParaRPr lang="en-US" sz="1300" dirty="0"/>
          </a:p>
        </p:txBody>
      </p:sp>
      <p:sp>
        <p:nvSpPr>
          <p:cNvPr id="4" name="Shape 2"/>
          <p:cNvSpPr/>
          <p:nvPr/>
        </p:nvSpPr>
        <p:spPr>
          <a:xfrm>
            <a:off x="457200" y="1371600"/>
            <a:ext cx="3977640" cy="1783080"/>
          </a:xfrm>
          <a:prstGeom prst="roundRect">
            <a:avLst>
              <a:gd name="adj" fmla="val 4615"/>
            </a:avLst>
          </a:prstGeom>
          <a:solidFill>
            <a:srgbClr val="E9F2ED"/>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COST</a:t>
            </a:r>
            <a:endParaRPr lang="en-US" sz="1050" dirty="0"/>
          </a:p>
        </p:txBody>
      </p:sp>
      <p:sp>
        <p:nvSpPr>
          <p:cNvPr id="6" name="Text 4"/>
          <p:cNvSpPr txBox="1"/>
          <p:nvPr/>
        </p:nvSpPr>
        <p:spPr>
          <a:xfrm>
            <a:off x="694944" y="1828800"/>
            <a:ext cx="3520440" cy="77724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There is no software licence and no per-user fee. The only cost is Google's charge for data stored and read, which scales with how much the system is actually used.</a:t>
            </a:r>
            <a:endParaRPr lang="en-US" sz="1100" dirty="0"/>
          </a:p>
        </p:txBody>
      </p:sp>
      <p:sp>
        <p:nvSpPr>
          <p:cNvPr id="7" name="Text 5"/>
          <p:cNvSpPr txBox="1"/>
          <p:nvPr/>
        </p:nvSpPr>
        <p:spPr>
          <a:xfrm>
            <a:off x="694944" y="2633472"/>
            <a:ext cx="3520440" cy="384048"/>
          </a:xfrm>
          <a:prstGeom prst="rect">
            <a:avLst/>
          </a:prstGeom>
          <a:noFill/>
          <a:ln/>
        </p:spPr>
        <p:txBody>
          <a:bodyPr wrap="square" lIns="0" tIns="0" rIns="0" bIns="0" rtlCol="0" anchor="t"/>
          <a:lstStyle/>
          <a:p>
            <a:pPr algn="l" indent="0" marL="0">
              <a:lnSpc>
                <a:spcPct val="110000"/>
              </a:lnSpc>
              <a:buNone/>
            </a:pPr>
            <a:r>
              <a:rPr lang="en-US" sz="1100" b="1" dirty="0">
                <a:solidFill>
                  <a:srgbClr val="17875E"/>
                </a:solidFill>
                <a:latin typeface="Calibri" pitchFamily="34" charset="0"/>
                <a:ea typeface="Calibri" pitchFamily="34" charset="-122"/>
                <a:cs typeface="Calibri" pitchFamily="34" charset="-120"/>
              </a:rPr>
              <a:t>At 4,000 workers this is projected to sit well inside a USD 100 per month budget.</a:t>
            </a:r>
            <a:endParaRPr lang="en-US" sz="1100" dirty="0"/>
          </a:p>
        </p:txBody>
      </p:sp>
      <p:sp>
        <p:nvSpPr>
          <p:cNvPr id="8" name="Text 6"/>
          <p:cNvSpPr txBox="1"/>
          <p:nvPr/>
        </p:nvSpPr>
        <p:spPr>
          <a:xfrm>
            <a:off x="4709160" y="1536192"/>
            <a:ext cx="3840480" cy="237744"/>
          </a:xfrm>
          <a:prstGeom prst="rect">
            <a:avLst/>
          </a:prstGeom>
          <a:noFill/>
          <a:ln/>
        </p:spPr>
        <p:txBody>
          <a:bodyPr wrap="square" lIns="0" tIns="0" rIns="0" bIns="0" rtlCol="0" anchor="t"/>
          <a:lstStyle/>
          <a:p>
            <a:pPr algn="l" indent="0" marL="0">
              <a:lnSpc>
                <a:spcPct val="110000"/>
              </a:lnSpc>
              <a:buNone/>
            </a:pPr>
            <a:r>
              <a:rPr lang="en-US" sz="1050" b="1" dirty="0">
                <a:solidFill>
                  <a:srgbClr val="00113D"/>
                </a:solidFill>
                <a:latin typeface="Calibri" pitchFamily="34" charset="0"/>
                <a:ea typeface="Calibri" pitchFamily="34" charset="-122"/>
                <a:cs typeface="Calibri" pitchFamily="34" charset="-120"/>
              </a:rPr>
              <a:t>ALREADY PLANNED</a:t>
            </a:r>
            <a:endParaRPr lang="en-US" sz="1050" dirty="0"/>
          </a:p>
        </p:txBody>
      </p:sp>
      <p:sp>
        <p:nvSpPr>
          <p:cNvPr id="9" name="Shape 7"/>
          <p:cNvSpPr/>
          <p:nvPr/>
        </p:nvSpPr>
        <p:spPr>
          <a:xfrm>
            <a:off x="4709160" y="1874520"/>
            <a:ext cx="274320" cy="274320"/>
          </a:xfrm>
          <a:prstGeom prst="ellipse">
            <a:avLst/>
          </a:prstGeom>
          <a:solidFill>
            <a:srgbClr val="0B66D6"/>
          </a:solidFill>
          <a:ln w="12700">
            <a:solidFill>
              <a:srgbClr val="0B66D6"/>
            </a:solidFill>
            <a:prstDash val="solid"/>
          </a:ln>
        </p:spPr>
      </p:sp>
      <p:sp>
        <p:nvSpPr>
          <p:cNvPr id="10" name="Text 8"/>
          <p:cNvSpPr txBox="1"/>
          <p:nvPr/>
        </p:nvSpPr>
        <p:spPr>
          <a:xfrm>
            <a:off x="4709160" y="1874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120640" y="1847088"/>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Push notifications</a:t>
            </a:r>
            <a:endParaRPr lang="en-US" sz="1150" dirty="0"/>
          </a:p>
        </p:txBody>
      </p:sp>
      <p:sp>
        <p:nvSpPr>
          <p:cNvPr id="12" name="Text 10"/>
          <p:cNvSpPr txBox="1"/>
          <p:nvPr/>
        </p:nvSpPr>
        <p:spPr>
          <a:xfrm>
            <a:off x="5120640" y="2103120"/>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Alerts for transfers, arrivals and leave — needs one server function switched on.</a:t>
            </a:r>
            <a:endParaRPr lang="en-US" sz="1000" dirty="0"/>
          </a:p>
        </p:txBody>
      </p:sp>
      <p:sp>
        <p:nvSpPr>
          <p:cNvPr id="13" name="Shape 11"/>
          <p:cNvSpPr/>
          <p:nvPr/>
        </p:nvSpPr>
        <p:spPr>
          <a:xfrm>
            <a:off x="4709160" y="2551176"/>
            <a:ext cx="274320" cy="274320"/>
          </a:xfrm>
          <a:prstGeom prst="ellipse">
            <a:avLst/>
          </a:prstGeom>
          <a:solidFill>
            <a:srgbClr val="00113D"/>
          </a:solidFill>
          <a:ln w="12700">
            <a:solidFill>
              <a:srgbClr val="00113D"/>
            </a:solidFill>
            <a:prstDash val="solid"/>
          </a:ln>
        </p:spPr>
      </p:sp>
      <p:sp>
        <p:nvSpPr>
          <p:cNvPr id="14" name="Text 12"/>
          <p:cNvSpPr txBox="1"/>
          <p:nvPr/>
        </p:nvSpPr>
        <p:spPr>
          <a:xfrm>
            <a:off x="4709160"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120640" y="2523744"/>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Photo on check-in</a:t>
            </a:r>
            <a:endParaRPr lang="en-US" sz="1150" dirty="0"/>
          </a:p>
        </p:txBody>
      </p:sp>
      <p:sp>
        <p:nvSpPr>
          <p:cNvPr id="16" name="Text 14"/>
          <p:cNvSpPr txBox="1"/>
          <p:nvPr/>
        </p:nvSpPr>
        <p:spPr>
          <a:xfrm>
            <a:off x="5120640" y="2779776"/>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An optional photo stored with the attendance record.</a:t>
            </a:r>
            <a:endParaRPr lang="en-US" sz="1000" dirty="0"/>
          </a:p>
        </p:txBody>
      </p:sp>
      <p:sp>
        <p:nvSpPr>
          <p:cNvPr id="17" name="Shape 15"/>
          <p:cNvSpPr/>
          <p:nvPr/>
        </p:nvSpPr>
        <p:spPr>
          <a:xfrm>
            <a:off x="4709160" y="3227832"/>
            <a:ext cx="274320" cy="274320"/>
          </a:xfrm>
          <a:prstGeom prst="ellipse">
            <a:avLst/>
          </a:prstGeom>
          <a:solidFill>
            <a:srgbClr val="0B66D6"/>
          </a:solidFill>
          <a:ln w="12700">
            <a:solidFill>
              <a:srgbClr val="0B66D6"/>
            </a:solidFill>
            <a:prstDash val="solid"/>
          </a:ln>
        </p:spPr>
      </p:sp>
      <p:sp>
        <p:nvSpPr>
          <p:cNvPr id="18" name="Text 16"/>
          <p:cNvSpPr txBox="1"/>
          <p:nvPr/>
        </p:nvSpPr>
        <p:spPr>
          <a:xfrm>
            <a:off x="4709160" y="32278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120640" y="3200400"/>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Power BI / Excel reporting</a:t>
            </a:r>
            <a:endParaRPr lang="en-US" sz="1150" dirty="0"/>
          </a:p>
        </p:txBody>
      </p:sp>
      <p:sp>
        <p:nvSpPr>
          <p:cNvPr id="20" name="Text 18"/>
          <p:cNvSpPr txBox="1"/>
          <p:nvPr/>
        </p:nvSpPr>
        <p:spPr>
          <a:xfrm>
            <a:off x="5120640" y="3456432"/>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Live connection for HR's own analysis, without touching the app.</a:t>
            </a:r>
            <a:endParaRPr lang="en-US" sz="1000" dirty="0"/>
          </a:p>
        </p:txBody>
      </p:sp>
      <p:sp>
        <p:nvSpPr>
          <p:cNvPr id="21" name="Shape 19"/>
          <p:cNvSpPr/>
          <p:nvPr/>
        </p:nvSpPr>
        <p:spPr>
          <a:xfrm>
            <a:off x="4709160" y="3904488"/>
            <a:ext cx="274320" cy="274320"/>
          </a:xfrm>
          <a:prstGeom prst="ellipse">
            <a:avLst/>
          </a:prstGeom>
          <a:solidFill>
            <a:srgbClr val="00113D"/>
          </a:solidFill>
          <a:ln w="12700">
            <a:solidFill>
              <a:srgbClr val="00113D"/>
            </a:solidFill>
            <a:prstDash val="solid"/>
          </a:ln>
        </p:spPr>
      </p:sp>
      <p:sp>
        <p:nvSpPr>
          <p:cNvPr id="22" name="Text 20"/>
          <p:cNvSpPr txBox="1"/>
          <p:nvPr/>
        </p:nvSpPr>
        <p:spPr>
          <a:xfrm>
            <a:off x="4709160" y="3904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5120640" y="3877056"/>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ERP roster sync</a:t>
            </a:r>
            <a:endParaRPr lang="en-US" sz="1150" dirty="0"/>
          </a:p>
        </p:txBody>
      </p:sp>
      <p:sp>
        <p:nvSpPr>
          <p:cNvPr id="24" name="Text 22"/>
          <p:cNvSpPr txBox="1"/>
          <p:nvPr/>
        </p:nvSpPr>
        <p:spPr>
          <a:xfrm>
            <a:off x="5120640" y="4133088"/>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Roster arriving automatically from the ERP instead of an Excel upload.</a:t>
            </a:r>
            <a:endParaRPr lang="en-US" sz="1000" dirty="0"/>
          </a:p>
        </p:txBody>
      </p:sp>
      <p:sp>
        <p:nvSpPr>
          <p:cNvPr id="25" name="Shape 23"/>
          <p:cNvSpPr/>
          <p:nvPr/>
        </p:nvSpPr>
        <p:spPr>
          <a:xfrm>
            <a:off x="457200" y="3364992"/>
            <a:ext cx="3977640" cy="1234440"/>
          </a:xfrm>
          <a:prstGeom prst="roundRect">
            <a:avLst>
              <a:gd name="adj" fmla="val 6667"/>
            </a:avLst>
          </a:prstGeom>
          <a:solidFill>
            <a:srgbClr val="F5F7F5"/>
          </a:solidFill>
          <a:ln w="9525">
            <a:solidFill>
              <a:srgbClr val="DEE6E1"/>
            </a:solidFill>
            <a:prstDash val="solid"/>
          </a:ln>
        </p:spPr>
      </p:sp>
      <p:sp>
        <p:nvSpPr>
          <p:cNvPr id="26" name="Text 24"/>
          <p:cNvSpPr txBox="1"/>
          <p:nvPr/>
        </p:nvSpPr>
        <p:spPr>
          <a:xfrm>
            <a:off x="694944" y="3529584"/>
            <a:ext cx="3520440" cy="256032"/>
          </a:xfrm>
          <a:prstGeom prst="rect">
            <a:avLst/>
          </a:prstGeom>
          <a:noFill/>
          <a:ln/>
        </p:spPr>
        <p:txBody>
          <a:bodyPr wrap="square" lIns="0" tIns="0" rIns="0" bIns="0" rtlCol="0" anchor="t"/>
          <a:lstStyle/>
          <a:p>
            <a:pPr algn="l" indent="0" marL="0">
              <a:lnSpc>
                <a:spcPct val="110000"/>
              </a:lnSpc>
              <a:buNone/>
            </a:pPr>
            <a:r>
              <a:rPr lang="en-US" sz="1200" b="1" dirty="0">
                <a:solidFill>
                  <a:srgbClr val="00113D"/>
                </a:solidFill>
                <a:latin typeface="Calibri" pitchFamily="34" charset="0"/>
                <a:ea typeface="Calibri" pitchFamily="34" charset="-122"/>
                <a:cs typeface="Calibri" pitchFamily="34" charset="-120"/>
              </a:rPr>
              <a:t>Already live today</a:t>
            </a:r>
            <a:endParaRPr lang="en-US" sz="1200" dirty="0"/>
          </a:p>
        </p:txBody>
      </p:sp>
      <p:sp>
        <p:nvSpPr>
          <p:cNvPr id="27" name="Text 25"/>
          <p:cNvSpPr txBox="1"/>
          <p:nvPr/>
        </p:nvSpPr>
        <p:spPr>
          <a:xfrm>
            <a:off x="694944" y="3822192"/>
            <a:ext cx="3520440" cy="65836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GPS check-in, badge scanning, six roles, site scoping, transfers, leave, holidays, dashboards, Excel reports, and full backup and restore.</a:t>
            </a:r>
            <a:endParaRPr lang="en-US" sz="1050" dirty="0"/>
          </a:p>
        </p:txBody>
      </p:sp>
      <p:sp>
        <p:nvSpPr>
          <p:cNvPr id="28" name="Text 26"/>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Cost figure is a projection based on expected usage, not a quoted price.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1280160" y="2926080"/>
            <a:ext cx="3291840" cy="3291840"/>
          </a:xfrm>
          <a:prstGeom prst="ellipse">
            <a:avLst/>
          </a:prstGeom>
          <a:solidFill>
            <a:srgbClr val="0A2050"/>
          </a:solidFill>
          <a:ln w="12700">
            <a:solidFill>
              <a:srgbClr val="0A2050"/>
            </a:solidFill>
            <a:prstDash val="solid"/>
          </a:ln>
        </p:spPr>
      </p:sp>
      <p:sp>
        <p:nvSpPr>
          <p:cNvPr id="3" name="Shape 1"/>
          <p:cNvSpPr/>
          <p:nvPr/>
        </p:nvSpPr>
        <p:spPr>
          <a:xfrm>
            <a:off x="7680960" y="-1097280"/>
            <a:ext cx="2926080" cy="2926080"/>
          </a:xfrm>
          <a:prstGeom prst="ellipse">
            <a:avLst/>
          </a:prstGeom>
          <a:solidFill>
            <a:srgbClr val="0A2050"/>
          </a:solidFill>
          <a:ln w="12700">
            <a:solidFill>
              <a:srgbClr val="0A2050"/>
            </a:solidFill>
            <a:prstDash val="solid"/>
          </a:ln>
        </p:spPr>
      </p:sp>
      <p:sp>
        <p:nvSpPr>
          <p:cNvPr id="4" name="Text 2"/>
          <p:cNvSpPr txBox="1"/>
          <p:nvPr/>
        </p:nvSpPr>
        <p:spPr>
          <a:xfrm>
            <a:off x="457200" y="1170432"/>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Built, tested, ready to roll out</a:t>
            </a:r>
            <a:endParaRPr lang="en-US" sz="4000" dirty="0"/>
          </a:p>
        </p:txBody>
      </p:sp>
      <p:sp>
        <p:nvSpPr>
          <p:cNvPr id="5" name="Text 3"/>
          <p:cNvSpPr txBox="1"/>
          <p:nvPr/>
        </p:nvSpPr>
        <p:spPr>
          <a:xfrm>
            <a:off x="457200" y="2523744"/>
            <a:ext cx="6766560" cy="658368"/>
          </a:xfrm>
          <a:prstGeom prst="rect">
            <a:avLst/>
          </a:prstGeom>
          <a:noFill/>
          <a:ln/>
        </p:spPr>
        <p:txBody>
          <a:bodyPr wrap="square" lIns="0" tIns="0" rIns="0" bIns="0" rtlCol="0" anchor="ctr"/>
          <a:lstStyle/>
          <a:p>
            <a:pPr indent="0" marL="0">
              <a:lnSpc>
                <a:spcPct val="115000"/>
              </a:lnSpc>
              <a:buNone/>
            </a:pPr>
            <a:r>
              <a:rPr lang="en-US" sz="1400" dirty="0">
                <a:solidFill>
                  <a:srgbClr val="CADCFC"/>
                </a:solidFill>
                <a:latin typeface="Calibri" pitchFamily="34" charset="0"/>
                <a:ea typeface="Calibri" pitchFamily="34" charset="-122"/>
                <a:cs typeface="Calibri" pitchFamily="34" charset="-120"/>
              </a:rPr>
              <a:t>Both apps are complete and running against the live database. What remains is a pilot on one project, then a staged rollout across the rest.</a:t>
            </a:r>
            <a:endParaRPr lang="en-US" sz="1400" dirty="0"/>
          </a:p>
        </p:txBody>
      </p:sp>
      <p:sp>
        <p:nvSpPr>
          <p:cNvPr id="6" name="Text 4"/>
          <p:cNvSpPr txBox="1"/>
          <p:nvPr/>
        </p:nvSpPr>
        <p:spPr>
          <a:xfrm>
            <a:off x="45720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4,000</a:t>
            </a:r>
            <a:endParaRPr lang="en-US" sz="3200" dirty="0"/>
          </a:p>
        </p:txBody>
      </p:sp>
      <p:sp>
        <p:nvSpPr>
          <p:cNvPr id="7" name="Text 5"/>
          <p:cNvSpPr txBox="1"/>
          <p:nvPr/>
        </p:nvSpPr>
        <p:spPr>
          <a:xfrm>
            <a:off x="45720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workers supported</a:t>
            </a:r>
            <a:endParaRPr lang="en-US" sz="1100" dirty="0"/>
          </a:p>
        </p:txBody>
      </p:sp>
      <p:sp>
        <p:nvSpPr>
          <p:cNvPr id="8" name="Text 6"/>
          <p:cNvSpPr txBox="1"/>
          <p:nvPr/>
        </p:nvSpPr>
        <p:spPr>
          <a:xfrm>
            <a:off x="324612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6</a:t>
            </a:r>
            <a:endParaRPr lang="en-US" sz="3200" dirty="0"/>
          </a:p>
        </p:txBody>
      </p:sp>
      <p:sp>
        <p:nvSpPr>
          <p:cNvPr id="9" name="Text 7"/>
          <p:cNvSpPr txBox="1"/>
          <p:nvPr/>
        </p:nvSpPr>
        <p:spPr>
          <a:xfrm>
            <a:off x="324612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roles</a:t>
            </a:r>
            <a:endParaRPr lang="en-US" sz="1100" dirty="0"/>
          </a:p>
        </p:txBody>
      </p:sp>
      <p:sp>
        <p:nvSpPr>
          <p:cNvPr id="10" name="Text 8"/>
          <p:cNvSpPr txBox="1"/>
          <p:nvPr/>
        </p:nvSpPr>
        <p:spPr>
          <a:xfrm>
            <a:off x="603504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44</a:t>
            </a:r>
            <a:endParaRPr lang="en-US" sz="3200" dirty="0"/>
          </a:p>
        </p:txBody>
      </p:sp>
      <p:sp>
        <p:nvSpPr>
          <p:cNvPr id="11" name="Text 9"/>
          <p:cNvSpPr txBox="1"/>
          <p:nvPr/>
        </p:nvSpPr>
        <p:spPr>
          <a:xfrm>
            <a:off x="603504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security tests passing</a:t>
            </a:r>
            <a:endParaRPr lang="en-US" sz="1100" dirty="0"/>
          </a:p>
        </p:txBody>
      </p:sp>
      <p:sp>
        <p:nvSpPr>
          <p:cNvPr id="12" name="Text 10"/>
          <p:cNvSpPr txBox="1"/>
          <p:nvPr/>
        </p:nvSpPr>
        <p:spPr>
          <a:xfrm>
            <a:off x="457200" y="4434840"/>
            <a:ext cx="8229600" cy="310896"/>
          </a:xfrm>
          <a:prstGeom prst="rect">
            <a:avLst/>
          </a:prstGeom>
          <a:noFill/>
          <a:ln/>
        </p:spPr>
        <p:txBody>
          <a:bodyPr wrap="square" lIns="0" tIns="0" rIns="0" bIns="0" rtlCol="0" anchor="ctr"/>
          <a:lstStyle/>
          <a:p>
            <a:pPr indent="0" marL="0">
              <a:buNone/>
            </a:pPr>
            <a:r>
              <a:rPr lang="en-US" sz="1100" dirty="0">
                <a:solidFill>
                  <a:srgbClr val="6B84AB"/>
                </a:solidFill>
                <a:latin typeface="Calibri" pitchFamily="34" charset="0"/>
                <a:ea typeface="Calibri" pitchFamily="34" charset="-122"/>
                <a:cs typeface="Calibri" pitchFamily="34" charset="-120"/>
              </a:rPr>
              <a:t>SitePulse  ·  KTC International Contracting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KTC International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SitePulse — Workforce Attendance &amp; Manpower Control</dc:title>
  <dc:subject>PptxGenJS Presentation</dc:subject>
  <dc:creator>SitePulse</dc:creator>
  <cp:lastModifiedBy>SitePulse</cp:lastModifiedBy>
  <cp:revision>1</cp:revision>
  <dcterms:created xsi:type="dcterms:W3CDTF">2026-09-10T13:14:20Z</dcterms:created>
  <dcterms:modified xsi:type="dcterms:W3CDTF">2026-09-10T13:14:20Z</dcterms:modified>
</cp:coreProperties>
</file>