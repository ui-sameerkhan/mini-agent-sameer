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B6B63"/>
                </a:solidFill>
                <a:latin typeface="Calibri"/>
              </a:defRPr>
            </a:pPr>
            <a:r>
              <a:rPr sz="1200" b="0" i="0" u="none" strike="noStrike">
                <a:solidFill>
                  <a:srgbClr val="5B6B63"/>
                </a:solidFill>
                <a:latin typeface="Calibri"/>
              </a:rPr>
              <a:t>Excel report generation (seconds)</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0B66D6"/>
            </a:solidFill>
            <a:effectLst/>
          </c:spPr>
          <c:invertIfNegative val="0"/>
          <c:dLbls>
            <c:numFmt formatCode="#,##0" sourceLinked="0"/>
            <c:txPr>
              <a:bodyPr/>
              <a:lstStyle/>
              <a:p>
                <a:pPr>
                  <a:defRPr b="0" i="0" strike="noStrike" sz="1100" u="none">
                    <a:solidFill>
                      <a:srgbClr val="141F1A"/>
                    </a:solidFill>
                    <a:latin typeface="Calibri"/>
                  </a:defRPr>
                </a:pPr>
              </a:p>
            </c:txPr>
            <c:showLegendKey val="0"/>
            <c:showVal val="1"/>
            <c:showCatName val="0"/>
            <c:showSerName val="0"/>
            <c:showPercent val="0"/>
            <c:showBubbleSize val="0"/>
            <c:showLeaderLines val="0"/>
          </c:dLbls>
          <c:dPt>
            <c:idx val="0"/>
            <c:invertIfNegative val="0"/>
            <c:bubble3D val="0"/>
            <c:spPr>
              <a:solidFill>
                <a:srgbClr val="0B66D6"/>
              </a:solidFill>
              <a:effectLst/>
            </c:spPr>
          </c:dPt>
          <c:dPt>
            <c:idx val="1"/>
            <c:invertIfNegative val="0"/>
            <c:bubble3D val="0"/>
            <c:spPr>
              <a:solidFill>
                <a:srgbClr val="00113D"/>
              </a:solidFill>
              <a:effectLst/>
            </c:spPr>
          </c:dPt>
          <c:cat>
            <c:multiLvlStrRef>
              <c:f>Sheet1!$A$2:$A$3</c:f>
              <c:multiLvlStrCache>
                <c:ptCount val="2"/>
                <c:lvl>
                  <c:pt idx="0">
                    <c:v>Whole company,
one day
4,000 rows</c:v>
                  </c:pt>
                  <c:pt idx="1">
                    <c:v>One project,
full month
10,400 rows</c:v>
                  </c:pt>
                </c:lvl>
              </c:multiLvlStrCache>
            </c:multiLvlStrRef>
          </c:cat>
          <c:val>
            <c:numRef>
              <c:f>Sheet1!$B$2:$B$3</c:f>
              <c:numCache>
                <c:formatCode>General</c:formatCode>
                <c:ptCount val="2"/>
                <c:pt idx="0">
                  <c:v>1.9</c:v>
                </c:pt>
                <c:pt idx="1">
                  <c:v>8.6</c:v>
                </c:pt>
              </c:numCache>
            </c:numRef>
          </c:val>
        </c:ser>
        <c:dLbls>
          <c:numFmt formatCode="#,##0" sourceLinked="0"/>
          <c:txPr>
            <a:bodyPr/>
            <a:lstStyle/>
            <a:p>
              <a:pPr>
                <a:defRPr b="0" i="0" strike="noStrike" sz="1100" u="none">
                  <a:solidFill>
                    <a:srgbClr val="141F1A"/>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63"/>
                </a:solidFill>
                <a:latin typeface="Calibri"/>
              </a:defRPr>
            </a:pPr>
            <a:endParaRPr lang="en-US"/>
          </a:p>
        </c:txPr>
        <c:crossAx val="2094734552"/>
        <c:crosses val="autoZero"/>
        <c:auto val="1"/>
        <c:lblAlgn val="ctr"/>
        <c:noMultiLvlLbl val="1"/>
      </c:catAx>
      <c:valAx>
        <c:axId val="2094734552"/>
        <c:scaling>
          <c:orientation val="minMax"/>
          <c:max val="12"/>
        </c:scaling>
        <c:delete val="0"/>
        <c:axPos val="l"/>
        <c:majorGridlines>
          <c:spPr>
            <a:ln w="9525" cap="flat">
              <a:solidFill>
                <a:srgbClr val="DEE6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6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SitePulse is a workforce attendance system built for KTC. Two apps — Android for site, web for office — sharing one live database. This deck covers what it does, what it proves, and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problems HR and site management raised. Every feature that follows exists to close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is a prototype. Both apps are built, tested and running against the live Firebase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refusal is the point. A blocked attempt is written to its own record, so nothing is silently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first question HR always asks: how do we know the man was on site? The answer is that the phone had to be inside the fence before the record could be written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 assignment is the second half of the permission. A timekeeper on Project A cannot open Project B's attendance at all.
There used to be a sixth role, Foreman, carrying permissions identical to Supervisor. It was merged in, since at KTC it is the same job. Logins created as Foreman before the merge keep working unchanged and now read as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last operational gap. Attendance was never blocked for a transferred worker, but the roster stayed wrong, so the headcount reports were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Absent Report is the one HR cares about most: approved leave and public holidays are already excluded, so an absence in that sheet is a real absence.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 and project scope at the top of the dashboard drives everything below it, including the worker locator.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44 tests are the strongest thing in this deck. They are not claims — they run, and they fail loudly if a permission drifts.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4,000 is the figure HR gave. The daily company-wide report — the one run every day — finishes in under two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only one slide is remembered, this is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the cost line: it is a projection. The point is the shape — no licence, no per-user fee, cost follows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pilot project and a date. A single site for two weeks proves it in front of real payroll.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13D"/>
        </a:solidFill>
      </p:bgPr>
    </p:bg>
    <p:spTree>
      <p:nvGrpSpPr>
        <p:cNvPr id="1" name=""/>
        <p:cNvGrpSpPr/>
        <p:nvPr/>
      </p:nvGrpSpPr>
      <p:grpSpPr>
        <a:xfrm>
          <a:off x="0" y="0"/>
          <a:ext cx="0" cy="0"/>
          <a:chOff x="0" y="0"/>
          <a:chExt cx="0" cy="0"/>
        </a:xfrm>
      </p:grpSpPr>
      <p:sp>
        <p:nvSpPr>
          <p:cNvPr id="2" name="Shape 0"/>
          <p:cNvSpPr/>
          <p:nvPr/>
        </p:nvSpPr>
        <p:spPr>
          <a:xfrm>
            <a:off x="7223760" y="-1371600"/>
            <a:ext cx="3840480" cy="3840480"/>
          </a:xfrm>
          <a:prstGeom prst="ellipse">
            <a:avLst/>
          </a:prstGeom>
          <a:solidFill>
            <a:srgbClr val="0A2050"/>
          </a:solidFill>
          <a:ln w="12700">
            <a:solidFill>
              <a:srgbClr val="0A2050"/>
            </a:solidFill>
            <a:prstDash val="solid"/>
          </a:ln>
        </p:spPr>
      </p:sp>
      <p:sp>
        <p:nvSpPr>
          <p:cNvPr id="3" name="Shape 1"/>
          <p:cNvSpPr/>
          <p:nvPr/>
        </p:nvSpPr>
        <p:spPr>
          <a:xfrm>
            <a:off x="8138160" y="3108960"/>
            <a:ext cx="2377440" cy="2377440"/>
          </a:xfrm>
          <a:prstGeom prst="ellipse">
            <a:avLst/>
          </a:prstGeom>
          <a:solidFill>
            <a:srgbClr val="0A2050"/>
          </a:solidFill>
          <a:ln w="12700">
            <a:solidFill>
              <a:srgbClr val="0A2050"/>
            </a:solidFill>
            <a:prstDash val="solid"/>
          </a:ln>
        </p:spPr>
      </p:sp>
      <p:sp>
        <p:nvSpPr>
          <p:cNvPr id="4" name="Text 2"/>
          <p:cNvSpPr txBox="1"/>
          <p:nvPr/>
        </p:nvSpPr>
        <p:spPr>
          <a:xfrm>
            <a:off x="457200" y="1417320"/>
            <a:ext cx="6583680" cy="9601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SitePulse</a:t>
            </a:r>
            <a:endParaRPr lang="en-US" sz="6000" dirty="0"/>
          </a:p>
        </p:txBody>
      </p:sp>
      <p:sp>
        <p:nvSpPr>
          <p:cNvPr id="5" name="Text 3"/>
          <p:cNvSpPr txBox="1"/>
          <p:nvPr/>
        </p:nvSpPr>
        <p:spPr>
          <a:xfrm>
            <a:off x="457200" y="2395728"/>
            <a:ext cx="6583680" cy="411480"/>
          </a:xfrm>
          <a:prstGeom prst="rect">
            <a:avLst/>
          </a:prstGeom>
          <a:noFill/>
          <a:ln/>
        </p:spPr>
        <p:txBody>
          <a:bodyPr wrap="square" lIns="0" tIns="0" rIns="0" bIns="0" rtlCol="0" anchor="ctr"/>
          <a:lstStyle/>
          <a:p>
            <a:pPr indent="0" marL="0">
              <a:buNone/>
            </a:pPr>
            <a:r>
              <a:rPr lang="en-US" sz="1900" dirty="0">
                <a:solidFill>
                  <a:srgbClr val="F9CB14"/>
                </a:solidFill>
                <a:latin typeface="Calibri" pitchFamily="34" charset="0"/>
                <a:ea typeface="Calibri" pitchFamily="34" charset="-122"/>
                <a:cs typeface="Calibri" pitchFamily="34" charset="-120"/>
              </a:rPr>
              <a:t>Workforce Attendance &amp; Manpower Control</a:t>
            </a:r>
            <a:endParaRPr lang="en-US" sz="1900" dirty="0"/>
          </a:p>
        </p:txBody>
      </p:sp>
      <p:sp>
        <p:nvSpPr>
          <p:cNvPr id="6" name="Text 4"/>
          <p:cNvSpPr txBox="1"/>
          <p:nvPr/>
        </p:nvSpPr>
        <p:spPr>
          <a:xfrm>
            <a:off x="457200" y="2907792"/>
            <a:ext cx="6309360" cy="640080"/>
          </a:xfrm>
          <a:prstGeom prst="rect">
            <a:avLst/>
          </a:prstGeom>
          <a:noFill/>
          <a:ln/>
        </p:spPr>
        <p:txBody>
          <a:bodyPr wrap="square" lIns="0" tIns="0" rIns="0" bIns="0" rtlCol="0" anchor="ctr"/>
          <a:lstStyle/>
          <a:p>
            <a:pPr indent="0" marL="0">
              <a:lnSpc>
                <a:spcPct val="115000"/>
              </a:lnSpc>
              <a:buNone/>
            </a:pPr>
            <a:r>
              <a:rPr lang="en-US" sz="1300" dirty="0">
                <a:solidFill>
                  <a:srgbClr val="CADCFC"/>
                </a:solidFill>
                <a:latin typeface="Calibri" pitchFamily="34" charset="0"/>
                <a:ea typeface="Calibri" pitchFamily="34" charset="-122"/>
                <a:cs typeface="Calibri" pitchFamily="34" charset="-120"/>
              </a:rPr>
              <a:t>GPS-verified attendance for every worker, on every project — captured at the gate and in head office at the same moment.</a:t>
            </a:r>
            <a:endParaRPr lang="en-US" sz="1300" dirty="0"/>
          </a:p>
        </p:txBody>
      </p:sp>
      <p:sp>
        <p:nvSpPr>
          <p:cNvPr id="7" name="Shape 5"/>
          <p:cNvSpPr/>
          <p:nvPr/>
        </p:nvSpPr>
        <p:spPr>
          <a:xfrm>
            <a:off x="457200" y="4069080"/>
            <a:ext cx="384048" cy="384048"/>
          </a:xfrm>
          <a:prstGeom prst="ellipse">
            <a:avLst/>
          </a:prstGeom>
          <a:solidFill>
            <a:srgbClr val="F9CB14"/>
          </a:solidFill>
          <a:ln w="12700">
            <a:solidFill>
              <a:srgbClr val="F9CB14"/>
            </a:solidFill>
            <a:prstDash val="solid"/>
          </a:ln>
        </p:spPr>
      </p:sp>
      <p:sp>
        <p:nvSpPr>
          <p:cNvPr id="8" name="Text 6"/>
          <p:cNvSpPr txBox="1"/>
          <p:nvPr/>
        </p:nvSpPr>
        <p:spPr>
          <a:xfrm>
            <a:off x="457200" y="4069080"/>
            <a:ext cx="384048" cy="384048"/>
          </a:xfrm>
          <a:prstGeom prst="rect">
            <a:avLst/>
          </a:prstGeom>
          <a:noFill/>
          <a:ln/>
        </p:spPr>
        <p:txBody>
          <a:bodyPr wrap="square" lIns="0" tIns="0" rIns="0" bIns="0" rtlCol="0" anchor="ctr"/>
          <a:lstStyle/>
          <a:p>
            <a:pPr algn="ctr" indent="0" marL="0">
              <a:buNone/>
            </a:pPr>
            <a:r>
              <a:rPr lang="en-US" sz="1200" b="1" dirty="0">
                <a:solidFill>
                  <a:srgbClr val="00113D"/>
                </a:solidFill>
                <a:latin typeface="Calibri" pitchFamily="34" charset="0"/>
                <a:ea typeface="Calibri" pitchFamily="34" charset="-122"/>
                <a:cs typeface="Calibri" pitchFamily="34" charset="-120"/>
              </a:rPr>
              <a:t>K</a:t>
            </a:r>
            <a:endParaRPr lang="en-US" sz="1200" dirty="0"/>
          </a:p>
        </p:txBody>
      </p:sp>
      <p:sp>
        <p:nvSpPr>
          <p:cNvPr id="9" name="Text 7"/>
          <p:cNvSpPr txBox="1"/>
          <p:nvPr/>
        </p:nvSpPr>
        <p:spPr>
          <a:xfrm>
            <a:off x="932688" y="4069080"/>
            <a:ext cx="4114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KTC International Contracting</a:t>
            </a:r>
            <a:endParaRPr lang="en-US" sz="1300" dirty="0"/>
          </a:p>
        </p:txBody>
      </p:sp>
      <p:sp>
        <p:nvSpPr>
          <p:cNvPr id="10" name="Text 8"/>
          <p:cNvSpPr txBox="1"/>
          <p:nvPr/>
        </p:nvSpPr>
        <p:spPr>
          <a:xfrm>
            <a:off x="5120640" y="4069080"/>
            <a:ext cx="3566160" cy="384048"/>
          </a:xfrm>
          <a:prstGeom prst="rect">
            <a:avLst/>
          </a:prstGeom>
          <a:noFill/>
          <a:ln/>
        </p:spPr>
        <p:txBody>
          <a:bodyPr wrap="square" lIns="0" tIns="0" rIns="0" bIns="0" rtlCol="0" anchor="ctr"/>
          <a:lstStyle/>
          <a:p>
            <a:pPr algn="r" indent="0" marL="0">
              <a:buNone/>
            </a:pPr>
            <a:r>
              <a:rPr lang="en-US" sz="1200" dirty="0">
                <a:solidFill>
                  <a:srgbClr val="8FA8CC"/>
                </a:solidFill>
                <a:latin typeface="Calibri" pitchFamily="34" charset="0"/>
                <a:ea typeface="Calibri" pitchFamily="34" charset="-122"/>
                <a:cs typeface="Calibri" pitchFamily="34" charset="-120"/>
              </a:rPr>
              <a:t>Prepared for Human Resources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00113D"/>
                </a:solidFill>
                <a:latin typeface="Cambria" pitchFamily="34" charset="0"/>
                <a:ea typeface="Cambria" pitchFamily="34" charset="-122"/>
                <a:cs typeface="Cambria" pitchFamily="34" charset="-120"/>
              </a:rPr>
              <a:t>Where attendance breaks down today</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The four failures SitePulse was built to remove</a:t>
            </a:r>
            <a:endParaRPr lang="en-US" sz="1300" dirty="0"/>
          </a:p>
        </p:txBody>
      </p:sp>
      <p:sp>
        <p:nvSpPr>
          <p:cNvPr id="4" name="Shape 2"/>
          <p:cNvSpPr/>
          <p:nvPr/>
        </p:nvSpPr>
        <p:spPr>
          <a:xfrm>
            <a:off x="457200" y="1371600"/>
            <a:ext cx="3977640" cy="1481328"/>
          </a:xfrm>
          <a:prstGeom prst="roundRect">
            <a:avLst>
              <a:gd name="adj" fmla="val 5556"/>
            </a:avLst>
          </a:prstGeom>
          <a:solidFill>
            <a:srgbClr val="F5F7F5"/>
          </a:solidFill>
          <a:ln w="9525">
            <a:solidFill>
              <a:srgbClr val="DEE6E1"/>
            </a:solidFill>
            <a:prstDash val="solid"/>
          </a:ln>
        </p:spPr>
      </p:sp>
      <p:sp>
        <p:nvSpPr>
          <p:cNvPr id="5" name="Shape 3"/>
          <p:cNvSpPr/>
          <p:nvPr/>
        </p:nvSpPr>
        <p:spPr>
          <a:xfrm>
            <a:off x="658368" y="1591056"/>
            <a:ext cx="402336" cy="402336"/>
          </a:xfrm>
          <a:prstGeom prst="ellipse">
            <a:avLst/>
          </a:prstGeom>
          <a:solidFill>
            <a:srgbClr val="0B66D6"/>
          </a:solidFill>
          <a:ln w="12700">
            <a:solidFill>
              <a:srgbClr val="0B66D6"/>
            </a:solidFill>
            <a:prstDash val="solid"/>
          </a:ln>
        </p:spPr>
      </p:sp>
      <p:sp>
        <p:nvSpPr>
          <p:cNvPr id="6" name="Text 4"/>
          <p:cNvSpPr txBox="1"/>
          <p:nvPr/>
        </p:nvSpPr>
        <p:spPr>
          <a:xfrm>
            <a:off x="658368" y="159105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188720" y="1609344"/>
            <a:ext cx="3063240" cy="292608"/>
          </a:xfrm>
          <a:prstGeom prst="rect">
            <a:avLst/>
          </a:prstGeom>
          <a:noFill/>
          <a:ln/>
        </p:spPr>
        <p:txBody>
          <a:bodyPr wrap="square" lIns="0" tIns="0" rIns="0" bIns="0" rtlCol="0" anchor="t"/>
          <a:lstStyle/>
          <a:p>
            <a:pPr algn="l" indent="0" marL="0">
              <a:lnSpc>
                <a:spcPct val="110000"/>
              </a:lnSpc>
              <a:buNone/>
            </a:pPr>
            <a:r>
              <a:rPr lang="en-US" sz="1400" b="1" dirty="0">
                <a:solidFill>
                  <a:srgbClr val="141F1A"/>
                </a:solidFill>
                <a:latin typeface="Calibri" pitchFamily="34" charset="0"/>
                <a:ea typeface="Calibri" pitchFamily="34" charset="-122"/>
                <a:cs typeface="Calibri" pitchFamily="34" charset="-120"/>
              </a:rPr>
              <a:t>Paper and Excel</a:t>
            </a:r>
            <a:endParaRPr lang="en-US" sz="1400" dirty="0"/>
          </a:p>
        </p:txBody>
      </p:sp>
      <p:sp>
        <p:nvSpPr>
          <p:cNvPr id="8" name="Text 6"/>
          <p:cNvSpPr txBox="1"/>
          <p:nvPr/>
        </p:nvSpPr>
        <p:spPr>
          <a:xfrm>
            <a:off x="1188720" y="1938528"/>
            <a:ext cx="3063240" cy="82296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A day's attendance is collected on paper, typed up later, and consolidated by hand. Mistakes only surface at payroll.</a:t>
            </a:r>
            <a:endParaRPr lang="en-US" sz="1100" dirty="0"/>
          </a:p>
        </p:txBody>
      </p:sp>
      <p:sp>
        <p:nvSpPr>
          <p:cNvPr id="9" name="Shape 7"/>
          <p:cNvSpPr/>
          <p:nvPr/>
        </p:nvSpPr>
        <p:spPr>
          <a:xfrm>
            <a:off x="4709160" y="1371600"/>
            <a:ext cx="3977640" cy="1481328"/>
          </a:xfrm>
          <a:prstGeom prst="roundRect">
            <a:avLst>
              <a:gd name="adj" fmla="val 5556"/>
            </a:avLst>
          </a:prstGeom>
          <a:solidFill>
            <a:srgbClr val="F5F7F5"/>
          </a:solidFill>
          <a:ln w="9525">
            <a:solidFill>
              <a:srgbClr val="DEE6E1"/>
            </a:solidFill>
            <a:prstDash val="solid"/>
          </a:ln>
        </p:spPr>
      </p:sp>
      <p:sp>
        <p:nvSpPr>
          <p:cNvPr id="10" name="Shape 8"/>
          <p:cNvSpPr/>
          <p:nvPr/>
        </p:nvSpPr>
        <p:spPr>
          <a:xfrm>
            <a:off x="4910328" y="1591056"/>
            <a:ext cx="402336" cy="402336"/>
          </a:xfrm>
          <a:prstGeom prst="ellipse">
            <a:avLst/>
          </a:prstGeom>
          <a:solidFill>
            <a:srgbClr val="00113D"/>
          </a:solidFill>
          <a:ln w="12700">
            <a:solidFill>
              <a:srgbClr val="00113D"/>
            </a:solidFill>
            <a:prstDash val="solid"/>
          </a:ln>
        </p:spPr>
      </p:sp>
      <p:sp>
        <p:nvSpPr>
          <p:cNvPr id="11" name="Text 9"/>
          <p:cNvSpPr txBox="1"/>
          <p:nvPr/>
        </p:nvSpPr>
        <p:spPr>
          <a:xfrm>
            <a:off x="4910328" y="159105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5440680" y="1609344"/>
            <a:ext cx="3063240" cy="292608"/>
          </a:xfrm>
          <a:prstGeom prst="rect">
            <a:avLst/>
          </a:prstGeom>
          <a:noFill/>
          <a:ln/>
        </p:spPr>
        <p:txBody>
          <a:bodyPr wrap="square" lIns="0" tIns="0" rIns="0" bIns="0" rtlCol="0" anchor="t"/>
          <a:lstStyle/>
          <a:p>
            <a:pPr algn="l" indent="0" marL="0">
              <a:lnSpc>
                <a:spcPct val="110000"/>
              </a:lnSpc>
              <a:buNone/>
            </a:pPr>
            <a:r>
              <a:rPr lang="en-US" sz="1400" b="1" dirty="0">
                <a:solidFill>
                  <a:srgbClr val="141F1A"/>
                </a:solidFill>
                <a:latin typeface="Calibri" pitchFamily="34" charset="0"/>
                <a:ea typeface="Calibri" pitchFamily="34" charset="-122"/>
                <a:cs typeface="Calibri" pitchFamily="34" charset="-120"/>
              </a:rPr>
              <a:t>No proof of presence</a:t>
            </a:r>
            <a:endParaRPr lang="en-US" sz="1400" dirty="0"/>
          </a:p>
        </p:txBody>
      </p:sp>
      <p:sp>
        <p:nvSpPr>
          <p:cNvPr id="13" name="Text 11"/>
          <p:cNvSpPr txBox="1"/>
          <p:nvPr/>
        </p:nvSpPr>
        <p:spPr>
          <a:xfrm>
            <a:off x="5440680" y="1938528"/>
            <a:ext cx="3063240" cy="82296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A name written on a sheet does not prove the man was on the project. There is nothing to check the claim against.</a:t>
            </a:r>
            <a:endParaRPr lang="en-US" sz="1100" dirty="0"/>
          </a:p>
        </p:txBody>
      </p:sp>
      <p:sp>
        <p:nvSpPr>
          <p:cNvPr id="14" name="Shape 12"/>
          <p:cNvSpPr/>
          <p:nvPr/>
        </p:nvSpPr>
        <p:spPr>
          <a:xfrm>
            <a:off x="457200" y="3072384"/>
            <a:ext cx="3977640" cy="1481328"/>
          </a:xfrm>
          <a:prstGeom prst="roundRect">
            <a:avLst>
              <a:gd name="adj" fmla="val 5556"/>
            </a:avLst>
          </a:prstGeom>
          <a:solidFill>
            <a:srgbClr val="F5F7F5"/>
          </a:solidFill>
          <a:ln w="9525">
            <a:solidFill>
              <a:srgbClr val="DEE6E1"/>
            </a:solidFill>
            <a:prstDash val="solid"/>
          </a:ln>
        </p:spPr>
      </p:sp>
      <p:sp>
        <p:nvSpPr>
          <p:cNvPr id="15" name="Shape 13"/>
          <p:cNvSpPr/>
          <p:nvPr/>
        </p:nvSpPr>
        <p:spPr>
          <a:xfrm>
            <a:off x="658368" y="3291840"/>
            <a:ext cx="402336" cy="402336"/>
          </a:xfrm>
          <a:prstGeom prst="ellipse">
            <a:avLst/>
          </a:prstGeom>
          <a:solidFill>
            <a:srgbClr val="0B66D6"/>
          </a:solidFill>
          <a:ln w="12700">
            <a:solidFill>
              <a:srgbClr val="0B66D6"/>
            </a:solidFill>
            <a:prstDash val="solid"/>
          </a:ln>
        </p:spPr>
      </p:sp>
      <p:sp>
        <p:nvSpPr>
          <p:cNvPr id="16" name="Text 14"/>
          <p:cNvSpPr txBox="1"/>
          <p:nvPr/>
        </p:nvSpPr>
        <p:spPr>
          <a:xfrm>
            <a:off x="658368" y="329184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188720" y="3310128"/>
            <a:ext cx="3063240" cy="292608"/>
          </a:xfrm>
          <a:prstGeom prst="rect">
            <a:avLst/>
          </a:prstGeom>
          <a:noFill/>
          <a:ln/>
        </p:spPr>
        <p:txBody>
          <a:bodyPr wrap="square" lIns="0" tIns="0" rIns="0" bIns="0" rtlCol="0" anchor="t"/>
          <a:lstStyle/>
          <a:p>
            <a:pPr algn="l" indent="0" marL="0">
              <a:lnSpc>
                <a:spcPct val="110000"/>
              </a:lnSpc>
              <a:buNone/>
            </a:pPr>
            <a:r>
              <a:rPr lang="en-US" sz="1400" b="1" dirty="0">
                <a:solidFill>
                  <a:srgbClr val="141F1A"/>
                </a:solidFill>
                <a:latin typeface="Calibri" pitchFamily="34" charset="0"/>
                <a:ea typeface="Calibri" pitchFamily="34" charset="-122"/>
                <a:cs typeface="Calibri" pitchFamily="34" charset="-120"/>
              </a:rPr>
              <a:t>Transfers go stale</a:t>
            </a:r>
            <a:endParaRPr lang="en-US" sz="1400" dirty="0"/>
          </a:p>
        </p:txBody>
      </p:sp>
      <p:sp>
        <p:nvSpPr>
          <p:cNvPr id="18" name="Text 16"/>
          <p:cNvSpPr txBox="1"/>
          <p:nvPr/>
        </p:nvSpPr>
        <p:spPr>
          <a:xfrm>
            <a:off x="1188720" y="3639312"/>
            <a:ext cx="3063240" cy="82296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A worker moves from Project A to Project B and keeps counting against the site he left, until head office reassigns him by hand.</a:t>
            </a:r>
            <a:endParaRPr lang="en-US" sz="1100" dirty="0"/>
          </a:p>
        </p:txBody>
      </p:sp>
      <p:sp>
        <p:nvSpPr>
          <p:cNvPr id="19" name="Shape 17"/>
          <p:cNvSpPr/>
          <p:nvPr/>
        </p:nvSpPr>
        <p:spPr>
          <a:xfrm>
            <a:off x="4709160" y="3072384"/>
            <a:ext cx="3977640" cy="1481328"/>
          </a:xfrm>
          <a:prstGeom prst="roundRect">
            <a:avLst>
              <a:gd name="adj" fmla="val 5556"/>
            </a:avLst>
          </a:prstGeom>
          <a:solidFill>
            <a:srgbClr val="F5F7F5"/>
          </a:solidFill>
          <a:ln w="9525">
            <a:solidFill>
              <a:srgbClr val="DEE6E1"/>
            </a:solidFill>
            <a:prstDash val="solid"/>
          </a:ln>
        </p:spPr>
      </p:sp>
      <p:sp>
        <p:nvSpPr>
          <p:cNvPr id="20" name="Shape 18"/>
          <p:cNvSpPr/>
          <p:nvPr/>
        </p:nvSpPr>
        <p:spPr>
          <a:xfrm>
            <a:off x="4910328" y="3291840"/>
            <a:ext cx="402336" cy="402336"/>
          </a:xfrm>
          <a:prstGeom prst="ellipse">
            <a:avLst/>
          </a:prstGeom>
          <a:solidFill>
            <a:srgbClr val="00113D"/>
          </a:solidFill>
          <a:ln w="12700">
            <a:solidFill>
              <a:srgbClr val="00113D"/>
            </a:solidFill>
            <a:prstDash val="solid"/>
          </a:ln>
        </p:spPr>
      </p:sp>
      <p:sp>
        <p:nvSpPr>
          <p:cNvPr id="21" name="Text 19"/>
          <p:cNvSpPr txBox="1"/>
          <p:nvPr/>
        </p:nvSpPr>
        <p:spPr>
          <a:xfrm>
            <a:off x="4910328" y="329184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5440680" y="3310128"/>
            <a:ext cx="3063240" cy="292608"/>
          </a:xfrm>
          <a:prstGeom prst="rect">
            <a:avLst/>
          </a:prstGeom>
          <a:noFill/>
          <a:ln/>
        </p:spPr>
        <p:txBody>
          <a:bodyPr wrap="square" lIns="0" tIns="0" rIns="0" bIns="0" rtlCol="0" anchor="t"/>
          <a:lstStyle/>
          <a:p>
            <a:pPr algn="l" indent="0" marL="0">
              <a:lnSpc>
                <a:spcPct val="110000"/>
              </a:lnSpc>
              <a:buNone/>
            </a:pPr>
            <a:r>
              <a:rPr lang="en-US" sz="1400" b="1" dirty="0">
                <a:solidFill>
                  <a:srgbClr val="141F1A"/>
                </a:solidFill>
                <a:latin typeface="Calibri" pitchFamily="34" charset="0"/>
                <a:ea typeface="Calibri" pitchFamily="34" charset="-122"/>
                <a:cs typeface="Calibri" pitchFamily="34" charset="-120"/>
              </a:rPr>
              <a:t>Month-end scramble</a:t>
            </a:r>
            <a:endParaRPr lang="en-US" sz="1400" dirty="0"/>
          </a:p>
        </p:txBody>
      </p:sp>
      <p:sp>
        <p:nvSpPr>
          <p:cNvPr id="23" name="Text 21"/>
          <p:cNvSpPr txBox="1"/>
          <p:nvPr/>
        </p:nvSpPr>
        <p:spPr>
          <a:xfrm>
            <a:off x="5440680" y="3639312"/>
            <a:ext cx="3063240" cy="82296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Trade-wise manpower, absentee lists and hours are rebuilt from scratch every month, under time pressure.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00113D"/>
                </a:solidFill>
                <a:latin typeface="Cambria" pitchFamily="34" charset="0"/>
                <a:ea typeface="Cambria" pitchFamily="34" charset="-122"/>
                <a:cs typeface="Cambria" pitchFamily="34" charset="-120"/>
              </a:rPr>
              <a:t>One system, two apps, one live database</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The same data, whether you are standing at the gate or sitting in head office</a:t>
            </a:r>
            <a:endParaRPr lang="en-US" sz="1300" dirty="0"/>
          </a:p>
        </p:txBody>
      </p:sp>
      <p:sp>
        <p:nvSpPr>
          <p:cNvPr id="4" name="Shape 2"/>
          <p:cNvSpPr/>
          <p:nvPr/>
        </p:nvSpPr>
        <p:spPr>
          <a:xfrm>
            <a:off x="457200" y="1371600"/>
            <a:ext cx="3977640" cy="1325880"/>
          </a:xfrm>
          <a:prstGeom prst="roundRect">
            <a:avLst>
              <a:gd name="adj" fmla="val 6207"/>
            </a:avLst>
          </a:prstGeom>
          <a:solidFill>
            <a:srgbClr val="E8F1FC"/>
          </a:solidFill>
          <a:ln w="9525">
            <a:solidFill>
              <a:srgbClr val="DEE6E1"/>
            </a:solidFill>
            <a:prstDash val="solid"/>
          </a:ln>
        </p:spPr>
      </p:sp>
      <p:sp>
        <p:nvSpPr>
          <p:cNvPr id="5" name="Shape 3"/>
          <p:cNvSpPr/>
          <p:nvPr/>
        </p:nvSpPr>
        <p:spPr>
          <a:xfrm>
            <a:off x="676656" y="1572768"/>
            <a:ext cx="402336" cy="402336"/>
          </a:xfrm>
          <a:prstGeom prst="ellipse">
            <a:avLst/>
          </a:prstGeom>
          <a:solidFill>
            <a:srgbClr val="0B66D6"/>
          </a:solidFill>
          <a:ln w="12700">
            <a:solidFill>
              <a:srgbClr val="0B66D6"/>
            </a:solidFill>
            <a:prstDash val="solid"/>
          </a:ln>
        </p:spPr>
      </p:sp>
      <p:sp>
        <p:nvSpPr>
          <p:cNvPr id="6" name="Text 4"/>
          <p:cNvSpPr txBox="1"/>
          <p:nvPr/>
        </p:nvSpPr>
        <p:spPr>
          <a:xfrm>
            <a:off x="676656" y="157276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207008" y="1591056"/>
            <a:ext cx="3017520" cy="274320"/>
          </a:xfrm>
          <a:prstGeom prst="rect">
            <a:avLst/>
          </a:prstGeom>
          <a:noFill/>
          <a:ln/>
        </p:spPr>
        <p:txBody>
          <a:bodyPr wrap="square" lIns="0" tIns="0" rIns="0" bIns="0" rtlCol="0" anchor="t"/>
          <a:lstStyle/>
          <a:p>
            <a:pPr algn="l" indent="0" marL="0">
              <a:lnSpc>
                <a:spcPct val="110000"/>
              </a:lnSpc>
              <a:buNone/>
            </a:pPr>
            <a:r>
              <a:rPr lang="en-US" sz="1400" b="1" dirty="0">
                <a:solidFill>
                  <a:srgbClr val="141F1A"/>
                </a:solidFill>
                <a:latin typeface="Calibri" pitchFamily="34" charset="0"/>
                <a:ea typeface="Calibri" pitchFamily="34" charset="-122"/>
                <a:cs typeface="Calibri" pitchFamily="34" charset="-120"/>
              </a:rPr>
              <a:t>Android app — for site</a:t>
            </a:r>
            <a:endParaRPr lang="en-US" sz="1400" dirty="0"/>
          </a:p>
        </p:txBody>
      </p:sp>
      <p:sp>
        <p:nvSpPr>
          <p:cNvPr id="8" name="Text 6"/>
          <p:cNvSpPr txBox="1"/>
          <p:nvPr/>
        </p:nvSpPr>
        <p:spPr>
          <a:xfrm>
            <a:off x="1207008" y="1920240"/>
            <a:ext cx="3017520" cy="68580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Installed on the timekeeper's or foreman's phone. GPS, badge scanning, works on a normal site phone.</a:t>
            </a:r>
            <a:endParaRPr lang="en-US" sz="1100" dirty="0"/>
          </a:p>
        </p:txBody>
      </p:sp>
      <p:sp>
        <p:nvSpPr>
          <p:cNvPr id="9" name="Shape 7"/>
          <p:cNvSpPr/>
          <p:nvPr/>
        </p:nvSpPr>
        <p:spPr>
          <a:xfrm>
            <a:off x="4709160" y="1371600"/>
            <a:ext cx="3977640" cy="1325880"/>
          </a:xfrm>
          <a:prstGeom prst="roundRect">
            <a:avLst>
              <a:gd name="adj" fmla="val 6207"/>
            </a:avLst>
          </a:prstGeom>
          <a:solidFill>
            <a:srgbClr val="E8F1FC"/>
          </a:solidFill>
          <a:ln w="9525">
            <a:solidFill>
              <a:srgbClr val="DEE6E1"/>
            </a:solidFill>
            <a:prstDash val="solid"/>
          </a:ln>
        </p:spPr>
      </p:sp>
      <p:sp>
        <p:nvSpPr>
          <p:cNvPr id="10" name="Shape 8"/>
          <p:cNvSpPr/>
          <p:nvPr/>
        </p:nvSpPr>
        <p:spPr>
          <a:xfrm>
            <a:off x="4928616" y="1572768"/>
            <a:ext cx="402336" cy="402336"/>
          </a:xfrm>
          <a:prstGeom prst="ellipse">
            <a:avLst/>
          </a:prstGeom>
          <a:solidFill>
            <a:srgbClr val="00113D"/>
          </a:solidFill>
          <a:ln w="12700">
            <a:solidFill>
              <a:srgbClr val="00113D"/>
            </a:solidFill>
            <a:prstDash val="solid"/>
          </a:ln>
        </p:spPr>
      </p:sp>
      <p:sp>
        <p:nvSpPr>
          <p:cNvPr id="11" name="Text 9"/>
          <p:cNvSpPr txBox="1"/>
          <p:nvPr/>
        </p:nvSpPr>
        <p:spPr>
          <a:xfrm>
            <a:off x="4928616" y="157276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a:t>
            </a:r>
            <a:endParaRPr lang="en-US" sz="1200" dirty="0"/>
          </a:p>
        </p:txBody>
      </p:sp>
      <p:sp>
        <p:nvSpPr>
          <p:cNvPr id="12" name="Text 10"/>
          <p:cNvSpPr txBox="1"/>
          <p:nvPr/>
        </p:nvSpPr>
        <p:spPr>
          <a:xfrm>
            <a:off x="5458968" y="1591056"/>
            <a:ext cx="3017520" cy="274320"/>
          </a:xfrm>
          <a:prstGeom prst="rect">
            <a:avLst/>
          </a:prstGeom>
          <a:noFill/>
          <a:ln/>
        </p:spPr>
        <p:txBody>
          <a:bodyPr wrap="square" lIns="0" tIns="0" rIns="0" bIns="0" rtlCol="0" anchor="t"/>
          <a:lstStyle/>
          <a:p>
            <a:pPr algn="l" indent="0" marL="0">
              <a:lnSpc>
                <a:spcPct val="110000"/>
              </a:lnSpc>
              <a:buNone/>
            </a:pPr>
            <a:r>
              <a:rPr lang="en-US" sz="1400" b="1" dirty="0">
                <a:solidFill>
                  <a:srgbClr val="141F1A"/>
                </a:solidFill>
                <a:latin typeface="Calibri" pitchFamily="34" charset="0"/>
                <a:ea typeface="Calibri" pitchFamily="34" charset="-122"/>
                <a:cs typeface="Calibri" pitchFamily="34" charset="-120"/>
              </a:rPr>
              <a:t>Web app — for office</a:t>
            </a:r>
            <a:endParaRPr lang="en-US" sz="1400" dirty="0"/>
          </a:p>
        </p:txBody>
      </p:sp>
      <p:sp>
        <p:nvSpPr>
          <p:cNvPr id="13" name="Text 11"/>
          <p:cNvSpPr txBox="1"/>
          <p:nvPr/>
        </p:nvSpPr>
        <p:spPr>
          <a:xfrm>
            <a:off x="5458968" y="1920240"/>
            <a:ext cx="3017520" cy="68580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Opens in any browser, no install. Dashboards, reports, roster and user management.</a:t>
            </a:r>
            <a:endParaRPr lang="en-US" sz="1100" dirty="0"/>
          </a:p>
        </p:txBody>
      </p:sp>
      <p:sp>
        <p:nvSpPr>
          <p:cNvPr id="14" name="Shape 12"/>
          <p:cNvSpPr/>
          <p:nvPr/>
        </p:nvSpPr>
        <p:spPr>
          <a:xfrm>
            <a:off x="457200" y="2852928"/>
            <a:ext cx="8229600" cy="960120"/>
          </a:xfrm>
          <a:prstGeom prst="roundRect">
            <a:avLst>
              <a:gd name="adj" fmla="val 8571"/>
            </a:avLst>
          </a:prstGeom>
          <a:solidFill>
            <a:srgbClr val="F5F7F5"/>
          </a:solidFill>
          <a:ln w="9525">
            <a:solidFill>
              <a:srgbClr val="DEE6E1"/>
            </a:solidFill>
            <a:prstDash val="solid"/>
          </a:ln>
        </p:spPr>
      </p:sp>
      <p:sp>
        <p:nvSpPr>
          <p:cNvPr id="15" name="Text 13"/>
          <p:cNvSpPr txBox="1"/>
          <p:nvPr/>
        </p:nvSpPr>
        <p:spPr>
          <a:xfrm>
            <a:off x="713232" y="3035808"/>
            <a:ext cx="7717536" cy="640080"/>
          </a:xfrm>
          <a:prstGeom prst="rect">
            <a:avLst/>
          </a:prstGeom>
          <a:noFill/>
          <a:ln/>
        </p:spPr>
        <p:txBody>
          <a:bodyPr wrap="square" lIns="0" tIns="0" rIns="0" bIns="0" rtlCol="0" anchor="t"/>
          <a:lstStyle/>
          <a:p>
            <a:pPr algn="l" indent="0" marL="0">
              <a:lnSpc>
                <a:spcPct val="110000"/>
              </a:lnSpc>
              <a:buNone/>
            </a:pPr>
            <a:r>
              <a:rPr lang="en-US" sz="1200" dirty="0">
                <a:solidFill>
                  <a:srgbClr val="141F1A"/>
                </a:solidFill>
                <a:latin typeface="Calibri" pitchFamily="34" charset="0"/>
                <a:ea typeface="Calibri" pitchFamily="34" charset="-122"/>
                <a:cs typeface="Calibri" pitchFamily="34" charset="-120"/>
              </a:rPr>
              <a:t>Both run on Google Firebase — the same infrastructure Google runs its own products on. Data is replicated and backed up by Google; a lost or broken site phone loses nothing.</a:t>
            </a:r>
            <a:endParaRPr lang="en-US" sz="1200" dirty="0"/>
          </a:p>
        </p:txBody>
      </p:sp>
      <p:sp>
        <p:nvSpPr>
          <p:cNvPr id="16" name="Text 14"/>
          <p:cNvSpPr txBox="1"/>
          <p:nvPr/>
        </p:nvSpPr>
        <p:spPr>
          <a:xfrm>
            <a:off x="457200" y="3840480"/>
            <a:ext cx="2011680" cy="658368"/>
          </a:xfrm>
          <a:prstGeom prst="rect">
            <a:avLst/>
          </a:prstGeom>
          <a:noFill/>
          <a:ln/>
        </p:spPr>
        <p:txBody>
          <a:bodyPr wrap="square" lIns="0" tIns="0" rIns="0" bIns="0" rtlCol="0" anchor="ctr"/>
          <a:lstStyle/>
          <a:p>
            <a:pPr algn="l" indent="0" marL="0">
              <a:buNone/>
            </a:pPr>
            <a:r>
              <a:rPr lang="en-US" sz="4000" b="1" dirty="0">
                <a:solidFill>
                  <a:srgbClr val="00113D"/>
                </a:solidFill>
                <a:latin typeface="Cambria" pitchFamily="34" charset="0"/>
                <a:ea typeface="Cambria" pitchFamily="34" charset="-122"/>
                <a:cs typeface="Cambria" pitchFamily="34" charset="-120"/>
              </a:rPr>
              <a:t>5</a:t>
            </a:r>
            <a:endParaRPr lang="en-US" sz="4000" dirty="0"/>
          </a:p>
        </p:txBody>
      </p:sp>
      <p:sp>
        <p:nvSpPr>
          <p:cNvPr id="17" name="Text 15"/>
          <p:cNvSpPr txBox="1"/>
          <p:nvPr/>
        </p:nvSpPr>
        <p:spPr>
          <a:xfrm>
            <a:off x="457200" y="4480560"/>
            <a:ext cx="2011680" cy="384048"/>
          </a:xfrm>
          <a:prstGeom prst="rect">
            <a:avLst/>
          </a:prstGeom>
          <a:noFill/>
          <a:ln/>
        </p:spPr>
        <p:txBody>
          <a:bodyPr wrap="square" lIns="0" tIns="0" rIns="0" bIns="0" rtlCol="0" anchor="ctr"/>
          <a:lstStyle/>
          <a:p>
            <a:pPr algn="l" indent="0" marL="0">
              <a:buNone/>
            </a:pPr>
            <a:r>
              <a:rPr lang="en-US" sz="1200" dirty="0">
                <a:solidFill>
                  <a:srgbClr val="5B6B63"/>
                </a:solidFill>
                <a:latin typeface="Calibri" pitchFamily="34" charset="0"/>
                <a:ea typeface="Calibri" pitchFamily="34" charset="-122"/>
                <a:cs typeface="Calibri" pitchFamily="34" charset="-120"/>
              </a:rPr>
              <a:t>user roles, each with its own access</a:t>
            </a:r>
            <a:endParaRPr lang="en-US" sz="1200" dirty="0"/>
          </a:p>
        </p:txBody>
      </p:sp>
      <p:sp>
        <p:nvSpPr>
          <p:cNvPr id="18" name="Text 16"/>
          <p:cNvSpPr txBox="1"/>
          <p:nvPr/>
        </p:nvSpPr>
        <p:spPr>
          <a:xfrm>
            <a:off x="2880360" y="3840480"/>
            <a:ext cx="2194560" cy="658368"/>
          </a:xfrm>
          <a:prstGeom prst="rect">
            <a:avLst/>
          </a:prstGeom>
          <a:noFill/>
          <a:ln/>
        </p:spPr>
        <p:txBody>
          <a:bodyPr wrap="square" lIns="0" tIns="0" rIns="0" bIns="0" rtlCol="0" anchor="ctr"/>
          <a:lstStyle/>
          <a:p>
            <a:pPr algn="l" indent="0" marL="0">
              <a:buNone/>
            </a:pPr>
            <a:r>
              <a:rPr lang="en-US" sz="4000" b="1" dirty="0">
                <a:solidFill>
                  <a:srgbClr val="0B66D6"/>
                </a:solidFill>
                <a:latin typeface="Cambria" pitchFamily="34" charset="0"/>
                <a:ea typeface="Cambria" pitchFamily="34" charset="-122"/>
                <a:cs typeface="Cambria" pitchFamily="34" charset="-120"/>
              </a:rPr>
              <a:t>2</a:t>
            </a:r>
            <a:endParaRPr lang="en-US" sz="4000" dirty="0"/>
          </a:p>
        </p:txBody>
      </p:sp>
      <p:sp>
        <p:nvSpPr>
          <p:cNvPr id="19" name="Text 17"/>
          <p:cNvSpPr txBox="1"/>
          <p:nvPr/>
        </p:nvSpPr>
        <p:spPr>
          <a:xfrm>
            <a:off x="2880360" y="4480560"/>
            <a:ext cx="2194560" cy="384048"/>
          </a:xfrm>
          <a:prstGeom prst="rect">
            <a:avLst/>
          </a:prstGeom>
          <a:noFill/>
          <a:ln/>
        </p:spPr>
        <p:txBody>
          <a:bodyPr wrap="square" lIns="0" tIns="0" rIns="0" bIns="0" rtlCol="0" anchor="ctr"/>
          <a:lstStyle/>
          <a:p>
            <a:pPr algn="l" indent="0" marL="0">
              <a:buNone/>
            </a:pPr>
            <a:r>
              <a:rPr lang="en-US" sz="1200" dirty="0">
                <a:solidFill>
                  <a:srgbClr val="5B6B63"/>
                </a:solidFill>
                <a:latin typeface="Calibri" pitchFamily="34" charset="0"/>
                <a:ea typeface="Calibri" pitchFamily="34" charset="-122"/>
                <a:cs typeface="Calibri" pitchFamily="34" charset="-120"/>
              </a:rPr>
              <a:t>apps, one shared database</a:t>
            </a:r>
            <a:endParaRPr lang="en-US" sz="1200" dirty="0"/>
          </a:p>
        </p:txBody>
      </p:sp>
      <p:sp>
        <p:nvSpPr>
          <p:cNvPr id="20" name="Text 18"/>
          <p:cNvSpPr txBox="1"/>
          <p:nvPr/>
        </p:nvSpPr>
        <p:spPr>
          <a:xfrm>
            <a:off x="5532120" y="3840480"/>
            <a:ext cx="3108960" cy="658368"/>
          </a:xfrm>
          <a:prstGeom prst="rect">
            <a:avLst/>
          </a:prstGeom>
          <a:noFill/>
          <a:ln/>
        </p:spPr>
        <p:txBody>
          <a:bodyPr wrap="square" lIns="0" tIns="0" rIns="0" bIns="0" rtlCol="0" anchor="ctr"/>
          <a:lstStyle/>
          <a:p>
            <a:pPr algn="l" indent="0" marL="0">
              <a:buNone/>
            </a:pPr>
            <a:r>
              <a:rPr lang="en-US" sz="4000" b="1" dirty="0">
                <a:solidFill>
                  <a:srgbClr val="17875E"/>
                </a:solidFill>
                <a:latin typeface="Cambria" pitchFamily="34" charset="0"/>
                <a:ea typeface="Cambria" pitchFamily="34" charset="-122"/>
                <a:cs typeface="Cambria" pitchFamily="34" charset="-120"/>
              </a:rPr>
              <a:t>0</a:t>
            </a:r>
            <a:endParaRPr lang="en-US" sz="4000" dirty="0"/>
          </a:p>
        </p:txBody>
      </p:sp>
      <p:sp>
        <p:nvSpPr>
          <p:cNvPr id="21" name="Text 19"/>
          <p:cNvSpPr txBox="1"/>
          <p:nvPr/>
        </p:nvSpPr>
        <p:spPr>
          <a:xfrm>
            <a:off x="5532120" y="4480560"/>
            <a:ext cx="3108960" cy="384048"/>
          </a:xfrm>
          <a:prstGeom prst="rect">
            <a:avLst/>
          </a:prstGeom>
          <a:noFill/>
          <a:ln/>
        </p:spPr>
        <p:txBody>
          <a:bodyPr wrap="square" lIns="0" tIns="0" rIns="0" bIns="0" rtlCol="0" anchor="ctr"/>
          <a:lstStyle/>
          <a:p>
            <a:pPr algn="l" indent="0" marL="0">
              <a:buNone/>
            </a:pPr>
            <a:r>
              <a:rPr lang="en-US" sz="1200" dirty="0">
                <a:solidFill>
                  <a:srgbClr val="5B6B63"/>
                </a:solidFill>
                <a:latin typeface="Calibri" pitchFamily="34" charset="0"/>
                <a:ea typeface="Calibri" pitchFamily="34" charset="-122"/>
                <a:cs typeface="Calibri" pitchFamily="34" charset="-120"/>
              </a:rPr>
              <a:t>paper attendance sheets required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00113D"/>
                </a:solidFill>
                <a:latin typeface="Cambria" pitchFamily="34" charset="0"/>
                <a:ea typeface="Cambria" pitchFamily="34" charset="-122"/>
                <a:cs typeface="Cambria" pitchFamily="34" charset="-120"/>
              </a:rPr>
              <a:t>How a worker is marked present</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Three steps, roughly five seconds per man</a:t>
            </a:r>
            <a:endParaRPr lang="en-US" sz="1300" dirty="0"/>
          </a:p>
        </p:txBody>
      </p:sp>
      <p:sp>
        <p:nvSpPr>
          <p:cNvPr id="4" name="Shape 2"/>
          <p:cNvSpPr/>
          <p:nvPr/>
        </p:nvSpPr>
        <p:spPr>
          <a:xfrm>
            <a:off x="457200" y="1417320"/>
            <a:ext cx="2578608" cy="1920240"/>
          </a:xfrm>
          <a:prstGeom prst="roundRect">
            <a:avLst>
              <a:gd name="adj" fmla="val 4286"/>
            </a:avLst>
          </a:prstGeom>
          <a:solidFill>
            <a:srgbClr val="F5F7F5"/>
          </a:solidFill>
          <a:ln w="9525">
            <a:solidFill>
              <a:srgbClr val="DEE6E1"/>
            </a:solidFill>
            <a:prstDash val="solid"/>
          </a:ln>
        </p:spPr>
      </p:sp>
      <p:sp>
        <p:nvSpPr>
          <p:cNvPr id="5" name="Shape 3"/>
          <p:cNvSpPr/>
          <p:nvPr/>
        </p:nvSpPr>
        <p:spPr>
          <a:xfrm>
            <a:off x="676656" y="1645920"/>
            <a:ext cx="457200" cy="457200"/>
          </a:xfrm>
          <a:prstGeom prst="ellipse">
            <a:avLst/>
          </a:prstGeom>
          <a:solidFill>
            <a:srgbClr val="0B66D6"/>
          </a:solidFill>
          <a:ln w="12700">
            <a:solidFill>
              <a:srgbClr val="0B66D6"/>
            </a:solidFill>
            <a:prstDash val="solid"/>
          </a:ln>
        </p:spPr>
      </p:sp>
      <p:sp>
        <p:nvSpPr>
          <p:cNvPr id="6" name="Text 4"/>
          <p:cNvSpPr txBox="1"/>
          <p:nvPr/>
        </p:nvSpPr>
        <p:spPr>
          <a:xfrm>
            <a:off x="676656"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676656" y="2240280"/>
            <a:ext cx="2157984" cy="292608"/>
          </a:xfrm>
          <a:prstGeom prst="rect">
            <a:avLst/>
          </a:prstGeom>
          <a:noFill/>
          <a:ln/>
        </p:spPr>
        <p:txBody>
          <a:bodyPr wrap="square" lIns="0" tIns="0" rIns="0" bIns="0" rtlCol="0" anchor="t"/>
          <a:lstStyle/>
          <a:p>
            <a:pPr algn="l" indent="0" marL="0">
              <a:lnSpc>
                <a:spcPct val="110000"/>
              </a:lnSpc>
              <a:buNone/>
            </a:pPr>
            <a:r>
              <a:rPr lang="en-US" sz="1500" b="1" dirty="0">
                <a:solidFill>
                  <a:srgbClr val="141F1A"/>
                </a:solidFill>
                <a:latin typeface="Calibri" pitchFamily="34" charset="0"/>
                <a:ea typeface="Calibri" pitchFamily="34" charset="-122"/>
                <a:cs typeface="Calibri" pitchFamily="34" charset="-120"/>
              </a:rPr>
              <a:t>Identify</a:t>
            </a:r>
            <a:endParaRPr lang="en-US" sz="1500" dirty="0"/>
          </a:p>
        </p:txBody>
      </p:sp>
      <p:sp>
        <p:nvSpPr>
          <p:cNvPr id="8" name="Text 6"/>
          <p:cNvSpPr txBox="1"/>
          <p:nvPr/>
        </p:nvSpPr>
        <p:spPr>
          <a:xfrm>
            <a:off x="676656" y="2578608"/>
            <a:ext cx="2157984" cy="68580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Scan the QR or barcode on the worker's ID badge, or search him by name or employee number.</a:t>
            </a:r>
            <a:endParaRPr lang="en-US" sz="1100" dirty="0"/>
          </a:p>
        </p:txBody>
      </p:sp>
      <p:sp>
        <p:nvSpPr>
          <p:cNvPr id="9" name="Text 7"/>
          <p:cNvSpPr txBox="1"/>
          <p:nvPr/>
        </p:nvSpPr>
        <p:spPr>
          <a:xfrm>
            <a:off x="3035808" y="2011680"/>
            <a:ext cx="237744" cy="457200"/>
          </a:xfrm>
          <a:prstGeom prst="rect">
            <a:avLst/>
          </a:prstGeom>
          <a:noFill/>
          <a:ln/>
        </p:spPr>
        <p:txBody>
          <a:bodyPr wrap="square" lIns="0" tIns="0" rIns="0" bIns="0" rtlCol="0" anchor="ctr"/>
          <a:lstStyle/>
          <a:p>
            <a:pPr algn="ctr" indent="0" marL="0">
              <a:buNone/>
            </a:pPr>
            <a:r>
              <a:rPr lang="en-US" sz="2600" b="1" dirty="0">
                <a:solidFill>
                  <a:srgbClr val="DEE6E1"/>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3282696" y="1417320"/>
            <a:ext cx="2578608" cy="1920240"/>
          </a:xfrm>
          <a:prstGeom prst="roundRect">
            <a:avLst>
              <a:gd name="adj" fmla="val 4286"/>
            </a:avLst>
          </a:prstGeom>
          <a:solidFill>
            <a:srgbClr val="F5F7F5"/>
          </a:solidFill>
          <a:ln w="9525">
            <a:solidFill>
              <a:srgbClr val="DEE6E1"/>
            </a:solidFill>
            <a:prstDash val="solid"/>
          </a:ln>
        </p:spPr>
      </p:sp>
      <p:sp>
        <p:nvSpPr>
          <p:cNvPr id="11" name="Shape 9"/>
          <p:cNvSpPr/>
          <p:nvPr/>
        </p:nvSpPr>
        <p:spPr>
          <a:xfrm>
            <a:off x="3502152" y="1645920"/>
            <a:ext cx="457200" cy="457200"/>
          </a:xfrm>
          <a:prstGeom prst="ellipse">
            <a:avLst/>
          </a:prstGeom>
          <a:solidFill>
            <a:srgbClr val="00113D"/>
          </a:solidFill>
          <a:ln w="12700">
            <a:solidFill>
              <a:srgbClr val="00113D"/>
            </a:solidFill>
            <a:prstDash val="solid"/>
          </a:ln>
        </p:spPr>
      </p:sp>
      <p:sp>
        <p:nvSpPr>
          <p:cNvPr id="12" name="Text 10"/>
          <p:cNvSpPr txBox="1"/>
          <p:nvPr/>
        </p:nvSpPr>
        <p:spPr>
          <a:xfrm>
            <a:off x="3502152"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502152" y="2240280"/>
            <a:ext cx="2157984" cy="292608"/>
          </a:xfrm>
          <a:prstGeom prst="rect">
            <a:avLst/>
          </a:prstGeom>
          <a:noFill/>
          <a:ln/>
        </p:spPr>
        <p:txBody>
          <a:bodyPr wrap="square" lIns="0" tIns="0" rIns="0" bIns="0" rtlCol="0" anchor="t"/>
          <a:lstStyle/>
          <a:p>
            <a:pPr algn="l" indent="0" marL="0">
              <a:lnSpc>
                <a:spcPct val="110000"/>
              </a:lnSpc>
              <a:buNone/>
            </a:pPr>
            <a:r>
              <a:rPr lang="en-US" sz="1500" b="1" dirty="0">
                <a:solidFill>
                  <a:srgbClr val="141F1A"/>
                </a:solidFill>
                <a:latin typeface="Calibri" pitchFamily="34" charset="0"/>
                <a:ea typeface="Calibri" pitchFamily="34" charset="-122"/>
                <a:cs typeface="Calibri" pitchFamily="34" charset="-120"/>
              </a:rPr>
              <a:t>Verify location</a:t>
            </a:r>
            <a:endParaRPr lang="en-US" sz="1500" dirty="0"/>
          </a:p>
        </p:txBody>
      </p:sp>
      <p:sp>
        <p:nvSpPr>
          <p:cNvPr id="14" name="Text 12"/>
          <p:cNvSpPr txBox="1"/>
          <p:nvPr/>
        </p:nvSpPr>
        <p:spPr>
          <a:xfrm>
            <a:off x="3502152" y="2578608"/>
            <a:ext cx="2157984" cy="68580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The phone's GPS is checked against the project's geofence before anything is saved.</a:t>
            </a:r>
            <a:endParaRPr lang="en-US" sz="1100" dirty="0"/>
          </a:p>
        </p:txBody>
      </p:sp>
      <p:sp>
        <p:nvSpPr>
          <p:cNvPr id="15" name="Text 13"/>
          <p:cNvSpPr txBox="1"/>
          <p:nvPr/>
        </p:nvSpPr>
        <p:spPr>
          <a:xfrm>
            <a:off x="5861304" y="2011680"/>
            <a:ext cx="237744" cy="457200"/>
          </a:xfrm>
          <a:prstGeom prst="rect">
            <a:avLst/>
          </a:prstGeom>
          <a:noFill/>
          <a:ln/>
        </p:spPr>
        <p:txBody>
          <a:bodyPr wrap="square" lIns="0" tIns="0" rIns="0" bIns="0" rtlCol="0" anchor="ctr"/>
          <a:lstStyle/>
          <a:p>
            <a:pPr algn="ctr" indent="0" marL="0">
              <a:buNone/>
            </a:pPr>
            <a:r>
              <a:rPr lang="en-US" sz="2600" b="1" dirty="0">
                <a:solidFill>
                  <a:srgbClr val="DEE6E1"/>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6108192" y="1417320"/>
            <a:ext cx="2578608" cy="1920240"/>
          </a:xfrm>
          <a:prstGeom prst="roundRect">
            <a:avLst>
              <a:gd name="adj" fmla="val 4286"/>
            </a:avLst>
          </a:prstGeom>
          <a:solidFill>
            <a:srgbClr val="F5F7F5"/>
          </a:solidFill>
          <a:ln w="9525">
            <a:solidFill>
              <a:srgbClr val="DEE6E1"/>
            </a:solidFill>
            <a:prstDash val="solid"/>
          </a:ln>
        </p:spPr>
      </p:sp>
      <p:sp>
        <p:nvSpPr>
          <p:cNvPr id="17" name="Shape 15"/>
          <p:cNvSpPr/>
          <p:nvPr/>
        </p:nvSpPr>
        <p:spPr>
          <a:xfrm>
            <a:off x="6327648" y="1645920"/>
            <a:ext cx="457200" cy="457200"/>
          </a:xfrm>
          <a:prstGeom prst="ellipse">
            <a:avLst/>
          </a:prstGeom>
          <a:solidFill>
            <a:srgbClr val="17875E"/>
          </a:solidFill>
          <a:ln w="12700">
            <a:solidFill>
              <a:srgbClr val="17875E"/>
            </a:solidFill>
            <a:prstDash val="solid"/>
          </a:ln>
        </p:spPr>
      </p:sp>
      <p:sp>
        <p:nvSpPr>
          <p:cNvPr id="18" name="Text 16"/>
          <p:cNvSpPr txBox="1"/>
          <p:nvPr/>
        </p:nvSpPr>
        <p:spPr>
          <a:xfrm>
            <a:off x="6327648"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6327648" y="2240280"/>
            <a:ext cx="2157984" cy="292608"/>
          </a:xfrm>
          <a:prstGeom prst="rect">
            <a:avLst/>
          </a:prstGeom>
          <a:noFill/>
          <a:ln/>
        </p:spPr>
        <p:txBody>
          <a:bodyPr wrap="square" lIns="0" tIns="0" rIns="0" bIns="0" rtlCol="0" anchor="t"/>
          <a:lstStyle/>
          <a:p>
            <a:pPr algn="l" indent="0" marL="0">
              <a:lnSpc>
                <a:spcPct val="110000"/>
              </a:lnSpc>
              <a:buNone/>
            </a:pPr>
            <a:r>
              <a:rPr lang="en-US" sz="1500" b="1" dirty="0">
                <a:solidFill>
                  <a:srgbClr val="141F1A"/>
                </a:solidFill>
                <a:latin typeface="Calibri" pitchFamily="34" charset="0"/>
                <a:ea typeface="Calibri" pitchFamily="34" charset="-122"/>
                <a:cs typeface="Calibri" pitchFamily="34" charset="-120"/>
              </a:rPr>
              <a:t>Record</a:t>
            </a:r>
            <a:endParaRPr lang="en-US" sz="1500" dirty="0"/>
          </a:p>
        </p:txBody>
      </p:sp>
      <p:sp>
        <p:nvSpPr>
          <p:cNvPr id="20" name="Text 18"/>
          <p:cNvSpPr txBox="1"/>
          <p:nvPr/>
        </p:nvSpPr>
        <p:spPr>
          <a:xfrm>
            <a:off x="6327648" y="2578608"/>
            <a:ext cx="2157984" cy="68580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IN or OUT is stored with the time, shift, project, and the name of the person who marked it.</a:t>
            </a:r>
            <a:endParaRPr lang="en-US" sz="1100" dirty="0"/>
          </a:p>
        </p:txBody>
      </p:sp>
      <p:sp>
        <p:nvSpPr>
          <p:cNvPr id="21" name="Shape 19"/>
          <p:cNvSpPr/>
          <p:nvPr/>
        </p:nvSpPr>
        <p:spPr>
          <a:xfrm>
            <a:off x="457200" y="3520440"/>
            <a:ext cx="8229600" cy="1078992"/>
          </a:xfrm>
          <a:prstGeom prst="roundRect">
            <a:avLst>
              <a:gd name="adj" fmla="val 7627"/>
            </a:avLst>
          </a:prstGeom>
          <a:solidFill>
            <a:srgbClr val="FDF3F2"/>
          </a:solidFill>
          <a:ln w="9525">
            <a:solidFill>
              <a:srgbClr val="DEE6E1"/>
            </a:solidFill>
            <a:prstDash val="solid"/>
          </a:ln>
        </p:spPr>
      </p:sp>
      <p:sp>
        <p:nvSpPr>
          <p:cNvPr id="22" name="Shape 20"/>
          <p:cNvSpPr/>
          <p:nvPr/>
        </p:nvSpPr>
        <p:spPr>
          <a:xfrm>
            <a:off x="713232" y="3767328"/>
            <a:ext cx="420624" cy="420624"/>
          </a:xfrm>
          <a:prstGeom prst="ellipse">
            <a:avLst/>
          </a:prstGeom>
          <a:solidFill>
            <a:srgbClr val="B3261E"/>
          </a:solidFill>
          <a:ln w="12700">
            <a:solidFill>
              <a:srgbClr val="B3261E"/>
            </a:solidFill>
            <a:prstDash val="solid"/>
          </a:ln>
        </p:spPr>
      </p:sp>
      <p:sp>
        <p:nvSpPr>
          <p:cNvPr id="23" name="Text 21"/>
          <p:cNvSpPr txBox="1"/>
          <p:nvPr/>
        </p:nvSpPr>
        <p:spPr>
          <a:xfrm>
            <a:off x="713232" y="376732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1280160" y="3730752"/>
            <a:ext cx="7315200" cy="274320"/>
          </a:xfrm>
          <a:prstGeom prst="rect">
            <a:avLst/>
          </a:prstGeom>
          <a:noFill/>
          <a:ln/>
        </p:spPr>
        <p:txBody>
          <a:bodyPr wrap="square" lIns="0" tIns="0" rIns="0" bIns="0" rtlCol="0" anchor="t"/>
          <a:lstStyle/>
          <a:p>
            <a:pPr algn="l" indent="0" marL="0">
              <a:lnSpc>
                <a:spcPct val="110000"/>
              </a:lnSpc>
              <a:buNone/>
            </a:pPr>
            <a:r>
              <a:rPr lang="en-US" sz="1300" b="1" dirty="0">
                <a:solidFill>
                  <a:srgbClr val="B3261E"/>
                </a:solidFill>
                <a:latin typeface="Calibri" pitchFamily="34" charset="0"/>
                <a:ea typeface="Calibri" pitchFamily="34" charset="-122"/>
                <a:cs typeface="Calibri" pitchFamily="34" charset="-120"/>
              </a:rPr>
              <a:t>If the phone is outside the project's geofence, the check-in is refused</a:t>
            </a:r>
            <a:endParaRPr lang="en-US" sz="1300" dirty="0"/>
          </a:p>
        </p:txBody>
      </p:sp>
      <p:sp>
        <p:nvSpPr>
          <p:cNvPr id="25" name="Text 23"/>
          <p:cNvSpPr txBox="1"/>
          <p:nvPr/>
        </p:nvSpPr>
        <p:spPr>
          <a:xfrm>
            <a:off x="1280160" y="4041648"/>
            <a:ext cx="7315200" cy="45720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The refused attempt is still recorded — who tried, where they were, and how far off site — so a pattern of attempts is visible rather than lost.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00113D"/>
                </a:solidFill>
                <a:latin typeface="Cambria" pitchFamily="34" charset="0"/>
                <a:ea typeface="Cambria" pitchFamily="34" charset="-122"/>
                <a:cs typeface="Cambria" pitchFamily="34" charset="-120"/>
              </a:rPr>
              <a:t>Proof that the man was actually there</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Location is checked by the system, not asserted by a person</a:t>
            </a:r>
            <a:endParaRPr lang="en-US" sz="1300" dirty="0"/>
          </a:p>
        </p:txBody>
      </p:sp>
      <p:sp>
        <p:nvSpPr>
          <p:cNvPr id="4" name="Shape 2"/>
          <p:cNvSpPr/>
          <p:nvPr/>
        </p:nvSpPr>
        <p:spPr>
          <a:xfrm>
            <a:off x="457200" y="1426464"/>
            <a:ext cx="310896" cy="310896"/>
          </a:xfrm>
          <a:prstGeom prst="ellipse">
            <a:avLst/>
          </a:prstGeom>
          <a:solidFill>
            <a:srgbClr val="0B66D6"/>
          </a:solidFill>
          <a:ln w="12700">
            <a:solidFill>
              <a:srgbClr val="0B66D6"/>
            </a:solidFill>
            <a:prstDash val="solid"/>
          </a:ln>
        </p:spPr>
      </p:sp>
      <p:sp>
        <p:nvSpPr>
          <p:cNvPr id="5" name="Text 3"/>
          <p:cNvSpPr txBox="1"/>
          <p:nvPr/>
        </p:nvSpPr>
        <p:spPr>
          <a:xfrm>
            <a:off x="457200" y="14264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969264" y="1371600"/>
            <a:ext cx="7717536" cy="274320"/>
          </a:xfrm>
          <a:prstGeom prst="rect">
            <a:avLst/>
          </a:prstGeom>
          <a:noFill/>
          <a:ln/>
        </p:spPr>
        <p:txBody>
          <a:bodyPr wrap="square" lIns="0" tIns="0" rIns="0" bIns="0" rtlCol="0" anchor="t"/>
          <a:lstStyle/>
          <a:p>
            <a:pPr algn="l" indent="0" marL="0">
              <a:lnSpc>
                <a:spcPct val="110000"/>
              </a:lnSpc>
              <a:buNone/>
            </a:pPr>
            <a:r>
              <a:rPr lang="en-US" sz="1350" b="1" dirty="0">
                <a:solidFill>
                  <a:srgbClr val="141F1A"/>
                </a:solidFill>
                <a:latin typeface="Calibri" pitchFamily="34" charset="0"/>
                <a:ea typeface="Calibri" pitchFamily="34" charset="-122"/>
                <a:cs typeface="Calibri" pitchFamily="34" charset="-120"/>
              </a:rPr>
              <a:t>Every project carries its own geofence</a:t>
            </a:r>
            <a:endParaRPr lang="en-US" sz="1350" dirty="0"/>
          </a:p>
        </p:txBody>
      </p:sp>
      <p:sp>
        <p:nvSpPr>
          <p:cNvPr id="7" name="Text 5"/>
          <p:cNvSpPr txBox="1"/>
          <p:nvPr/>
        </p:nvSpPr>
        <p:spPr>
          <a:xfrm>
            <a:off x="969264" y="1664208"/>
            <a:ext cx="7717536" cy="402336"/>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Super Admin sets each project's coordinates and radius. A tight compound and a spread-out site get different limits.</a:t>
            </a:r>
            <a:endParaRPr lang="en-US" sz="1100" dirty="0"/>
          </a:p>
        </p:txBody>
      </p:sp>
      <p:sp>
        <p:nvSpPr>
          <p:cNvPr id="8" name="Shape 6"/>
          <p:cNvSpPr/>
          <p:nvPr/>
        </p:nvSpPr>
        <p:spPr>
          <a:xfrm>
            <a:off x="457200" y="2286000"/>
            <a:ext cx="310896" cy="310896"/>
          </a:xfrm>
          <a:prstGeom prst="ellipse">
            <a:avLst/>
          </a:prstGeom>
          <a:solidFill>
            <a:srgbClr val="00113D"/>
          </a:solidFill>
          <a:ln w="12700">
            <a:solidFill>
              <a:srgbClr val="00113D"/>
            </a:solidFill>
            <a:prstDash val="solid"/>
          </a:ln>
        </p:spPr>
      </p:sp>
      <p:sp>
        <p:nvSpPr>
          <p:cNvPr id="9" name="Text 7"/>
          <p:cNvSpPr txBox="1"/>
          <p:nvPr/>
        </p:nvSpPr>
        <p:spPr>
          <a:xfrm>
            <a:off x="457200" y="22860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969264" y="2231136"/>
            <a:ext cx="7717536" cy="274320"/>
          </a:xfrm>
          <a:prstGeom prst="rect">
            <a:avLst/>
          </a:prstGeom>
          <a:noFill/>
          <a:ln/>
        </p:spPr>
        <p:txBody>
          <a:bodyPr wrap="square" lIns="0" tIns="0" rIns="0" bIns="0" rtlCol="0" anchor="t"/>
          <a:lstStyle/>
          <a:p>
            <a:pPr algn="l" indent="0" marL="0">
              <a:lnSpc>
                <a:spcPct val="110000"/>
              </a:lnSpc>
              <a:buNone/>
            </a:pPr>
            <a:r>
              <a:rPr lang="en-US" sz="1350" b="1" dirty="0">
                <a:solidFill>
                  <a:srgbClr val="141F1A"/>
                </a:solidFill>
                <a:latin typeface="Calibri" pitchFamily="34" charset="0"/>
                <a:ea typeface="Calibri" pitchFamily="34" charset="-122"/>
                <a:cs typeface="Calibri" pitchFamily="34" charset="-120"/>
              </a:rPr>
              <a:t>Distance is recorded, not just pass or fail</a:t>
            </a:r>
            <a:endParaRPr lang="en-US" sz="1350" dirty="0"/>
          </a:p>
        </p:txBody>
      </p:sp>
      <p:sp>
        <p:nvSpPr>
          <p:cNvPr id="11" name="Text 9"/>
          <p:cNvSpPr txBox="1"/>
          <p:nvPr/>
        </p:nvSpPr>
        <p:spPr>
          <a:xfrm>
            <a:off x="969264" y="2523744"/>
            <a:ext cx="7717536" cy="402336"/>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Each record keeps how far from the site centre the phone actually was, so a borderline check-in can be reviewed later.</a:t>
            </a:r>
            <a:endParaRPr lang="en-US" sz="1100" dirty="0"/>
          </a:p>
        </p:txBody>
      </p:sp>
      <p:sp>
        <p:nvSpPr>
          <p:cNvPr id="12" name="Shape 10"/>
          <p:cNvSpPr/>
          <p:nvPr/>
        </p:nvSpPr>
        <p:spPr>
          <a:xfrm>
            <a:off x="457200" y="3145536"/>
            <a:ext cx="310896" cy="310896"/>
          </a:xfrm>
          <a:prstGeom prst="ellipse">
            <a:avLst/>
          </a:prstGeom>
          <a:solidFill>
            <a:srgbClr val="0B66D6"/>
          </a:solidFill>
          <a:ln w="12700">
            <a:solidFill>
              <a:srgbClr val="0B66D6"/>
            </a:solidFill>
            <a:prstDash val="solid"/>
          </a:ln>
        </p:spPr>
      </p:sp>
      <p:sp>
        <p:nvSpPr>
          <p:cNvPr id="13" name="Text 11"/>
          <p:cNvSpPr txBox="1"/>
          <p:nvPr/>
        </p:nvSpPr>
        <p:spPr>
          <a:xfrm>
            <a:off x="457200" y="31455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969264" y="3090672"/>
            <a:ext cx="7717536" cy="274320"/>
          </a:xfrm>
          <a:prstGeom prst="rect">
            <a:avLst/>
          </a:prstGeom>
          <a:noFill/>
          <a:ln/>
        </p:spPr>
        <p:txBody>
          <a:bodyPr wrap="square" lIns="0" tIns="0" rIns="0" bIns="0" rtlCol="0" anchor="t"/>
          <a:lstStyle/>
          <a:p>
            <a:pPr algn="l" indent="0" marL="0">
              <a:lnSpc>
                <a:spcPct val="110000"/>
              </a:lnSpc>
              <a:buNone/>
            </a:pPr>
            <a:r>
              <a:rPr lang="en-US" sz="1350" b="1" dirty="0">
                <a:solidFill>
                  <a:srgbClr val="141F1A"/>
                </a:solidFill>
                <a:latin typeface="Calibri" pitchFamily="34" charset="0"/>
                <a:ea typeface="Calibri" pitchFamily="34" charset="-122"/>
                <a:cs typeface="Calibri" pitchFamily="34" charset="-120"/>
              </a:rPr>
              <a:t>Off-roster arrivals are flagged</a:t>
            </a:r>
            <a:endParaRPr lang="en-US" sz="1350" dirty="0"/>
          </a:p>
        </p:txBody>
      </p:sp>
      <p:sp>
        <p:nvSpPr>
          <p:cNvPr id="15" name="Text 13"/>
          <p:cNvSpPr txBox="1"/>
          <p:nvPr/>
        </p:nvSpPr>
        <p:spPr>
          <a:xfrm>
            <a:off x="969264" y="3383280"/>
            <a:ext cx="7717536" cy="402336"/>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If a worker is marked at a project other than the one his roster shows, the record is flagged as a site deviation for review.</a:t>
            </a:r>
            <a:endParaRPr lang="en-US" sz="1100" dirty="0"/>
          </a:p>
        </p:txBody>
      </p:sp>
      <p:sp>
        <p:nvSpPr>
          <p:cNvPr id="16" name="Shape 14"/>
          <p:cNvSpPr/>
          <p:nvPr/>
        </p:nvSpPr>
        <p:spPr>
          <a:xfrm>
            <a:off x="457200" y="4005072"/>
            <a:ext cx="310896" cy="310896"/>
          </a:xfrm>
          <a:prstGeom prst="ellipse">
            <a:avLst/>
          </a:prstGeom>
          <a:solidFill>
            <a:srgbClr val="00113D"/>
          </a:solidFill>
          <a:ln w="12700">
            <a:solidFill>
              <a:srgbClr val="00113D"/>
            </a:solidFill>
            <a:prstDash val="solid"/>
          </a:ln>
        </p:spPr>
      </p:sp>
      <p:sp>
        <p:nvSpPr>
          <p:cNvPr id="17" name="Text 15"/>
          <p:cNvSpPr txBox="1"/>
          <p:nvPr/>
        </p:nvSpPr>
        <p:spPr>
          <a:xfrm>
            <a:off x="457200" y="40050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969264" y="3950208"/>
            <a:ext cx="7717536" cy="274320"/>
          </a:xfrm>
          <a:prstGeom prst="rect">
            <a:avLst/>
          </a:prstGeom>
          <a:noFill/>
          <a:ln/>
        </p:spPr>
        <p:txBody>
          <a:bodyPr wrap="square" lIns="0" tIns="0" rIns="0" bIns="0" rtlCol="0" anchor="t"/>
          <a:lstStyle/>
          <a:p>
            <a:pPr algn="l" indent="0" marL="0">
              <a:lnSpc>
                <a:spcPct val="110000"/>
              </a:lnSpc>
              <a:buNone/>
            </a:pPr>
            <a:r>
              <a:rPr lang="en-US" sz="1350" b="1" dirty="0">
                <a:solidFill>
                  <a:srgbClr val="141F1A"/>
                </a:solidFill>
                <a:latin typeface="Calibri" pitchFamily="34" charset="0"/>
                <a:ea typeface="Calibri" pitchFamily="34" charset="-122"/>
                <a:cs typeface="Calibri" pitchFamily="34" charset="-120"/>
              </a:rPr>
              <a:t>Office staff have their own wider radius</a:t>
            </a:r>
            <a:endParaRPr lang="en-US" sz="1350" dirty="0"/>
          </a:p>
        </p:txBody>
      </p:sp>
      <p:sp>
        <p:nvSpPr>
          <p:cNvPr id="19" name="Text 17"/>
          <p:cNvSpPr txBox="1"/>
          <p:nvPr/>
        </p:nvSpPr>
        <p:spPr>
          <a:xfrm>
            <a:off x="969264" y="4242816"/>
            <a:ext cx="7717536" cy="402336"/>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Set separately per site, so office staff are not held to a gate-level fence while the crew is.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000" b="1" dirty="0">
                <a:solidFill>
                  <a:srgbClr val="00113D"/>
                </a:solidFill>
                <a:latin typeface="Cambria" pitchFamily="34" charset="0"/>
                <a:ea typeface="Cambria" pitchFamily="34" charset="-122"/>
                <a:cs typeface="Cambria" pitchFamily="34" charset="-120"/>
              </a:rPr>
              <a:t>Five roles, scoped to their own projects</a:t>
            </a:r>
            <a:endParaRPr lang="en-US" sz="30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Access is decided by role plus the projects that person is assigned to</a:t>
            </a:r>
            <a:endParaRPr lang="en-US" sz="1300" dirty="0"/>
          </a:p>
        </p:txBody>
      </p:sp>
      <p:sp>
        <p:nvSpPr>
          <p:cNvPr id="4" name="Shape 2"/>
          <p:cNvSpPr/>
          <p:nvPr/>
        </p:nvSpPr>
        <p:spPr>
          <a:xfrm>
            <a:off x="457200" y="1371600"/>
            <a:ext cx="2578608" cy="1371600"/>
          </a:xfrm>
          <a:prstGeom prst="roundRect">
            <a:avLst>
              <a:gd name="adj" fmla="val 6000"/>
            </a:avLst>
          </a:prstGeom>
          <a:solidFill>
            <a:srgbClr val="F5F7F5"/>
          </a:solidFill>
          <a:ln w="9525">
            <a:solidFill>
              <a:srgbClr val="DEE6E1"/>
            </a:solidFill>
            <a:prstDash val="solid"/>
          </a:ln>
        </p:spPr>
      </p:sp>
      <p:sp>
        <p:nvSpPr>
          <p:cNvPr id="5" name="Shape 3"/>
          <p:cNvSpPr/>
          <p:nvPr/>
        </p:nvSpPr>
        <p:spPr>
          <a:xfrm>
            <a:off x="676656" y="1572768"/>
            <a:ext cx="384048" cy="384048"/>
          </a:xfrm>
          <a:prstGeom prst="ellipse">
            <a:avLst/>
          </a:prstGeom>
          <a:solidFill>
            <a:srgbClr val="00113D"/>
          </a:solidFill>
          <a:ln w="12700">
            <a:solidFill>
              <a:srgbClr val="00113D"/>
            </a:solidFill>
            <a:prstDash val="solid"/>
          </a:ln>
        </p:spPr>
      </p:sp>
      <p:sp>
        <p:nvSpPr>
          <p:cNvPr id="6" name="Text 4"/>
          <p:cNvSpPr txBox="1"/>
          <p:nvPr/>
        </p:nvSpPr>
        <p:spPr>
          <a:xfrm>
            <a:off x="676656" y="15727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7" name="Text 5"/>
          <p:cNvSpPr txBox="1"/>
          <p:nvPr/>
        </p:nvSpPr>
        <p:spPr>
          <a:xfrm>
            <a:off x="1152144" y="1609344"/>
            <a:ext cx="1755648" cy="274320"/>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Super Admin</a:t>
            </a:r>
            <a:endParaRPr lang="en-US" sz="1300" dirty="0"/>
          </a:p>
        </p:txBody>
      </p:sp>
      <p:sp>
        <p:nvSpPr>
          <p:cNvPr id="8" name="Text 6"/>
          <p:cNvSpPr txBox="1"/>
          <p:nvPr/>
        </p:nvSpPr>
        <p:spPr>
          <a:xfrm>
            <a:off x="676656" y="2066544"/>
            <a:ext cx="2157984" cy="566928"/>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Full access. Creates users, sets roles, configures projects and geofences.</a:t>
            </a:r>
            <a:endParaRPr lang="en-US" sz="1050" dirty="0"/>
          </a:p>
        </p:txBody>
      </p:sp>
      <p:sp>
        <p:nvSpPr>
          <p:cNvPr id="9" name="Shape 7"/>
          <p:cNvSpPr/>
          <p:nvPr/>
        </p:nvSpPr>
        <p:spPr>
          <a:xfrm>
            <a:off x="3282696" y="1371600"/>
            <a:ext cx="2578608" cy="1371600"/>
          </a:xfrm>
          <a:prstGeom prst="roundRect">
            <a:avLst>
              <a:gd name="adj" fmla="val 6000"/>
            </a:avLst>
          </a:prstGeom>
          <a:solidFill>
            <a:srgbClr val="F5F7F5"/>
          </a:solidFill>
          <a:ln w="9525">
            <a:solidFill>
              <a:srgbClr val="DEE6E1"/>
            </a:solidFill>
            <a:prstDash val="solid"/>
          </a:ln>
        </p:spPr>
      </p:sp>
      <p:sp>
        <p:nvSpPr>
          <p:cNvPr id="10" name="Shape 8"/>
          <p:cNvSpPr/>
          <p:nvPr/>
        </p:nvSpPr>
        <p:spPr>
          <a:xfrm>
            <a:off x="3502152" y="1572768"/>
            <a:ext cx="384048" cy="384048"/>
          </a:xfrm>
          <a:prstGeom prst="ellipse">
            <a:avLst/>
          </a:prstGeom>
          <a:solidFill>
            <a:srgbClr val="0B66D6"/>
          </a:solidFill>
          <a:ln w="12700">
            <a:solidFill>
              <a:srgbClr val="0B66D6"/>
            </a:solidFill>
            <a:prstDash val="solid"/>
          </a:ln>
        </p:spPr>
      </p:sp>
      <p:sp>
        <p:nvSpPr>
          <p:cNvPr id="11" name="Text 9"/>
          <p:cNvSpPr txBox="1"/>
          <p:nvPr/>
        </p:nvSpPr>
        <p:spPr>
          <a:xfrm>
            <a:off x="3502152" y="15727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2" name="Text 10"/>
          <p:cNvSpPr txBox="1"/>
          <p:nvPr/>
        </p:nvSpPr>
        <p:spPr>
          <a:xfrm>
            <a:off x="3977640" y="1609344"/>
            <a:ext cx="1755648" cy="274320"/>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Admin</a:t>
            </a:r>
            <a:endParaRPr lang="en-US" sz="1300" dirty="0"/>
          </a:p>
        </p:txBody>
      </p:sp>
      <p:sp>
        <p:nvSpPr>
          <p:cNvPr id="13" name="Text 11"/>
          <p:cNvSpPr txBox="1"/>
          <p:nvPr/>
        </p:nvSpPr>
        <p:spPr>
          <a:xfrm>
            <a:off x="3502152" y="2066544"/>
            <a:ext cx="2157984" cy="566928"/>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Manages the workforce, attendance and reports across their assigned projects.</a:t>
            </a:r>
            <a:endParaRPr lang="en-US" sz="1050" dirty="0"/>
          </a:p>
        </p:txBody>
      </p:sp>
      <p:sp>
        <p:nvSpPr>
          <p:cNvPr id="14" name="Shape 12"/>
          <p:cNvSpPr/>
          <p:nvPr/>
        </p:nvSpPr>
        <p:spPr>
          <a:xfrm>
            <a:off x="6108192" y="1371600"/>
            <a:ext cx="2578608" cy="1371600"/>
          </a:xfrm>
          <a:prstGeom prst="roundRect">
            <a:avLst>
              <a:gd name="adj" fmla="val 6000"/>
            </a:avLst>
          </a:prstGeom>
          <a:solidFill>
            <a:srgbClr val="F5F7F5"/>
          </a:solidFill>
          <a:ln w="9525">
            <a:solidFill>
              <a:srgbClr val="DEE6E1"/>
            </a:solidFill>
            <a:prstDash val="solid"/>
          </a:ln>
        </p:spPr>
      </p:sp>
      <p:sp>
        <p:nvSpPr>
          <p:cNvPr id="15" name="Shape 13"/>
          <p:cNvSpPr/>
          <p:nvPr/>
        </p:nvSpPr>
        <p:spPr>
          <a:xfrm>
            <a:off x="6327648" y="1572768"/>
            <a:ext cx="384048" cy="384048"/>
          </a:xfrm>
          <a:prstGeom prst="ellipse">
            <a:avLst/>
          </a:prstGeom>
          <a:solidFill>
            <a:srgbClr val="0378E2"/>
          </a:solidFill>
          <a:ln w="12700">
            <a:solidFill>
              <a:srgbClr val="0378E2"/>
            </a:solidFill>
            <a:prstDash val="solid"/>
          </a:ln>
        </p:spPr>
      </p:sp>
      <p:sp>
        <p:nvSpPr>
          <p:cNvPr id="16" name="Text 14"/>
          <p:cNvSpPr txBox="1"/>
          <p:nvPr/>
        </p:nvSpPr>
        <p:spPr>
          <a:xfrm>
            <a:off x="6327648" y="15727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t>
            </a:r>
            <a:endParaRPr lang="en-US" sz="1200" dirty="0"/>
          </a:p>
        </p:txBody>
      </p:sp>
      <p:sp>
        <p:nvSpPr>
          <p:cNvPr id="17" name="Text 15"/>
          <p:cNvSpPr txBox="1"/>
          <p:nvPr/>
        </p:nvSpPr>
        <p:spPr>
          <a:xfrm>
            <a:off x="6803136" y="1609344"/>
            <a:ext cx="1755648" cy="274320"/>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Timekeeper</a:t>
            </a:r>
            <a:endParaRPr lang="en-US" sz="1300" dirty="0"/>
          </a:p>
        </p:txBody>
      </p:sp>
      <p:sp>
        <p:nvSpPr>
          <p:cNvPr id="18" name="Text 16"/>
          <p:cNvSpPr txBox="1"/>
          <p:nvPr/>
        </p:nvSpPr>
        <p:spPr>
          <a:xfrm>
            <a:off x="6327648" y="2066544"/>
            <a:ext cx="2157984" cy="566928"/>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Owns their site's roster and attendance. Approves incoming worker transfers.</a:t>
            </a:r>
            <a:endParaRPr lang="en-US" sz="1050" dirty="0"/>
          </a:p>
        </p:txBody>
      </p:sp>
      <p:sp>
        <p:nvSpPr>
          <p:cNvPr id="19" name="Shape 17"/>
          <p:cNvSpPr/>
          <p:nvPr/>
        </p:nvSpPr>
        <p:spPr>
          <a:xfrm>
            <a:off x="457200" y="2944368"/>
            <a:ext cx="2578608" cy="1371600"/>
          </a:xfrm>
          <a:prstGeom prst="roundRect">
            <a:avLst>
              <a:gd name="adj" fmla="val 6000"/>
            </a:avLst>
          </a:prstGeom>
          <a:solidFill>
            <a:srgbClr val="F5F7F5"/>
          </a:solidFill>
          <a:ln w="9525">
            <a:solidFill>
              <a:srgbClr val="DEE6E1"/>
            </a:solidFill>
            <a:prstDash val="solid"/>
          </a:ln>
        </p:spPr>
      </p:sp>
      <p:sp>
        <p:nvSpPr>
          <p:cNvPr id="20" name="Shape 18"/>
          <p:cNvSpPr/>
          <p:nvPr/>
        </p:nvSpPr>
        <p:spPr>
          <a:xfrm>
            <a:off x="676656" y="3145536"/>
            <a:ext cx="384048" cy="384048"/>
          </a:xfrm>
          <a:prstGeom prst="ellipse">
            <a:avLst/>
          </a:prstGeom>
          <a:solidFill>
            <a:srgbClr val="17875E"/>
          </a:solidFill>
          <a:ln w="12700">
            <a:solidFill>
              <a:srgbClr val="17875E"/>
            </a:solidFill>
            <a:prstDash val="solid"/>
          </a:ln>
        </p:spPr>
      </p:sp>
      <p:sp>
        <p:nvSpPr>
          <p:cNvPr id="21" name="Text 19"/>
          <p:cNvSpPr txBox="1"/>
          <p:nvPr/>
        </p:nvSpPr>
        <p:spPr>
          <a:xfrm>
            <a:off x="676656" y="31455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22" name="Text 20"/>
          <p:cNvSpPr txBox="1"/>
          <p:nvPr/>
        </p:nvSpPr>
        <p:spPr>
          <a:xfrm>
            <a:off x="1152144" y="3182112"/>
            <a:ext cx="1755648" cy="274320"/>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Supervisor</a:t>
            </a:r>
            <a:endParaRPr lang="en-US" sz="1300" dirty="0"/>
          </a:p>
        </p:txBody>
      </p:sp>
      <p:sp>
        <p:nvSpPr>
          <p:cNvPr id="23" name="Text 21"/>
          <p:cNvSpPr txBox="1"/>
          <p:nvPr/>
        </p:nvSpPr>
        <p:spPr>
          <a:xfrm>
            <a:off x="676656" y="3639312"/>
            <a:ext cx="2157984" cy="566928"/>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Marks attendance, reads manpower and raises transfers for their projects.</a:t>
            </a:r>
            <a:endParaRPr lang="en-US" sz="1050" dirty="0"/>
          </a:p>
        </p:txBody>
      </p:sp>
      <p:sp>
        <p:nvSpPr>
          <p:cNvPr id="24" name="Shape 22"/>
          <p:cNvSpPr/>
          <p:nvPr/>
        </p:nvSpPr>
        <p:spPr>
          <a:xfrm>
            <a:off x="3282696" y="2944368"/>
            <a:ext cx="2578608" cy="1371600"/>
          </a:xfrm>
          <a:prstGeom prst="roundRect">
            <a:avLst>
              <a:gd name="adj" fmla="val 6000"/>
            </a:avLst>
          </a:prstGeom>
          <a:solidFill>
            <a:srgbClr val="F5F7F5"/>
          </a:solidFill>
          <a:ln w="9525">
            <a:solidFill>
              <a:srgbClr val="DEE6E1"/>
            </a:solidFill>
            <a:prstDash val="solid"/>
          </a:ln>
        </p:spPr>
      </p:sp>
      <p:sp>
        <p:nvSpPr>
          <p:cNvPr id="25" name="Shape 23"/>
          <p:cNvSpPr/>
          <p:nvPr/>
        </p:nvSpPr>
        <p:spPr>
          <a:xfrm>
            <a:off x="3502152" y="3145536"/>
            <a:ext cx="384048" cy="384048"/>
          </a:xfrm>
          <a:prstGeom prst="ellipse">
            <a:avLst/>
          </a:prstGeom>
          <a:solidFill>
            <a:srgbClr val="5B6B63"/>
          </a:solidFill>
          <a:ln w="12700">
            <a:solidFill>
              <a:srgbClr val="5B6B63"/>
            </a:solidFill>
            <a:prstDash val="solid"/>
          </a:ln>
        </p:spPr>
      </p:sp>
      <p:sp>
        <p:nvSpPr>
          <p:cNvPr id="26" name="Text 24"/>
          <p:cNvSpPr txBox="1"/>
          <p:nvPr/>
        </p:nvSpPr>
        <p:spPr>
          <a:xfrm>
            <a:off x="3502152" y="31455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27" name="Text 25"/>
          <p:cNvSpPr txBox="1"/>
          <p:nvPr/>
        </p:nvSpPr>
        <p:spPr>
          <a:xfrm>
            <a:off x="3977640" y="3182112"/>
            <a:ext cx="1755648" cy="274320"/>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Staff</a:t>
            </a:r>
            <a:endParaRPr lang="en-US" sz="1300" dirty="0"/>
          </a:p>
        </p:txBody>
      </p:sp>
      <p:sp>
        <p:nvSpPr>
          <p:cNvPr id="28" name="Text 26"/>
          <p:cNvSpPr txBox="1"/>
          <p:nvPr/>
        </p:nvSpPr>
        <p:spPr>
          <a:xfrm>
            <a:off x="3502152" y="3639312"/>
            <a:ext cx="2157984" cy="566928"/>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Office staff. Marks only their own attendance and applies for their own leave.</a:t>
            </a:r>
            <a:endParaRPr lang="en-US" sz="1050" dirty="0"/>
          </a:p>
        </p:txBody>
      </p:sp>
      <p:sp>
        <p:nvSpPr>
          <p:cNvPr id="29" name="Shape 27"/>
          <p:cNvSpPr/>
          <p:nvPr/>
        </p:nvSpPr>
        <p:spPr>
          <a:xfrm>
            <a:off x="6108192" y="2944368"/>
            <a:ext cx="2578608" cy="1371600"/>
          </a:xfrm>
          <a:prstGeom prst="roundRect">
            <a:avLst>
              <a:gd name="adj" fmla="val 6000"/>
            </a:avLst>
          </a:prstGeom>
          <a:solidFill>
            <a:srgbClr val="E8F1FC"/>
          </a:solidFill>
          <a:ln w="9525">
            <a:solidFill>
              <a:srgbClr val="DEE6E1"/>
            </a:solidFill>
            <a:prstDash val="solid"/>
          </a:ln>
        </p:spPr>
      </p:sp>
      <p:sp>
        <p:nvSpPr>
          <p:cNvPr id="30" name="Text 28"/>
          <p:cNvSpPr txBox="1"/>
          <p:nvPr/>
        </p:nvSpPr>
        <p:spPr>
          <a:xfrm>
            <a:off x="6327648" y="3145536"/>
            <a:ext cx="2157984" cy="256032"/>
          </a:xfrm>
          <a:prstGeom prst="rect">
            <a:avLst/>
          </a:prstGeom>
          <a:noFill/>
          <a:ln/>
        </p:spPr>
        <p:txBody>
          <a:bodyPr wrap="square" lIns="0" tIns="0" rIns="0" bIns="0" rtlCol="0" anchor="t"/>
          <a:lstStyle/>
          <a:p>
            <a:pPr algn="l" indent="0" marL="0">
              <a:lnSpc>
                <a:spcPct val="110000"/>
              </a:lnSpc>
              <a:buNone/>
            </a:pPr>
            <a:r>
              <a:rPr lang="en-US" sz="1300" b="1" dirty="0">
                <a:solidFill>
                  <a:srgbClr val="00113D"/>
                </a:solidFill>
                <a:latin typeface="Calibri" pitchFamily="34" charset="0"/>
                <a:ea typeface="Calibri" pitchFamily="34" charset="-122"/>
                <a:cs typeface="Calibri" pitchFamily="34" charset="-120"/>
              </a:rPr>
              <a:t>Foreman</a:t>
            </a:r>
            <a:endParaRPr lang="en-US" sz="1300" dirty="0"/>
          </a:p>
        </p:txBody>
      </p:sp>
      <p:sp>
        <p:nvSpPr>
          <p:cNvPr id="31" name="Text 29"/>
          <p:cNvSpPr txBox="1"/>
          <p:nvPr/>
        </p:nvSpPr>
        <p:spPr>
          <a:xfrm>
            <a:off x="6327648" y="3456432"/>
            <a:ext cx="2157984" cy="749808"/>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Merged into Supervisor — same job at KTC. Logins created as Foreman still work, and now read as Supervisor.</a:t>
            </a:r>
            <a:endParaRPr lang="en-US" sz="1000" dirty="0"/>
          </a:p>
        </p:txBody>
      </p:sp>
      <p:sp>
        <p:nvSpPr>
          <p:cNvPr id="32" name="Text 30"/>
          <p:cNvSpPr txBox="1"/>
          <p:nvPr/>
        </p:nvSpPr>
        <p:spPr>
          <a:xfrm>
            <a:off x="457200" y="4498848"/>
            <a:ext cx="8229600" cy="274320"/>
          </a:xfrm>
          <a:prstGeom prst="rect">
            <a:avLst/>
          </a:prstGeom>
          <a:noFill/>
          <a:ln/>
        </p:spPr>
        <p:txBody>
          <a:bodyPr wrap="square" lIns="0" tIns="0" rIns="0" bIns="0" rtlCol="0" anchor="ctr"/>
          <a:lstStyle/>
          <a:p>
            <a:pPr indent="0" marL="0">
              <a:buNone/>
            </a:pPr>
            <a:r>
              <a:rPr lang="en-US" sz="1000" i="1" dirty="0">
                <a:solidFill>
                  <a:srgbClr val="5B6B63"/>
                </a:solidFill>
                <a:latin typeface="Calibri" pitchFamily="34" charset="0"/>
                <a:ea typeface="Calibri" pitchFamily="34" charset="-122"/>
                <a:cs typeface="Calibri" pitchFamily="34" charset="-120"/>
              </a:rPr>
              <a:t>A person cannot see, mark or export data for a project they are not assigned to.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00113D"/>
                </a:solidFill>
                <a:latin typeface="Cambria" pitchFamily="34" charset="0"/>
                <a:ea typeface="Cambria" pitchFamily="34" charset="-122"/>
                <a:cs typeface="Cambria" pitchFamily="34" charset="-120"/>
              </a:rPr>
              <a:t>Worker moves from Project A to B</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Fixed at the gate by the people who can see him, not by head office</a:t>
            </a:r>
            <a:endParaRPr lang="en-US" sz="1300" dirty="0"/>
          </a:p>
        </p:txBody>
      </p:sp>
      <p:sp>
        <p:nvSpPr>
          <p:cNvPr id="4" name="Shape 2"/>
          <p:cNvSpPr/>
          <p:nvPr/>
        </p:nvSpPr>
        <p:spPr>
          <a:xfrm>
            <a:off x="457200" y="1371600"/>
            <a:ext cx="3977640" cy="1481328"/>
          </a:xfrm>
          <a:prstGeom prst="roundRect">
            <a:avLst>
              <a:gd name="adj" fmla="val 5556"/>
            </a:avLst>
          </a:prstGeom>
          <a:solidFill>
            <a:srgbClr val="FDF3F2"/>
          </a:solidFill>
          <a:ln w="9525">
            <a:solidFill>
              <a:srgbClr val="DEE6E1"/>
            </a:solidFill>
            <a:prstDash val="solid"/>
          </a:ln>
        </p:spPr>
      </p:sp>
      <p:sp>
        <p:nvSpPr>
          <p:cNvPr id="5" name="Text 3"/>
          <p:cNvSpPr txBox="1"/>
          <p:nvPr/>
        </p:nvSpPr>
        <p:spPr>
          <a:xfrm>
            <a:off x="694944" y="1536192"/>
            <a:ext cx="3474720" cy="237744"/>
          </a:xfrm>
          <a:prstGeom prst="rect">
            <a:avLst/>
          </a:prstGeom>
          <a:noFill/>
          <a:ln/>
        </p:spPr>
        <p:txBody>
          <a:bodyPr wrap="square" lIns="0" tIns="0" rIns="0" bIns="0" rtlCol="0" anchor="t"/>
          <a:lstStyle/>
          <a:p>
            <a:pPr algn="l" indent="0" marL="0">
              <a:lnSpc>
                <a:spcPct val="110000"/>
              </a:lnSpc>
              <a:buNone/>
            </a:pPr>
            <a:r>
              <a:rPr lang="en-US" sz="1050" b="1" dirty="0">
                <a:solidFill>
                  <a:srgbClr val="B3261E"/>
                </a:solidFill>
                <a:latin typeface="Calibri" pitchFamily="34" charset="0"/>
                <a:ea typeface="Calibri" pitchFamily="34" charset="-122"/>
                <a:cs typeface="Calibri" pitchFamily="34" charset="-120"/>
              </a:rPr>
              <a:t>BEFORE</a:t>
            </a:r>
            <a:endParaRPr lang="en-US" sz="1050" dirty="0"/>
          </a:p>
        </p:txBody>
      </p:sp>
      <p:sp>
        <p:nvSpPr>
          <p:cNvPr id="6" name="Text 4"/>
          <p:cNvSpPr txBox="1"/>
          <p:nvPr/>
        </p:nvSpPr>
        <p:spPr>
          <a:xfrm>
            <a:off x="694944" y="1828800"/>
            <a:ext cx="3520440" cy="91440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The man could be marked present at Project B, but his roster still said Project A. He kept counting against the site he had left until head office reassigned him by hand — often weeks later.</a:t>
            </a:r>
            <a:endParaRPr lang="en-US" sz="1100" dirty="0"/>
          </a:p>
        </p:txBody>
      </p:sp>
      <p:sp>
        <p:nvSpPr>
          <p:cNvPr id="7" name="Shape 5"/>
          <p:cNvSpPr/>
          <p:nvPr/>
        </p:nvSpPr>
        <p:spPr>
          <a:xfrm>
            <a:off x="4709160" y="1371600"/>
            <a:ext cx="3977640" cy="1481328"/>
          </a:xfrm>
          <a:prstGeom prst="roundRect">
            <a:avLst>
              <a:gd name="adj" fmla="val 5556"/>
            </a:avLst>
          </a:prstGeom>
          <a:solidFill>
            <a:srgbClr val="E9F2ED"/>
          </a:solidFill>
          <a:ln w="9525">
            <a:solidFill>
              <a:srgbClr val="DEE6E1"/>
            </a:solidFill>
            <a:prstDash val="solid"/>
          </a:ln>
        </p:spPr>
      </p:sp>
      <p:sp>
        <p:nvSpPr>
          <p:cNvPr id="8" name="Text 6"/>
          <p:cNvSpPr txBox="1"/>
          <p:nvPr/>
        </p:nvSpPr>
        <p:spPr>
          <a:xfrm>
            <a:off x="4946904" y="1536192"/>
            <a:ext cx="3474720" cy="237744"/>
          </a:xfrm>
          <a:prstGeom prst="rect">
            <a:avLst/>
          </a:prstGeom>
          <a:noFill/>
          <a:ln/>
        </p:spPr>
        <p:txBody>
          <a:bodyPr wrap="square" lIns="0" tIns="0" rIns="0" bIns="0" rtlCol="0" anchor="t"/>
          <a:lstStyle/>
          <a:p>
            <a:pPr algn="l" indent="0" marL="0">
              <a:lnSpc>
                <a:spcPct val="110000"/>
              </a:lnSpc>
              <a:buNone/>
            </a:pPr>
            <a:r>
              <a:rPr lang="en-US" sz="1050" b="1" dirty="0">
                <a:solidFill>
                  <a:srgbClr val="17875E"/>
                </a:solidFill>
                <a:latin typeface="Calibri" pitchFamily="34" charset="0"/>
                <a:ea typeface="Calibri" pitchFamily="34" charset="-122"/>
                <a:cs typeface="Calibri" pitchFamily="34" charset="-120"/>
              </a:rPr>
              <a:t>NOW</a:t>
            </a:r>
            <a:endParaRPr lang="en-US" sz="1050" dirty="0"/>
          </a:p>
        </p:txBody>
      </p:sp>
      <p:sp>
        <p:nvSpPr>
          <p:cNvPr id="9" name="Text 7"/>
          <p:cNvSpPr txBox="1"/>
          <p:nvPr/>
        </p:nvSpPr>
        <p:spPr>
          <a:xfrm>
            <a:off x="4946904" y="1828800"/>
            <a:ext cx="3520440" cy="91440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The foreman who is looking at him raises a transfer. Project B's own timekeeper approves it in one tap and the roster moves across. Head office is not in the loop.</a:t>
            </a:r>
            <a:endParaRPr lang="en-US" sz="1100" dirty="0"/>
          </a:p>
        </p:txBody>
      </p:sp>
      <p:sp>
        <p:nvSpPr>
          <p:cNvPr id="10" name="Shape 8"/>
          <p:cNvSpPr/>
          <p:nvPr/>
        </p:nvSpPr>
        <p:spPr>
          <a:xfrm>
            <a:off x="457200" y="3090672"/>
            <a:ext cx="2578608" cy="960120"/>
          </a:xfrm>
          <a:prstGeom prst="roundRect">
            <a:avLst>
              <a:gd name="adj" fmla="val 8571"/>
            </a:avLst>
          </a:prstGeom>
          <a:solidFill>
            <a:srgbClr val="F5F7F5"/>
          </a:solidFill>
          <a:ln w="9525">
            <a:solidFill>
              <a:srgbClr val="DEE6E1"/>
            </a:solidFill>
            <a:prstDash val="solid"/>
          </a:ln>
        </p:spPr>
      </p:sp>
      <p:sp>
        <p:nvSpPr>
          <p:cNvPr id="11" name="Shape 9"/>
          <p:cNvSpPr/>
          <p:nvPr/>
        </p:nvSpPr>
        <p:spPr>
          <a:xfrm>
            <a:off x="676656" y="3310128"/>
            <a:ext cx="384048" cy="384048"/>
          </a:xfrm>
          <a:prstGeom prst="ellipse">
            <a:avLst/>
          </a:prstGeom>
          <a:solidFill>
            <a:srgbClr val="0B66D6"/>
          </a:solidFill>
          <a:ln w="12700">
            <a:solidFill>
              <a:srgbClr val="0B66D6"/>
            </a:solidFill>
            <a:prstDash val="solid"/>
          </a:ln>
        </p:spPr>
      </p:sp>
      <p:sp>
        <p:nvSpPr>
          <p:cNvPr id="12" name="Text 10"/>
          <p:cNvSpPr txBox="1"/>
          <p:nvPr/>
        </p:nvSpPr>
        <p:spPr>
          <a:xfrm>
            <a:off x="676656" y="33101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1170432" y="3291840"/>
            <a:ext cx="1700784"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Foreman</a:t>
            </a:r>
            <a:endParaRPr lang="en-US" sz="1300" dirty="0"/>
          </a:p>
        </p:txBody>
      </p:sp>
      <p:sp>
        <p:nvSpPr>
          <p:cNvPr id="14" name="Text 12"/>
          <p:cNvSpPr txBox="1"/>
          <p:nvPr/>
        </p:nvSpPr>
        <p:spPr>
          <a:xfrm>
            <a:off x="1170432" y="3547872"/>
            <a:ext cx="1700784" cy="256032"/>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raises the transfer</a:t>
            </a:r>
            <a:endParaRPr lang="en-US" sz="1050" dirty="0"/>
          </a:p>
        </p:txBody>
      </p:sp>
      <p:sp>
        <p:nvSpPr>
          <p:cNvPr id="15" name="Text 13"/>
          <p:cNvSpPr txBox="1"/>
          <p:nvPr/>
        </p:nvSpPr>
        <p:spPr>
          <a:xfrm>
            <a:off x="3035808" y="3319272"/>
            <a:ext cx="237744" cy="457200"/>
          </a:xfrm>
          <a:prstGeom prst="rect">
            <a:avLst/>
          </a:prstGeom>
          <a:noFill/>
          <a:ln/>
        </p:spPr>
        <p:txBody>
          <a:bodyPr wrap="square" lIns="0" tIns="0" rIns="0" bIns="0" rtlCol="0" anchor="ctr"/>
          <a:lstStyle/>
          <a:p>
            <a:pPr algn="ctr" indent="0" marL="0">
              <a:buNone/>
            </a:pPr>
            <a:r>
              <a:rPr lang="en-US" sz="2400" b="1" dirty="0">
                <a:solidFill>
                  <a:srgbClr val="DEE6E1"/>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3282696" y="3090672"/>
            <a:ext cx="2578608" cy="960120"/>
          </a:xfrm>
          <a:prstGeom prst="roundRect">
            <a:avLst>
              <a:gd name="adj" fmla="val 8571"/>
            </a:avLst>
          </a:prstGeom>
          <a:solidFill>
            <a:srgbClr val="F5F7F5"/>
          </a:solidFill>
          <a:ln w="9525">
            <a:solidFill>
              <a:srgbClr val="DEE6E1"/>
            </a:solidFill>
            <a:prstDash val="solid"/>
          </a:ln>
        </p:spPr>
      </p:sp>
      <p:sp>
        <p:nvSpPr>
          <p:cNvPr id="17" name="Shape 15"/>
          <p:cNvSpPr/>
          <p:nvPr/>
        </p:nvSpPr>
        <p:spPr>
          <a:xfrm>
            <a:off x="3502152" y="3310128"/>
            <a:ext cx="384048" cy="384048"/>
          </a:xfrm>
          <a:prstGeom prst="ellipse">
            <a:avLst/>
          </a:prstGeom>
          <a:solidFill>
            <a:srgbClr val="00113D"/>
          </a:solidFill>
          <a:ln w="12700">
            <a:solidFill>
              <a:srgbClr val="00113D"/>
            </a:solidFill>
            <a:prstDash val="solid"/>
          </a:ln>
        </p:spPr>
      </p:sp>
      <p:sp>
        <p:nvSpPr>
          <p:cNvPr id="18" name="Text 16"/>
          <p:cNvSpPr txBox="1"/>
          <p:nvPr/>
        </p:nvSpPr>
        <p:spPr>
          <a:xfrm>
            <a:off x="3502152" y="33101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txBox="1"/>
          <p:nvPr/>
        </p:nvSpPr>
        <p:spPr>
          <a:xfrm>
            <a:off x="3995928" y="3291840"/>
            <a:ext cx="1700784"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Timekeeper</a:t>
            </a:r>
            <a:endParaRPr lang="en-US" sz="1300" dirty="0"/>
          </a:p>
        </p:txBody>
      </p:sp>
      <p:sp>
        <p:nvSpPr>
          <p:cNvPr id="20" name="Text 18"/>
          <p:cNvSpPr txBox="1"/>
          <p:nvPr/>
        </p:nvSpPr>
        <p:spPr>
          <a:xfrm>
            <a:off x="3995928" y="3547872"/>
            <a:ext cx="1700784" cy="256032"/>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approves it</a:t>
            </a:r>
            <a:endParaRPr lang="en-US" sz="1050" dirty="0"/>
          </a:p>
        </p:txBody>
      </p:sp>
      <p:sp>
        <p:nvSpPr>
          <p:cNvPr id="21" name="Text 19"/>
          <p:cNvSpPr txBox="1"/>
          <p:nvPr/>
        </p:nvSpPr>
        <p:spPr>
          <a:xfrm>
            <a:off x="5861304" y="3319272"/>
            <a:ext cx="237744" cy="457200"/>
          </a:xfrm>
          <a:prstGeom prst="rect">
            <a:avLst/>
          </a:prstGeom>
          <a:noFill/>
          <a:ln/>
        </p:spPr>
        <p:txBody>
          <a:bodyPr wrap="square" lIns="0" tIns="0" rIns="0" bIns="0" rtlCol="0" anchor="ctr"/>
          <a:lstStyle/>
          <a:p>
            <a:pPr algn="ctr" indent="0" marL="0">
              <a:buNone/>
            </a:pPr>
            <a:r>
              <a:rPr lang="en-US" sz="2400" b="1" dirty="0">
                <a:solidFill>
                  <a:srgbClr val="DEE6E1"/>
                </a:solidFill>
                <a:latin typeface="Calibri" pitchFamily="34" charset="0"/>
                <a:ea typeface="Calibri" pitchFamily="34" charset="-122"/>
                <a:cs typeface="Calibri" pitchFamily="34" charset="-120"/>
              </a:rPr>
              <a:t>›</a:t>
            </a:r>
            <a:endParaRPr lang="en-US" sz="2400" dirty="0"/>
          </a:p>
        </p:txBody>
      </p:sp>
      <p:sp>
        <p:nvSpPr>
          <p:cNvPr id="22" name="Shape 20"/>
          <p:cNvSpPr/>
          <p:nvPr/>
        </p:nvSpPr>
        <p:spPr>
          <a:xfrm>
            <a:off x="6108192" y="3090672"/>
            <a:ext cx="2578608" cy="960120"/>
          </a:xfrm>
          <a:prstGeom prst="roundRect">
            <a:avLst>
              <a:gd name="adj" fmla="val 8571"/>
            </a:avLst>
          </a:prstGeom>
          <a:solidFill>
            <a:srgbClr val="F5F7F5"/>
          </a:solidFill>
          <a:ln w="9525">
            <a:solidFill>
              <a:srgbClr val="DEE6E1"/>
            </a:solidFill>
            <a:prstDash val="solid"/>
          </a:ln>
        </p:spPr>
      </p:sp>
      <p:sp>
        <p:nvSpPr>
          <p:cNvPr id="23" name="Shape 21"/>
          <p:cNvSpPr/>
          <p:nvPr/>
        </p:nvSpPr>
        <p:spPr>
          <a:xfrm>
            <a:off x="6327648" y="3310128"/>
            <a:ext cx="384048" cy="384048"/>
          </a:xfrm>
          <a:prstGeom prst="ellipse">
            <a:avLst/>
          </a:prstGeom>
          <a:solidFill>
            <a:srgbClr val="17875E"/>
          </a:solidFill>
          <a:ln w="12700">
            <a:solidFill>
              <a:srgbClr val="17875E"/>
            </a:solidFill>
            <a:prstDash val="solid"/>
          </a:ln>
        </p:spPr>
      </p:sp>
      <p:sp>
        <p:nvSpPr>
          <p:cNvPr id="24" name="Text 22"/>
          <p:cNvSpPr txBox="1"/>
          <p:nvPr/>
        </p:nvSpPr>
        <p:spPr>
          <a:xfrm>
            <a:off x="6327648" y="33101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txBox="1"/>
          <p:nvPr/>
        </p:nvSpPr>
        <p:spPr>
          <a:xfrm>
            <a:off x="6821424" y="3291840"/>
            <a:ext cx="1700784"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Roster</a:t>
            </a:r>
            <a:endParaRPr lang="en-US" sz="1300" dirty="0"/>
          </a:p>
        </p:txBody>
      </p:sp>
      <p:sp>
        <p:nvSpPr>
          <p:cNvPr id="26" name="Text 24"/>
          <p:cNvSpPr txBox="1"/>
          <p:nvPr/>
        </p:nvSpPr>
        <p:spPr>
          <a:xfrm>
            <a:off x="6821424" y="3547872"/>
            <a:ext cx="1700784" cy="256032"/>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moves to Project B</a:t>
            </a:r>
            <a:endParaRPr lang="en-US" sz="1050" dirty="0"/>
          </a:p>
        </p:txBody>
      </p:sp>
      <p:sp>
        <p:nvSpPr>
          <p:cNvPr id="27" name="Text 25"/>
          <p:cNvSpPr txBox="1"/>
          <p:nvPr/>
        </p:nvSpPr>
        <p:spPr>
          <a:xfrm>
            <a:off x="457200" y="4206240"/>
            <a:ext cx="8229600" cy="274320"/>
          </a:xfrm>
          <a:prstGeom prst="rect">
            <a:avLst/>
          </a:prstGeom>
          <a:noFill/>
          <a:ln/>
        </p:spPr>
        <p:txBody>
          <a:bodyPr wrap="square" lIns="0" tIns="0" rIns="0" bIns="0" rtlCol="0" anchor="ctr"/>
          <a:lstStyle/>
          <a:p>
            <a:pPr indent="0" marL="0">
              <a:buNone/>
            </a:pPr>
            <a:r>
              <a:rPr lang="en-US" sz="1000" i="1" dirty="0">
                <a:solidFill>
                  <a:srgbClr val="5B6B63"/>
                </a:solidFill>
                <a:latin typeface="Calibri" pitchFamily="34" charset="0"/>
                <a:ea typeface="Calibri" pitchFamily="34" charset="-122"/>
                <a:cs typeface="Calibri" pitchFamily="34" charset="-120"/>
              </a:rPr>
              <a:t>A foreman can only pull a worker towards a project he is assigned to, and cannot approve his own request.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00113D"/>
                </a:solidFill>
                <a:latin typeface="Cambria" pitchFamily="34" charset="0"/>
                <a:ea typeface="Cambria" pitchFamily="34" charset="-122"/>
                <a:cs typeface="Cambria" pitchFamily="34" charset="-120"/>
              </a:rPr>
              <a:t>Month-end in one tap</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Every report below is generated as a single Excel workbook, ready to send</a:t>
            </a:r>
            <a:endParaRPr lang="en-US" sz="1300" dirty="0"/>
          </a:p>
        </p:txBody>
      </p:sp>
      <p:sp>
        <p:nvSpPr>
          <p:cNvPr id="4" name="Shape 2"/>
          <p:cNvSpPr/>
          <p:nvPr/>
        </p:nvSpPr>
        <p:spPr>
          <a:xfrm>
            <a:off x="457200" y="1444752"/>
            <a:ext cx="310896" cy="310896"/>
          </a:xfrm>
          <a:prstGeom prst="ellipse">
            <a:avLst/>
          </a:prstGeom>
          <a:solidFill>
            <a:srgbClr val="0B66D6"/>
          </a:solidFill>
          <a:ln w="12700">
            <a:solidFill>
              <a:srgbClr val="0B66D6"/>
            </a:solidFill>
            <a:prstDash val="solid"/>
          </a:ln>
        </p:spPr>
      </p:sp>
      <p:sp>
        <p:nvSpPr>
          <p:cNvPr id="5" name="Text 3"/>
          <p:cNvSpPr txBox="1"/>
          <p:nvPr/>
        </p:nvSpPr>
        <p:spPr>
          <a:xfrm>
            <a:off x="457200" y="14447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914400" y="1371600"/>
            <a:ext cx="3520440"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Attendance</a:t>
            </a:r>
            <a:endParaRPr lang="en-US" sz="1300" dirty="0"/>
          </a:p>
        </p:txBody>
      </p:sp>
      <p:sp>
        <p:nvSpPr>
          <p:cNvPr id="7" name="Text 5"/>
          <p:cNvSpPr txBox="1"/>
          <p:nvPr/>
        </p:nvSpPr>
        <p:spPr>
          <a:xfrm>
            <a:off x="914400" y="1645920"/>
            <a:ext cx="3520440" cy="512064"/>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One sheet per project — every IN and OUT with time and shift</a:t>
            </a:r>
            <a:endParaRPr lang="en-US" sz="1050" dirty="0"/>
          </a:p>
        </p:txBody>
      </p:sp>
      <p:sp>
        <p:nvSpPr>
          <p:cNvPr id="8" name="Shape 6"/>
          <p:cNvSpPr/>
          <p:nvPr/>
        </p:nvSpPr>
        <p:spPr>
          <a:xfrm>
            <a:off x="4709160" y="1444752"/>
            <a:ext cx="310896" cy="310896"/>
          </a:xfrm>
          <a:prstGeom prst="ellipse">
            <a:avLst/>
          </a:prstGeom>
          <a:solidFill>
            <a:srgbClr val="00113D"/>
          </a:solidFill>
          <a:ln w="12700">
            <a:solidFill>
              <a:srgbClr val="00113D"/>
            </a:solidFill>
            <a:prstDash val="solid"/>
          </a:ln>
        </p:spPr>
      </p:sp>
      <p:sp>
        <p:nvSpPr>
          <p:cNvPr id="9" name="Text 7"/>
          <p:cNvSpPr txBox="1"/>
          <p:nvPr/>
        </p:nvSpPr>
        <p:spPr>
          <a:xfrm>
            <a:off x="4709160" y="14447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5166360" y="1371600"/>
            <a:ext cx="3520440"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Project Summary</a:t>
            </a:r>
            <a:endParaRPr lang="en-US" sz="1300" dirty="0"/>
          </a:p>
        </p:txBody>
      </p:sp>
      <p:sp>
        <p:nvSpPr>
          <p:cNvPr id="11" name="Text 9"/>
          <p:cNvSpPr txBox="1"/>
          <p:nvPr/>
        </p:nvSpPr>
        <p:spPr>
          <a:xfrm>
            <a:off x="5166360" y="1645920"/>
            <a:ext cx="3520440" cy="512064"/>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Headcount and attendance by project, side by side</a:t>
            </a:r>
            <a:endParaRPr lang="en-US" sz="1050" dirty="0"/>
          </a:p>
        </p:txBody>
      </p:sp>
      <p:sp>
        <p:nvSpPr>
          <p:cNvPr id="12" name="Shape 10"/>
          <p:cNvSpPr/>
          <p:nvPr/>
        </p:nvSpPr>
        <p:spPr>
          <a:xfrm>
            <a:off x="457200" y="2404872"/>
            <a:ext cx="310896" cy="310896"/>
          </a:xfrm>
          <a:prstGeom prst="ellipse">
            <a:avLst/>
          </a:prstGeom>
          <a:solidFill>
            <a:srgbClr val="0B66D6"/>
          </a:solidFill>
          <a:ln w="12700">
            <a:solidFill>
              <a:srgbClr val="0B66D6"/>
            </a:solidFill>
            <a:prstDash val="solid"/>
          </a:ln>
        </p:spPr>
      </p:sp>
      <p:sp>
        <p:nvSpPr>
          <p:cNvPr id="13" name="Text 11"/>
          <p:cNvSpPr txBox="1"/>
          <p:nvPr/>
        </p:nvSpPr>
        <p:spPr>
          <a:xfrm>
            <a:off x="457200" y="24048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914400" y="2331720"/>
            <a:ext cx="3520440"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Trade-wise Summary</a:t>
            </a:r>
            <a:endParaRPr lang="en-US" sz="1300" dirty="0"/>
          </a:p>
        </p:txBody>
      </p:sp>
      <p:sp>
        <p:nvSpPr>
          <p:cNvPr id="15" name="Text 13"/>
          <p:cNvSpPr txBox="1"/>
          <p:nvPr/>
        </p:nvSpPr>
        <p:spPr>
          <a:xfrm>
            <a:off x="914400" y="2606040"/>
            <a:ext cx="3520440" cy="512064"/>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Manpower by trade, per project or across all projects</a:t>
            </a:r>
            <a:endParaRPr lang="en-US" sz="1050" dirty="0"/>
          </a:p>
        </p:txBody>
      </p:sp>
      <p:sp>
        <p:nvSpPr>
          <p:cNvPr id="16" name="Shape 14"/>
          <p:cNvSpPr/>
          <p:nvPr/>
        </p:nvSpPr>
        <p:spPr>
          <a:xfrm>
            <a:off x="4709160" y="2404872"/>
            <a:ext cx="310896" cy="310896"/>
          </a:xfrm>
          <a:prstGeom prst="ellipse">
            <a:avLst/>
          </a:prstGeom>
          <a:solidFill>
            <a:srgbClr val="00113D"/>
          </a:solidFill>
          <a:ln w="12700">
            <a:solidFill>
              <a:srgbClr val="00113D"/>
            </a:solidFill>
            <a:prstDash val="solid"/>
          </a:ln>
        </p:spPr>
      </p:sp>
      <p:sp>
        <p:nvSpPr>
          <p:cNvPr id="17" name="Text 15"/>
          <p:cNvSpPr txBox="1"/>
          <p:nvPr/>
        </p:nvSpPr>
        <p:spPr>
          <a:xfrm>
            <a:off x="4709160" y="24048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5166360" y="2331720"/>
            <a:ext cx="3520440"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Monthly Hours</a:t>
            </a:r>
            <a:endParaRPr lang="en-US" sz="1300" dirty="0"/>
          </a:p>
        </p:txBody>
      </p:sp>
      <p:sp>
        <p:nvSpPr>
          <p:cNvPr id="19" name="Text 17"/>
          <p:cNvSpPr txBox="1"/>
          <p:nvPr/>
        </p:nvSpPr>
        <p:spPr>
          <a:xfrm>
            <a:off x="5166360" y="2606040"/>
            <a:ext cx="3520440" cy="512064"/>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Hours worked per worker across the month</a:t>
            </a:r>
            <a:endParaRPr lang="en-US" sz="1050" dirty="0"/>
          </a:p>
        </p:txBody>
      </p:sp>
      <p:sp>
        <p:nvSpPr>
          <p:cNvPr id="20" name="Shape 18"/>
          <p:cNvSpPr/>
          <p:nvPr/>
        </p:nvSpPr>
        <p:spPr>
          <a:xfrm>
            <a:off x="457200" y="3364992"/>
            <a:ext cx="310896" cy="310896"/>
          </a:xfrm>
          <a:prstGeom prst="ellipse">
            <a:avLst/>
          </a:prstGeom>
          <a:solidFill>
            <a:srgbClr val="0B66D6"/>
          </a:solidFill>
          <a:ln w="12700">
            <a:solidFill>
              <a:srgbClr val="0B66D6"/>
            </a:solidFill>
            <a:prstDash val="solid"/>
          </a:ln>
        </p:spPr>
      </p:sp>
      <p:sp>
        <p:nvSpPr>
          <p:cNvPr id="21" name="Text 19"/>
          <p:cNvSpPr txBox="1"/>
          <p:nvPr/>
        </p:nvSpPr>
        <p:spPr>
          <a:xfrm>
            <a:off x="457200" y="33649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txBox="1"/>
          <p:nvPr/>
        </p:nvSpPr>
        <p:spPr>
          <a:xfrm>
            <a:off x="914400" y="3291840"/>
            <a:ext cx="3520440"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Daily Manpower</a:t>
            </a:r>
            <a:endParaRPr lang="en-US" sz="1300" dirty="0"/>
          </a:p>
        </p:txBody>
      </p:sp>
      <p:sp>
        <p:nvSpPr>
          <p:cNvPr id="23" name="Text 21"/>
          <p:cNvSpPr txBox="1"/>
          <p:nvPr/>
        </p:nvSpPr>
        <p:spPr>
          <a:xfrm>
            <a:off x="914400" y="3566160"/>
            <a:ext cx="3520440" cy="512064"/>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Present, absent, on leave and late, by project and trade</a:t>
            </a:r>
            <a:endParaRPr lang="en-US" sz="1050" dirty="0"/>
          </a:p>
        </p:txBody>
      </p:sp>
      <p:sp>
        <p:nvSpPr>
          <p:cNvPr id="24" name="Shape 22"/>
          <p:cNvSpPr/>
          <p:nvPr/>
        </p:nvSpPr>
        <p:spPr>
          <a:xfrm>
            <a:off x="4709160" y="3364992"/>
            <a:ext cx="310896" cy="310896"/>
          </a:xfrm>
          <a:prstGeom prst="ellipse">
            <a:avLst/>
          </a:prstGeom>
          <a:solidFill>
            <a:srgbClr val="00113D"/>
          </a:solidFill>
          <a:ln w="12700">
            <a:solidFill>
              <a:srgbClr val="00113D"/>
            </a:solidFill>
            <a:prstDash val="solid"/>
          </a:ln>
        </p:spPr>
      </p:sp>
      <p:sp>
        <p:nvSpPr>
          <p:cNvPr id="25" name="Text 23"/>
          <p:cNvSpPr txBox="1"/>
          <p:nvPr/>
        </p:nvSpPr>
        <p:spPr>
          <a:xfrm>
            <a:off x="4709160" y="33649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4"/>
          <p:cNvSpPr txBox="1"/>
          <p:nvPr/>
        </p:nvSpPr>
        <p:spPr>
          <a:xfrm>
            <a:off x="5166360" y="3291840"/>
            <a:ext cx="3520440"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Absent Report</a:t>
            </a:r>
            <a:endParaRPr lang="en-US" sz="1300" dirty="0"/>
          </a:p>
        </p:txBody>
      </p:sp>
      <p:sp>
        <p:nvSpPr>
          <p:cNvPr id="27" name="Text 25"/>
          <p:cNvSpPr txBox="1"/>
          <p:nvPr/>
        </p:nvSpPr>
        <p:spPr>
          <a:xfrm>
            <a:off x="5166360" y="3566160"/>
            <a:ext cx="3520440" cy="512064"/>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Who was absent, with approved leave and public holidays excluded</a:t>
            </a:r>
            <a:endParaRPr lang="en-US" sz="1050" dirty="0"/>
          </a:p>
        </p:txBody>
      </p:sp>
      <p:sp>
        <p:nvSpPr>
          <p:cNvPr id="28" name="Shape 26"/>
          <p:cNvSpPr/>
          <p:nvPr/>
        </p:nvSpPr>
        <p:spPr>
          <a:xfrm>
            <a:off x="457200" y="4315968"/>
            <a:ext cx="8229600" cy="603504"/>
          </a:xfrm>
          <a:prstGeom prst="roundRect">
            <a:avLst>
              <a:gd name="adj" fmla="val 13636"/>
            </a:avLst>
          </a:prstGeom>
          <a:solidFill>
            <a:srgbClr val="E8F1FC"/>
          </a:solidFill>
          <a:ln w="9525">
            <a:solidFill>
              <a:srgbClr val="DEE6E1"/>
            </a:solidFill>
            <a:prstDash val="solid"/>
          </a:ln>
        </p:spPr>
      </p:sp>
      <p:sp>
        <p:nvSpPr>
          <p:cNvPr id="29" name="Text 27"/>
          <p:cNvSpPr txBox="1"/>
          <p:nvPr/>
        </p:nvSpPr>
        <p:spPr>
          <a:xfrm>
            <a:off x="713232" y="4462272"/>
            <a:ext cx="7717536" cy="329184"/>
          </a:xfrm>
          <a:prstGeom prst="rect">
            <a:avLst/>
          </a:prstGeom>
          <a:noFill/>
          <a:ln/>
        </p:spPr>
        <p:txBody>
          <a:bodyPr wrap="square" lIns="0" tIns="0" rIns="0" bIns="0" rtlCol="0" anchor="t"/>
          <a:lstStyle/>
          <a:p>
            <a:pPr algn="l" indent="0" marL="0">
              <a:lnSpc>
                <a:spcPct val="110000"/>
              </a:lnSpc>
              <a:buNone/>
            </a:pPr>
            <a:r>
              <a:rPr lang="en-US" sz="1100" b="1" dirty="0">
                <a:solidFill>
                  <a:srgbClr val="00113D"/>
                </a:solidFill>
                <a:latin typeface="Calibri" pitchFamily="34" charset="0"/>
                <a:ea typeface="Calibri" pitchFamily="34" charset="-122"/>
                <a:cs typeface="Calibri" pitchFamily="34" charset="-120"/>
              </a:rPr>
              <a:t>Reports respect the same access rules — a timekeeper's export contains their projects only, never the whole company.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00113D"/>
                </a:solidFill>
                <a:latin typeface="Cambria" pitchFamily="34" charset="0"/>
                <a:ea typeface="Cambria" pitchFamily="34" charset="-122"/>
                <a:cs typeface="Cambria" pitchFamily="34" charset="-120"/>
              </a:rPr>
              <a:t>The whole workforce on one screen</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Live figures for any date and any project, without waiting for a report</a:t>
            </a:r>
            <a:endParaRPr lang="en-US" sz="1300" dirty="0"/>
          </a:p>
        </p:txBody>
      </p:sp>
      <p:sp>
        <p:nvSpPr>
          <p:cNvPr id="4" name="Shape 2"/>
          <p:cNvSpPr/>
          <p:nvPr/>
        </p:nvSpPr>
        <p:spPr>
          <a:xfrm>
            <a:off x="457200" y="1389888"/>
            <a:ext cx="1280160" cy="786384"/>
          </a:xfrm>
          <a:prstGeom prst="roundRect">
            <a:avLst>
              <a:gd name="adj" fmla="val 10465"/>
            </a:avLst>
          </a:prstGeom>
          <a:solidFill>
            <a:srgbClr val="F5F7F5"/>
          </a:solidFill>
          <a:ln w="9525">
            <a:solidFill>
              <a:srgbClr val="DEE6E1"/>
            </a:solidFill>
            <a:prstDash val="solid"/>
          </a:ln>
        </p:spPr>
      </p:sp>
      <p:sp>
        <p:nvSpPr>
          <p:cNvPr id="5" name="Shape 3"/>
          <p:cNvSpPr/>
          <p:nvPr/>
        </p:nvSpPr>
        <p:spPr>
          <a:xfrm>
            <a:off x="585216" y="1536192"/>
            <a:ext cx="146304" cy="146304"/>
          </a:xfrm>
          <a:prstGeom prst="ellipse">
            <a:avLst/>
          </a:prstGeom>
          <a:solidFill>
            <a:srgbClr val="17875E"/>
          </a:solidFill>
          <a:ln w="12700">
            <a:solidFill>
              <a:srgbClr val="17875E"/>
            </a:solidFill>
            <a:prstDash val="solid"/>
          </a:ln>
        </p:spPr>
      </p:sp>
      <p:sp>
        <p:nvSpPr>
          <p:cNvPr id="6" name="Text 4"/>
          <p:cNvSpPr txBox="1"/>
          <p:nvPr/>
        </p:nvSpPr>
        <p:spPr>
          <a:xfrm>
            <a:off x="585216" y="1847088"/>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Present</a:t>
            </a:r>
            <a:endParaRPr lang="en-US" sz="950" dirty="0"/>
          </a:p>
        </p:txBody>
      </p:sp>
      <p:sp>
        <p:nvSpPr>
          <p:cNvPr id="7" name="Shape 5"/>
          <p:cNvSpPr/>
          <p:nvPr/>
        </p:nvSpPr>
        <p:spPr>
          <a:xfrm>
            <a:off x="1847088" y="1389888"/>
            <a:ext cx="1280160" cy="786384"/>
          </a:xfrm>
          <a:prstGeom prst="roundRect">
            <a:avLst>
              <a:gd name="adj" fmla="val 10465"/>
            </a:avLst>
          </a:prstGeom>
          <a:solidFill>
            <a:srgbClr val="F5F7F5"/>
          </a:solidFill>
          <a:ln w="9525">
            <a:solidFill>
              <a:srgbClr val="DEE6E1"/>
            </a:solidFill>
            <a:prstDash val="solid"/>
          </a:ln>
        </p:spPr>
      </p:sp>
      <p:sp>
        <p:nvSpPr>
          <p:cNvPr id="8" name="Shape 6"/>
          <p:cNvSpPr/>
          <p:nvPr/>
        </p:nvSpPr>
        <p:spPr>
          <a:xfrm>
            <a:off x="1975104" y="1536192"/>
            <a:ext cx="146304" cy="146304"/>
          </a:xfrm>
          <a:prstGeom prst="ellipse">
            <a:avLst/>
          </a:prstGeom>
          <a:solidFill>
            <a:srgbClr val="B3261E"/>
          </a:solidFill>
          <a:ln w="12700">
            <a:solidFill>
              <a:srgbClr val="B3261E"/>
            </a:solidFill>
            <a:prstDash val="solid"/>
          </a:ln>
        </p:spPr>
      </p:sp>
      <p:sp>
        <p:nvSpPr>
          <p:cNvPr id="9" name="Text 7"/>
          <p:cNvSpPr txBox="1"/>
          <p:nvPr/>
        </p:nvSpPr>
        <p:spPr>
          <a:xfrm>
            <a:off x="1975104" y="1847088"/>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Absent</a:t>
            </a:r>
            <a:endParaRPr lang="en-US" sz="950" dirty="0"/>
          </a:p>
        </p:txBody>
      </p:sp>
      <p:sp>
        <p:nvSpPr>
          <p:cNvPr id="10" name="Shape 8"/>
          <p:cNvSpPr/>
          <p:nvPr/>
        </p:nvSpPr>
        <p:spPr>
          <a:xfrm>
            <a:off x="3236976" y="1389888"/>
            <a:ext cx="1280160" cy="786384"/>
          </a:xfrm>
          <a:prstGeom prst="roundRect">
            <a:avLst>
              <a:gd name="adj" fmla="val 10465"/>
            </a:avLst>
          </a:prstGeom>
          <a:solidFill>
            <a:srgbClr val="F5F7F5"/>
          </a:solidFill>
          <a:ln w="9525">
            <a:solidFill>
              <a:srgbClr val="DEE6E1"/>
            </a:solidFill>
            <a:prstDash val="solid"/>
          </a:ln>
        </p:spPr>
      </p:sp>
      <p:sp>
        <p:nvSpPr>
          <p:cNvPr id="11" name="Shape 9"/>
          <p:cNvSpPr/>
          <p:nvPr/>
        </p:nvSpPr>
        <p:spPr>
          <a:xfrm>
            <a:off x="3364992" y="1536192"/>
            <a:ext cx="146304" cy="146304"/>
          </a:xfrm>
          <a:prstGeom prst="ellipse">
            <a:avLst/>
          </a:prstGeom>
          <a:solidFill>
            <a:srgbClr val="0378E2"/>
          </a:solidFill>
          <a:ln w="12700">
            <a:solidFill>
              <a:srgbClr val="0378E2"/>
            </a:solidFill>
            <a:prstDash val="solid"/>
          </a:ln>
        </p:spPr>
      </p:sp>
      <p:sp>
        <p:nvSpPr>
          <p:cNvPr id="12" name="Text 10"/>
          <p:cNvSpPr txBox="1"/>
          <p:nvPr/>
        </p:nvSpPr>
        <p:spPr>
          <a:xfrm>
            <a:off x="3364992" y="1847088"/>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On Leave</a:t>
            </a:r>
            <a:endParaRPr lang="en-US" sz="950" dirty="0"/>
          </a:p>
        </p:txBody>
      </p:sp>
      <p:sp>
        <p:nvSpPr>
          <p:cNvPr id="13" name="Shape 11"/>
          <p:cNvSpPr/>
          <p:nvPr/>
        </p:nvSpPr>
        <p:spPr>
          <a:xfrm>
            <a:off x="4626864" y="1389888"/>
            <a:ext cx="1280160" cy="786384"/>
          </a:xfrm>
          <a:prstGeom prst="roundRect">
            <a:avLst>
              <a:gd name="adj" fmla="val 10465"/>
            </a:avLst>
          </a:prstGeom>
          <a:solidFill>
            <a:srgbClr val="F5F7F5"/>
          </a:solidFill>
          <a:ln w="9525">
            <a:solidFill>
              <a:srgbClr val="DEE6E1"/>
            </a:solidFill>
            <a:prstDash val="solid"/>
          </a:ln>
        </p:spPr>
      </p:sp>
      <p:sp>
        <p:nvSpPr>
          <p:cNvPr id="14" name="Shape 12"/>
          <p:cNvSpPr/>
          <p:nvPr/>
        </p:nvSpPr>
        <p:spPr>
          <a:xfrm>
            <a:off x="4754880" y="1536192"/>
            <a:ext cx="146304" cy="146304"/>
          </a:xfrm>
          <a:prstGeom prst="ellipse">
            <a:avLst/>
          </a:prstGeom>
          <a:solidFill>
            <a:srgbClr val="B8842E"/>
          </a:solidFill>
          <a:ln w="12700">
            <a:solidFill>
              <a:srgbClr val="B8842E"/>
            </a:solidFill>
            <a:prstDash val="solid"/>
          </a:ln>
        </p:spPr>
      </p:sp>
      <p:sp>
        <p:nvSpPr>
          <p:cNvPr id="15" name="Text 13"/>
          <p:cNvSpPr txBox="1"/>
          <p:nvPr/>
        </p:nvSpPr>
        <p:spPr>
          <a:xfrm>
            <a:off x="4754880" y="1847088"/>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Late</a:t>
            </a:r>
            <a:endParaRPr lang="en-US" sz="950" dirty="0"/>
          </a:p>
        </p:txBody>
      </p:sp>
      <p:sp>
        <p:nvSpPr>
          <p:cNvPr id="16" name="Shape 14"/>
          <p:cNvSpPr/>
          <p:nvPr/>
        </p:nvSpPr>
        <p:spPr>
          <a:xfrm>
            <a:off x="6016752" y="1389888"/>
            <a:ext cx="1280160" cy="786384"/>
          </a:xfrm>
          <a:prstGeom prst="roundRect">
            <a:avLst>
              <a:gd name="adj" fmla="val 10465"/>
            </a:avLst>
          </a:prstGeom>
          <a:solidFill>
            <a:srgbClr val="F5F7F5"/>
          </a:solidFill>
          <a:ln w="9525">
            <a:solidFill>
              <a:srgbClr val="DEE6E1"/>
            </a:solidFill>
            <a:prstDash val="solid"/>
          </a:ln>
        </p:spPr>
      </p:sp>
      <p:sp>
        <p:nvSpPr>
          <p:cNvPr id="17" name="Shape 15"/>
          <p:cNvSpPr/>
          <p:nvPr/>
        </p:nvSpPr>
        <p:spPr>
          <a:xfrm>
            <a:off x="6144768" y="1536192"/>
            <a:ext cx="146304" cy="146304"/>
          </a:xfrm>
          <a:prstGeom prst="ellipse">
            <a:avLst/>
          </a:prstGeom>
          <a:solidFill>
            <a:srgbClr val="5B6B63"/>
          </a:solidFill>
          <a:ln w="12700">
            <a:solidFill>
              <a:srgbClr val="5B6B63"/>
            </a:solidFill>
            <a:prstDash val="solid"/>
          </a:ln>
        </p:spPr>
      </p:sp>
      <p:sp>
        <p:nvSpPr>
          <p:cNvPr id="18" name="Text 16"/>
          <p:cNvSpPr txBox="1"/>
          <p:nvPr/>
        </p:nvSpPr>
        <p:spPr>
          <a:xfrm>
            <a:off x="6144768" y="1847088"/>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Checked Out</a:t>
            </a:r>
            <a:endParaRPr lang="en-US" sz="950" dirty="0"/>
          </a:p>
        </p:txBody>
      </p:sp>
      <p:sp>
        <p:nvSpPr>
          <p:cNvPr id="19" name="Shape 17"/>
          <p:cNvSpPr/>
          <p:nvPr/>
        </p:nvSpPr>
        <p:spPr>
          <a:xfrm>
            <a:off x="7406640" y="1389888"/>
            <a:ext cx="1280160" cy="786384"/>
          </a:xfrm>
          <a:prstGeom prst="roundRect">
            <a:avLst>
              <a:gd name="adj" fmla="val 10465"/>
            </a:avLst>
          </a:prstGeom>
          <a:solidFill>
            <a:srgbClr val="F5F7F5"/>
          </a:solidFill>
          <a:ln w="9525">
            <a:solidFill>
              <a:srgbClr val="DEE6E1"/>
            </a:solidFill>
            <a:prstDash val="solid"/>
          </a:ln>
        </p:spPr>
      </p:sp>
      <p:sp>
        <p:nvSpPr>
          <p:cNvPr id="20" name="Shape 18"/>
          <p:cNvSpPr/>
          <p:nvPr/>
        </p:nvSpPr>
        <p:spPr>
          <a:xfrm>
            <a:off x="7534656" y="1536192"/>
            <a:ext cx="146304" cy="146304"/>
          </a:xfrm>
          <a:prstGeom prst="ellipse">
            <a:avLst/>
          </a:prstGeom>
          <a:solidFill>
            <a:srgbClr val="B3261E"/>
          </a:solidFill>
          <a:ln w="12700">
            <a:solidFill>
              <a:srgbClr val="B3261E"/>
            </a:solidFill>
            <a:prstDash val="solid"/>
          </a:ln>
        </p:spPr>
      </p:sp>
      <p:sp>
        <p:nvSpPr>
          <p:cNvPr id="21" name="Text 19"/>
          <p:cNvSpPr txBox="1"/>
          <p:nvPr/>
        </p:nvSpPr>
        <p:spPr>
          <a:xfrm>
            <a:off x="7534656" y="1847088"/>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Blocked</a:t>
            </a:r>
            <a:endParaRPr lang="en-US" sz="950" dirty="0"/>
          </a:p>
        </p:txBody>
      </p:sp>
      <p:sp>
        <p:nvSpPr>
          <p:cNvPr id="22" name="Shape 20"/>
          <p:cNvSpPr/>
          <p:nvPr/>
        </p:nvSpPr>
        <p:spPr>
          <a:xfrm>
            <a:off x="457200" y="2286000"/>
            <a:ext cx="1280160" cy="786384"/>
          </a:xfrm>
          <a:prstGeom prst="roundRect">
            <a:avLst>
              <a:gd name="adj" fmla="val 10465"/>
            </a:avLst>
          </a:prstGeom>
          <a:solidFill>
            <a:srgbClr val="F5F7F5"/>
          </a:solidFill>
          <a:ln w="9525">
            <a:solidFill>
              <a:srgbClr val="DEE6E1"/>
            </a:solidFill>
            <a:prstDash val="solid"/>
          </a:ln>
        </p:spPr>
      </p:sp>
      <p:sp>
        <p:nvSpPr>
          <p:cNvPr id="23" name="Shape 21"/>
          <p:cNvSpPr/>
          <p:nvPr/>
        </p:nvSpPr>
        <p:spPr>
          <a:xfrm>
            <a:off x="585216" y="2432304"/>
            <a:ext cx="146304" cy="146304"/>
          </a:xfrm>
          <a:prstGeom prst="ellipse">
            <a:avLst/>
          </a:prstGeom>
          <a:solidFill>
            <a:srgbClr val="00113D"/>
          </a:solidFill>
          <a:ln w="12700">
            <a:solidFill>
              <a:srgbClr val="00113D"/>
            </a:solidFill>
            <a:prstDash val="solid"/>
          </a:ln>
        </p:spPr>
      </p:sp>
      <p:sp>
        <p:nvSpPr>
          <p:cNvPr id="24" name="Text 22"/>
          <p:cNvSpPr txBox="1"/>
          <p:nvPr/>
        </p:nvSpPr>
        <p:spPr>
          <a:xfrm>
            <a:off x="585216" y="2743200"/>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Total Staff</a:t>
            </a:r>
            <a:endParaRPr lang="en-US" sz="950" dirty="0"/>
          </a:p>
        </p:txBody>
      </p:sp>
      <p:sp>
        <p:nvSpPr>
          <p:cNvPr id="25" name="Shape 23"/>
          <p:cNvSpPr/>
          <p:nvPr/>
        </p:nvSpPr>
        <p:spPr>
          <a:xfrm>
            <a:off x="1847088" y="2286000"/>
            <a:ext cx="1280160" cy="786384"/>
          </a:xfrm>
          <a:prstGeom prst="roundRect">
            <a:avLst>
              <a:gd name="adj" fmla="val 10465"/>
            </a:avLst>
          </a:prstGeom>
          <a:solidFill>
            <a:srgbClr val="F5F7F5"/>
          </a:solidFill>
          <a:ln w="9525">
            <a:solidFill>
              <a:srgbClr val="DEE6E1"/>
            </a:solidFill>
            <a:prstDash val="solid"/>
          </a:ln>
        </p:spPr>
      </p:sp>
      <p:sp>
        <p:nvSpPr>
          <p:cNvPr id="26" name="Shape 24"/>
          <p:cNvSpPr/>
          <p:nvPr/>
        </p:nvSpPr>
        <p:spPr>
          <a:xfrm>
            <a:off x="1975104" y="2432304"/>
            <a:ext cx="146304" cy="146304"/>
          </a:xfrm>
          <a:prstGeom prst="ellipse">
            <a:avLst/>
          </a:prstGeom>
          <a:solidFill>
            <a:srgbClr val="17875E"/>
          </a:solidFill>
          <a:ln w="12700">
            <a:solidFill>
              <a:srgbClr val="17875E"/>
            </a:solidFill>
            <a:prstDash val="solid"/>
          </a:ln>
        </p:spPr>
      </p:sp>
      <p:sp>
        <p:nvSpPr>
          <p:cNvPr id="27" name="Text 25"/>
          <p:cNvSpPr txBox="1"/>
          <p:nvPr/>
        </p:nvSpPr>
        <p:spPr>
          <a:xfrm>
            <a:off x="1975104" y="2743200"/>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KTC</a:t>
            </a:r>
            <a:endParaRPr lang="en-US" sz="950" dirty="0"/>
          </a:p>
        </p:txBody>
      </p:sp>
      <p:sp>
        <p:nvSpPr>
          <p:cNvPr id="28" name="Shape 26"/>
          <p:cNvSpPr/>
          <p:nvPr/>
        </p:nvSpPr>
        <p:spPr>
          <a:xfrm>
            <a:off x="3236976" y="2286000"/>
            <a:ext cx="1280160" cy="786384"/>
          </a:xfrm>
          <a:prstGeom prst="roundRect">
            <a:avLst>
              <a:gd name="adj" fmla="val 10465"/>
            </a:avLst>
          </a:prstGeom>
          <a:solidFill>
            <a:srgbClr val="F5F7F5"/>
          </a:solidFill>
          <a:ln w="9525">
            <a:solidFill>
              <a:srgbClr val="DEE6E1"/>
            </a:solidFill>
            <a:prstDash val="solid"/>
          </a:ln>
        </p:spPr>
      </p:sp>
      <p:sp>
        <p:nvSpPr>
          <p:cNvPr id="29" name="Shape 27"/>
          <p:cNvSpPr/>
          <p:nvPr/>
        </p:nvSpPr>
        <p:spPr>
          <a:xfrm>
            <a:off x="3364992" y="2432304"/>
            <a:ext cx="146304" cy="146304"/>
          </a:xfrm>
          <a:prstGeom prst="ellipse">
            <a:avLst/>
          </a:prstGeom>
          <a:solidFill>
            <a:srgbClr val="B8842E"/>
          </a:solidFill>
          <a:ln w="12700">
            <a:solidFill>
              <a:srgbClr val="B8842E"/>
            </a:solidFill>
            <a:prstDash val="solid"/>
          </a:ln>
        </p:spPr>
      </p:sp>
      <p:sp>
        <p:nvSpPr>
          <p:cNvPr id="30" name="Text 28"/>
          <p:cNvSpPr txBox="1"/>
          <p:nvPr/>
        </p:nvSpPr>
        <p:spPr>
          <a:xfrm>
            <a:off x="3364992" y="2743200"/>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Supplier</a:t>
            </a:r>
            <a:endParaRPr lang="en-US" sz="950" dirty="0"/>
          </a:p>
        </p:txBody>
      </p:sp>
      <p:sp>
        <p:nvSpPr>
          <p:cNvPr id="31" name="Shape 29"/>
          <p:cNvSpPr/>
          <p:nvPr/>
        </p:nvSpPr>
        <p:spPr>
          <a:xfrm>
            <a:off x="4626864" y="2286000"/>
            <a:ext cx="1280160" cy="786384"/>
          </a:xfrm>
          <a:prstGeom prst="roundRect">
            <a:avLst>
              <a:gd name="adj" fmla="val 10465"/>
            </a:avLst>
          </a:prstGeom>
          <a:solidFill>
            <a:srgbClr val="F5F7F5"/>
          </a:solidFill>
          <a:ln w="9525">
            <a:solidFill>
              <a:srgbClr val="DEE6E1"/>
            </a:solidFill>
            <a:prstDash val="solid"/>
          </a:ln>
        </p:spPr>
      </p:sp>
      <p:sp>
        <p:nvSpPr>
          <p:cNvPr id="32" name="Shape 30"/>
          <p:cNvSpPr/>
          <p:nvPr/>
        </p:nvSpPr>
        <p:spPr>
          <a:xfrm>
            <a:off x="4754880" y="2432304"/>
            <a:ext cx="146304" cy="146304"/>
          </a:xfrm>
          <a:prstGeom prst="ellipse">
            <a:avLst/>
          </a:prstGeom>
          <a:solidFill>
            <a:srgbClr val="17875E"/>
          </a:solidFill>
          <a:ln w="12700">
            <a:solidFill>
              <a:srgbClr val="17875E"/>
            </a:solidFill>
            <a:prstDash val="solid"/>
          </a:ln>
        </p:spPr>
      </p:sp>
      <p:sp>
        <p:nvSpPr>
          <p:cNvPr id="33" name="Text 31"/>
          <p:cNvSpPr txBox="1"/>
          <p:nvPr/>
        </p:nvSpPr>
        <p:spPr>
          <a:xfrm>
            <a:off x="4754880" y="2743200"/>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Active Projects</a:t>
            </a:r>
            <a:endParaRPr lang="en-US" sz="950" dirty="0"/>
          </a:p>
        </p:txBody>
      </p:sp>
      <p:sp>
        <p:nvSpPr>
          <p:cNvPr id="34" name="Shape 32"/>
          <p:cNvSpPr/>
          <p:nvPr/>
        </p:nvSpPr>
        <p:spPr>
          <a:xfrm>
            <a:off x="6016752" y="2286000"/>
            <a:ext cx="1280160" cy="786384"/>
          </a:xfrm>
          <a:prstGeom prst="roundRect">
            <a:avLst>
              <a:gd name="adj" fmla="val 10465"/>
            </a:avLst>
          </a:prstGeom>
          <a:solidFill>
            <a:srgbClr val="F5F7F5"/>
          </a:solidFill>
          <a:ln w="9525">
            <a:solidFill>
              <a:srgbClr val="DEE6E1"/>
            </a:solidFill>
            <a:prstDash val="solid"/>
          </a:ln>
        </p:spPr>
      </p:sp>
      <p:sp>
        <p:nvSpPr>
          <p:cNvPr id="35" name="Shape 33"/>
          <p:cNvSpPr/>
          <p:nvPr/>
        </p:nvSpPr>
        <p:spPr>
          <a:xfrm>
            <a:off x="6144768" y="2432304"/>
            <a:ext cx="146304" cy="146304"/>
          </a:xfrm>
          <a:prstGeom prst="ellipse">
            <a:avLst/>
          </a:prstGeom>
          <a:solidFill>
            <a:srgbClr val="5B6B63"/>
          </a:solidFill>
          <a:ln w="12700">
            <a:solidFill>
              <a:srgbClr val="5B6B63"/>
            </a:solidFill>
            <a:prstDash val="solid"/>
          </a:ln>
        </p:spPr>
      </p:sp>
      <p:sp>
        <p:nvSpPr>
          <p:cNvPr id="36" name="Text 34"/>
          <p:cNvSpPr txBox="1"/>
          <p:nvPr/>
        </p:nvSpPr>
        <p:spPr>
          <a:xfrm>
            <a:off x="6144768" y="2743200"/>
            <a:ext cx="1051560" cy="237744"/>
          </a:xfrm>
          <a:prstGeom prst="rect">
            <a:avLst/>
          </a:prstGeom>
          <a:noFill/>
          <a:ln/>
        </p:spPr>
        <p:txBody>
          <a:bodyPr wrap="square" lIns="0" tIns="0" rIns="0" bIns="0" rtlCol="0" anchor="t"/>
          <a:lstStyle/>
          <a:p>
            <a:pPr algn="l" indent="0" marL="0">
              <a:lnSpc>
                <a:spcPct val="110000"/>
              </a:lnSpc>
              <a:buNone/>
            </a:pPr>
            <a:r>
              <a:rPr lang="en-US" sz="950" dirty="0">
                <a:solidFill>
                  <a:srgbClr val="5B6B63"/>
                </a:solidFill>
                <a:latin typeface="Calibri" pitchFamily="34" charset="0"/>
                <a:ea typeface="Calibri" pitchFamily="34" charset="-122"/>
                <a:cs typeface="Calibri" pitchFamily="34" charset="-120"/>
              </a:rPr>
              <a:t>Total Projects</a:t>
            </a:r>
            <a:endParaRPr lang="en-US" sz="950" dirty="0"/>
          </a:p>
        </p:txBody>
      </p:sp>
      <p:sp>
        <p:nvSpPr>
          <p:cNvPr id="37" name="Text 35"/>
          <p:cNvSpPr txBox="1"/>
          <p:nvPr/>
        </p:nvSpPr>
        <p:spPr>
          <a:xfrm>
            <a:off x="457200" y="3127248"/>
            <a:ext cx="8229600" cy="274320"/>
          </a:xfrm>
          <a:prstGeom prst="rect">
            <a:avLst/>
          </a:prstGeom>
          <a:noFill/>
          <a:ln/>
        </p:spPr>
        <p:txBody>
          <a:bodyPr wrap="square" lIns="0" tIns="0" rIns="0" bIns="0" rtlCol="0" anchor="ctr"/>
          <a:lstStyle/>
          <a:p>
            <a:pPr indent="0" marL="0">
              <a:buNone/>
            </a:pPr>
            <a:r>
              <a:rPr lang="en-US" sz="1000" i="1" dirty="0">
                <a:solidFill>
                  <a:srgbClr val="5B6B63"/>
                </a:solidFill>
                <a:latin typeface="Calibri" pitchFamily="34" charset="0"/>
                <a:ea typeface="Calibri" pitchFamily="34" charset="-122"/>
                <a:cs typeface="Calibri" pitchFamily="34" charset="-120"/>
              </a:rPr>
              <a:t>Eleven live figures, illustrated above. Values update as attendance is marked.</a:t>
            </a:r>
            <a:endParaRPr lang="en-US" sz="1000" dirty="0"/>
          </a:p>
        </p:txBody>
      </p:sp>
      <p:sp>
        <p:nvSpPr>
          <p:cNvPr id="38" name="Shape 36"/>
          <p:cNvSpPr/>
          <p:nvPr/>
        </p:nvSpPr>
        <p:spPr>
          <a:xfrm>
            <a:off x="457200" y="3584448"/>
            <a:ext cx="3977640" cy="1170432"/>
          </a:xfrm>
          <a:prstGeom prst="roundRect">
            <a:avLst>
              <a:gd name="adj" fmla="val 7031"/>
            </a:avLst>
          </a:prstGeom>
          <a:solidFill>
            <a:srgbClr val="E8F1FC"/>
          </a:solidFill>
          <a:ln w="9525">
            <a:solidFill>
              <a:srgbClr val="DEE6E1"/>
            </a:solidFill>
            <a:prstDash val="solid"/>
          </a:ln>
        </p:spPr>
      </p:sp>
      <p:sp>
        <p:nvSpPr>
          <p:cNvPr id="39" name="Shape 37"/>
          <p:cNvSpPr/>
          <p:nvPr/>
        </p:nvSpPr>
        <p:spPr>
          <a:xfrm>
            <a:off x="676656" y="3803904"/>
            <a:ext cx="384048" cy="384048"/>
          </a:xfrm>
          <a:prstGeom prst="ellipse">
            <a:avLst/>
          </a:prstGeom>
          <a:solidFill>
            <a:srgbClr val="00113D"/>
          </a:solidFill>
          <a:ln w="12700">
            <a:solidFill>
              <a:srgbClr val="00113D"/>
            </a:solidFill>
            <a:prstDash val="solid"/>
          </a:ln>
        </p:spPr>
      </p:sp>
      <p:sp>
        <p:nvSpPr>
          <p:cNvPr id="40" name="Text 38"/>
          <p:cNvSpPr txBox="1"/>
          <p:nvPr/>
        </p:nvSpPr>
        <p:spPr>
          <a:xfrm>
            <a:off x="676656" y="38039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1" name="Text 39"/>
          <p:cNvSpPr txBox="1"/>
          <p:nvPr/>
        </p:nvSpPr>
        <p:spPr>
          <a:xfrm>
            <a:off x="1170432" y="3785616"/>
            <a:ext cx="3017520"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Worker Locator</a:t>
            </a:r>
            <a:endParaRPr lang="en-US" sz="1300" dirty="0"/>
          </a:p>
        </p:txBody>
      </p:sp>
      <p:sp>
        <p:nvSpPr>
          <p:cNvPr id="42" name="Text 40"/>
          <p:cNvSpPr txBox="1"/>
          <p:nvPr/>
        </p:nvSpPr>
        <p:spPr>
          <a:xfrm>
            <a:off x="1170432" y="4078224"/>
            <a:ext cx="3017520" cy="548640"/>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Type a name or ID and see which project he was on for any chosen date.</a:t>
            </a:r>
            <a:endParaRPr lang="en-US" sz="1050" dirty="0"/>
          </a:p>
        </p:txBody>
      </p:sp>
      <p:sp>
        <p:nvSpPr>
          <p:cNvPr id="43" name="Shape 41"/>
          <p:cNvSpPr/>
          <p:nvPr/>
        </p:nvSpPr>
        <p:spPr>
          <a:xfrm>
            <a:off x="4709160" y="3584448"/>
            <a:ext cx="3977640" cy="1170432"/>
          </a:xfrm>
          <a:prstGeom prst="roundRect">
            <a:avLst>
              <a:gd name="adj" fmla="val 7031"/>
            </a:avLst>
          </a:prstGeom>
          <a:solidFill>
            <a:srgbClr val="FDF7E8"/>
          </a:solidFill>
          <a:ln w="9525">
            <a:solidFill>
              <a:srgbClr val="DEE6E1"/>
            </a:solidFill>
            <a:prstDash val="solid"/>
          </a:ln>
        </p:spPr>
      </p:sp>
      <p:sp>
        <p:nvSpPr>
          <p:cNvPr id="44" name="Shape 42"/>
          <p:cNvSpPr/>
          <p:nvPr/>
        </p:nvSpPr>
        <p:spPr>
          <a:xfrm>
            <a:off x="4928616" y="3803904"/>
            <a:ext cx="384048" cy="384048"/>
          </a:xfrm>
          <a:prstGeom prst="ellipse">
            <a:avLst/>
          </a:prstGeom>
          <a:solidFill>
            <a:srgbClr val="B8842E"/>
          </a:solidFill>
          <a:ln w="12700">
            <a:solidFill>
              <a:srgbClr val="B8842E"/>
            </a:solidFill>
            <a:prstDash val="solid"/>
          </a:ln>
        </p:spPr>
      </p:sp>
      <p:sp>
        <p:nvSpPr>
          <p:cNvPr id="45" name="Text 43"/>
          <p:cNvSpPr txBox="1"/>
          <p:nvPr/>
        </p:nvSpPr>
        <p:spPr>
          <a:xfrm>
            <a:off x="4928616" y="38039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6" name="Text 44"/>
          <p:cNvSpPr txBox="1"/>
          <p:nvPr/>
        </p:nvSpPr>
        <p:spPr>
          <a:xfrm>
            <a:off x="5422392" y="3785616"/>
            <a:ext cx="3017520" cy="256032"/>
          </a:xfrm>
          <a:prstGeom prst="rect">
            <a:avLst/>
          </a:prstGeom>
          <a:noFill/>
          <a:ln/>
        </p:spPr>
        <p:txBody>
          <a:bodyPr wrap="square" lIns="0" tIns="0" rIns="0" bIns="0" rtlCol="0" anchor="t"/>
          <a:lstStyle/>
          <a:p>
            <a:pPr algn="l" indent="0" marL="0">
              <a:lnSpc>
                <a:spcPct val="110000"/>
              </a:lnSpc>
              <a:buNone/>
            </a:pPr>
            <a:r>
              <a:rPr lang="en-US" sz="1300" b="1" dirty="0">
                <a:solidFill>
                  <a:srgbClr val="141F1A"/>
                </a:solidFill>
                <a:latin typeface="Calibri" pitchFamily="34" charset="0"/>
                <a:ea typeface="Calibri" pitchFamily="34" charset="-122"/>
                <a:cs typeface="Calibri" pitchFamily="34" charset="-120"/>
              </a:rPr>
              <a:t>Site Deviations</a:t>
            </a:r>
            <a:endParaRPr lang="en-US" sz="1300" dirty="0"/>
          </a:p>
        </p:txBody>
      </p:sp>
      <p:sp>
        <p:nvSpPr>
          <p:cNvPr id="47" name="Text 45"/>
          <p:cNvSpPr txBox="1"/>
          <p:nvPr/>
        </p:nvSpPr>
        <p:spPr>
          <a:xfrm>
            <a:off x="5422392" y="4078224"/>
            <a:ext cx="3017520" cy="548640"/>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Anyone marked at a project other than their roster, listed for review the same day.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13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Access is enforced by the database</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8FA8CC"/>
                </a:solidFill>
                <a:latin typeface="Calibri" pitchFamily="34" charset="0"/>
                <a:ea typeface="Calibri" pitchFamily="34" charset="-122"/>
                <a:cs typeface="Calibri" pitchFamily="34" charset="-120"/>
              </a:rPr>
              <a:t>Hiding a button is a convenience. It is never the security boundary.</a:t>
            </a:r>
            <a:endParaRPr lang="en-US" sz="1300" dirty="0"/>
          </a:p>
        </p:txBody>
      </p:sp>
      <p:sp>
        <p:nvSpPr>
          <p:cNvPr id="4" name="Shape 2"/>
          <p:cNvSpPr/>
          <p:nvPr/>
        </p:nvSpPr>
        <p:spPr>
          <a:xfrm>
            <a:off x="457200" y="1517904"/>
            <a:ext cx="329184" cy="329184"/>
          </a:xfrm>
          <a:prstGeom prst="ellipse">
            <a:avLst/>
          </a:prstGeom>
          <a:solidFill>
            <a:srgbClr val="F9CB14"/>
          </a:solidFill>
          <a:ln w="12700">
            <a:solidFill>
              <a:srgbClr val="F9CB14"/>
            </a:solidFill>
            <a:prstDash val="solid"/>
          </a:ln>
        </p:spPr>
      </p:sp>
      <p:sp>
        <p:nvSpPr>
          <p:cNvPr id="5" name="Text 3"/>
          <p:cNvSpPr txBox="1"/>
          <p:nvPr/>
        </p:nvSpPr>
        <p:spPr>
          <a:xfrm>
            <a:off x="457200" y="1517904"/>
            <a:ext cx="329184" cy="329184"/>
          </a:xfrm>
          <a:prstGeom prst="rect">
            <a:avLst/>
          </a:prstGeom>
          <a:noFill/>
          <a:ln/>
        </p:spPr>
        <p:txBody>
          <a:bodyPr wrap="square" lIns="0" tIns="0" rIns="0" bIns="0" rtlCol="0" anchor="ctr"/>
          <a:lstStyle/>
          <a:p>
            <a:pPr algn="ctr" indent="0" marL="0">
              <a:buNone/>
            </a:pPr>
            <a:r>
              <a:rPr lang="en-US" sz="1200" b="1" dirty="0">
                <a:solidFill>
                  <a:srgbClr val="00113D"/>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987552" y="1481328"/>
            <a:ext cx="5120640" cy="27432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Calibri" pitchFamily="34" charset="0"/>
                <a:ea typeface="Calibri" pitchFamily="34" charset="-122"/>
                <a:cs typeface="Calibri" pitchFamily="34" charset="-120"/>
              </a:rPr>
              <a:t>Rules live on Google's servers</a:t>
            </a:r>
            <a:endParaRPr lang="en-US" sz="1400" dirty="0"/>
          </a:p>
        </p:txBody>
      </p:sp>
      <p:sp>
        <p:nvSpPr>
          <p:cNvPr id="7" name="Text 5"/>
          <p:cNvSpPr txBox="1"/>
          <p:nvPr/>
        </p:nvSpPr>
        <p:spPr>
          <a:xfrm>
            <a:off x="987552" y="1783080"/>
            <a:ext cx="5120640" cy="566928"/>
          </a:xfrm>
          <a:prstGeom prst="rect">
            <a:avLst/>
          </a:prstGeom>
          <a:noFill/>
          <a:ln/>
        </p:spPr>
        <p:txBody>
          <a:bodyPr wrap="square" lIns="0" tIns="0" rIns="0" bIns="0" rtlCol="0" anchor="t"/>
          <a:lstStyle/>
          <a:p>
            <a:pPr algn="l" indent="0" marL="0">
              <a:lnSpc>
                <a:spcPct val="110000"/>
              </a:lnSpc>
              <a:buNone/>
            </a:pPr>
            <a:r>
              <a:rPr lang="en-US" sz="1100" dirty="0">
                <a:solidFill>
                  <a:srgbClr val="B9C7DE"/>
                </a:solidFill>
                <a:latin typeface="Calibri" pitchFamily="34" charset="0"/>
                <a:ea typeface="Calibri" pitchFamily="34" charset="-122"/>
                <a:cs typeface="Calibri" pitchFamily="34" charset="-120"/>
              </a:rPr>
              <a:t>Even a modified app cannot read another project's attendance — the request is refused before it reaches the data.</a:t>
            </a:r>
            <a:endParaRPr lang="en-US" sz="1100" dirty="0"/>
          </a:p>
        </p:txBody>
      </p:sp>
      <p:sp>
        <p:nvSpPr>
          <p:cNvPr id="8" name="Shape 6"/>
          <p:cNvSpPr/>
          <p:nvPr/>
        </p:nvSpPr>
        <p:spPr>
          <a:xfrm>
            <a:off x="457200" y="2487168"/>
            <a:ext cx="329184" cy="329184"/>
          </a:xfrm>
          <a:prstGeom prst="ellipse">
            <a:avLst/>
          </a:prstGeom>
          <a:solidFill>
            <a:srgbClr val="F9CB14"/>
          </a:solidFill>
          <a:ln w="12700">
            <a:solidFill>
              <a:srgbClr val="F9CB14"/>
            </a:solidFill>
            <a:prstDash val="solid"/>
          </a:ln>
        </p:spPr>
      </p:sp>
      <p:sp>
        <p:nvSpPr>
          <p:cNvPr id="9" name="Text 7"/>
          <p:cNvSpPr txBox="1"/>
          <p:nvPr/>
        </p:nvSpPr>
        <p:spPr>
          <a:xfrm>
            <a:off x="457200" y="2487168"/>
            <a:ext cx="329184" cy="329184"/>
          </a:xfrm>
          <a:prstGeom prst="rect">
            <a:avLst/>
          </a:prstGeom>
          <a:noFill/>
          <a:ln/>
        </p:spPr>
        <p:txBody>
          <a:bodyPr wrap="square" lIns="0" tIns="0" rIns="0" bIns="0" rtlCol="0" anchor="ctr"/>
          <a:lstStyle/>
          <a:p>
            <a:pPr algn="ctr" indent="0" marL="0">
              <a:buNone/>
            </a:pPr>
            <a:r>
              <a:rPr lang="en-US" sz="1200" b="1" dirty="0">
                <a:solidFill>
                  <a:srgbClr val="00113D"/>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987552" y="2450592"/>
            <a:ext cx="5120640" cy="27432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Calibri" pitchFamily="34" charset="0"/>
                <a:ea typeface="Calibri" pitchFamily="34" charset="-122"/>
                <a:cs typeface="Calibri" pitchFamily="34" charset="-120"/>
              </a:rPr>
              <a:t>Nobody can promote themselves</a:t>
            </a:r>
            <a:endParaRPr lang="en-US" sz="1400" dirty="0"/>
          </a:p>
        </p:txBody>
      </p:sp>
      <p:sp>
        <p:nvSpPr>
          <p:cNvPr id="11" name="Text 9"/>
          <p:cNvSpPr txBox="1"/>
          <p:nvPr/>
        </p:nvSpPr>
        <p:spPr>
          <a:xfrm>
            <a:off x="987552" y="2752344"/>
            <a:ext cx="5120640" cy="566928"/>
          </a:xfrm>
          <a:prstGeom prst="rect">
            <a:avLst/>
          </a:prstGeom>
          <a:noFill/>
          <a:ln/>
        </p:spPr>
        <p:txBody>
          <a:bodyPr wrap="square" lIns="0" tIns="0" rIns="0" bIns="0" rtlCol="0" anchor="t"/>
          <a:lstStyle/>
          <a:p>
            <a:pPr algn="l" indent="0" marL="0">
              <a:lnSpc>
                <a:spcPct val="110000"/>
              </a:lnSpc>
              <a:buNone/>
            </a:pPr>
            <a:r>
              <a:rPr lang="en-US" sz="1100" dirty="0">
                <a:solidFill>
                  <a:srgbClr val="B9C7DE"/>
                </a:solidFill>
                <a:latin typeface="Calibri" pitchFamily="34" charset="0"/>
                <a:ea typeface="Calibri" pitchFamily="34" charset="-122"/>
                <a:cs typeface="Calibri" pitchFamily="34" charset="-120"/>
              </a:rPr>
              <a:t>A user cannot write their own role or site list. Only Super Admin can, and every change is stamped with who made it.</a:t>
            </a:r>
            <a:endParaRPr lang="en-US" sz="1100" dirty="0"/>
          </a:p>
        </p:txBody>
      </p:sp>
      <p:sp>
        <p:nvSpPr>
          <p:cNvPr id="12" name="Shape 10"/>
          <p:cNvSpPr/>
          <p:nvPr/>
        </p:nvSpPr>
        <p:spPr>
          <a:xfrm>
            <a:off x="457200" y="3456432"/>
            <a:ext cx="329184" cy="329184"/>
          </a:xfrm>
          <a:prstGeom prst="ellipse">
            <a:avLst/>
          </a:prstGeom>
          <a:solidFill>
            <a:srgbClr val="F9CB14"/>
          </a:solidFill>
          <a:ln w="12700">
            <a:solidFill>
              <a:srgbClr val="F9CB14"/>
            </a:solidFill>
            <a:prstDash val="solid"/>
          </a:ln>
        </p:spPr>
      </p:sp>
      <p:sp>
        <p:nvSpPr>
          <p:cNvPr id="13" name="Text 11"/>
          <p:cNvSpPr txBox="1"/>
          <p:nvPr/>
        </p:nvSpPr>
        <p:spPr>
          <a:xfrm>
            <a:off x="457200" y="3456432"/>
            <a:ext cx="329184" cy="329184"/>
          </a:xfrm>
          <a:prstGeom prst="rect">
            <a:avLst/>
          </a:prstGeom>
          <a:noFill/>
          <a:ln/>
        </p:spPr>
        <p:txBody>
          <a:bodyPr wrap="square" lIns="0" tIns="0" rIns="0" bIns="0" rtlCol="0" anchor="ctr"/>
          <a:lstStyle/>
          <a:p>
            <a:pPr algn="ctr" indent="0" marL="0">
              <a:buNone/>
            </a:pPr>
            <a:r>
              <a:rPr lang="en-US" sz="1200" b="1" dirty="0">
                <a:solidFill>
                  <a:srgbClr val="00113D"/>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987552" y="3419856"/>
            <a:ext cx="5120640" cy="27432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Calibri" pitchFamily="34" charset="0"/>
                <a:ea typeface="Calibri" pitchFamily="34" charset="-122"/>
                <a:cs typeface="Calibri" pitchFamily="34" charset="-120"/>
              </a:rPr>
              <a:t>Attendance is never deleted</a:t>
            </a:r>
            <a:endParaRPr lang="en-US" sz="1400" dirty="0"/>
          </a:p>
        </p:txBody>
      </p:sp>
      <p:sp>
        <p:nvSpPr>
          <p:cNvPr id="15" name="Text 13"/>
          <p:cNvSpPr txBox="1"/>
          <p:nvPr/>
        </p:nvSpPr>
        <p:spPr>
          <a:xfrm>
            <a:off x="987552" y="3721608"/>
            <a:ext cx="5120640" cy="566928"/>
          </a:xfrm>
          <a:prstGeom prst="rect">
            <a:avLst/>
          </a:prstGeom>
          <a:noFill/>
          <a:ln/>
        </p:spPr>
        <p:txBody>
          <a:bodyPr wrap="square" lIns="0" tIns="0" rIns="0" bIns="0" rtlCol="0" anchor="t"/>
          <a:lstStyle/>
          <a:p>
            <a:pPr algn="l" indent="0" marL="0">
              <a:lnSpc>
                <a:spcPct val="110000"/>
              </a:lnSpc>
              <a:buNone/>
            </a:pPr>
            <a:r>
              <a:rPr lang="en-US" sz="1100" dirty="0">
                <a:solidFill>
                  <a:srgbClr val="B9C7DE"/>
                </a:solidFill>
                <a:latin typeface="Calibri" pitchFamily="34" charset="0"/>
                <a:ea typeface="Calibri" pitchFamily="34" charset="-122"/>
                <a:cs typeface="Calibri" pitchFamily="34" charset="-120"/>
              </a:rPr>
              <a:t>Corrections are recorded as edits, so the original entry and the correction both survive for audit.</a:t>
            </a:r>
            <a:endParaRPr lang="en-US" sz="1100" dirty="0"/>
          </a:p>
        </p:txBody>
      </p:sp>
      <p:sp>
        <p:nvSpPr>
          <p:cNvPr id="16" name="Shape 14"/>
          <p:cNvSpPr/>
          <p:nvPr/>
        </p:nvSpPr>
        <p:spPr>
          <a:xfrm>
            <a:off x="6053328" y="1481328"/>
            <a:ext cx="2633472" cy="2395728"/>
          </a:xfrm>
          <a:prstGeom prst="roundRect">
            <a:avLst>
              <a:gd name="adj" fmla="val 3435"/>
            </a:avLst>
          </a:prstGeom>
          <a:solidFill>
            <a:srgbClr val="0A2050"/>
          </a:solidFill>
          <a:ln w="9525">
            <a:solidFill>
              <a:srgbClr val="DEE6E1"/>
            </a:solidFill>
            <a:prstDash val="solid"/>
          </a:ln>
        </p:spPr>
      </p:sp>
      <p:sp>
        <p:nvSpPr>
          <p:cNvPr id="17" name="Shape 15"/>
          <p:cNvSpPr/>
          <p:nvPr/>
        </p:nvSpPr>
        <p:spPr>
          <a:xfrm>
            <a:off x="6053328" y="1481328"/>
            <a:ext cx="2633472" cy="2395728"/>
          </a:xfrm>
          <a:prstGeom prst="roundRect">
            <a:avLst>
              <a:gd name="adj" fmla="val 3435"/>
            </a:avLst>
          </a:prstGeom>
          <a:solidFill>
            <a:srgbClr val="0A2050"/>
          </a:solidFill>
          <a:ln w="12700">
            <a:solidFill>
              <a:srgbClr val="1B3468"/>
            </a:solidFill>
            <a:prstDash val="solid"/>
          </a:ln>
        </p:spPr>
      </p:sp>
      <p:sp>
        <p:nvSpPr>
          <p:cNvPr id="18" name="Text 16"/>
          <p:cNvSpPr txBox="1"/>
          <p:nvPr/>
        </p:nvSpPr>
        <p:spPr>
          <a:xfrm>
            <a:off x="6053328" y="1828800"/>
            <a:ext cx="2633472" cy="914400"/>
          </a:xfrm>
          <a:prstGeom prst="rect">
            <a:avLst/>
          </a:prstGeom>
          <a:noFill/>
          <a:ln/>
        </p:spPr>
        <p:txBody>
          <a:bodyPr wrap="square" lIns="0" tIns="0" rIns="0" bIns="0" rtlCol="0" anchor="ctr"/>
          <a:lstStyle/>
          <a:p>
            <a:pPr algn="ctr" indent="0" marL="0">
              <a:buNone/>
            </a:pPr>
            <a:r>
              <a:rPr lang="en-US" sz="6000" b="1" dirty="0">
                <a:solidFill>
                  <a:srgbClr val="F9CB14"/>
                </a:solidFill>
                <a:latin typeface="Cambria" pitchFamily="34" charset="0"/>
                <a:ea typeface="Cambria" pitchFamily="34" charset="-122"/>
                <a:cs typeface="Cambria" pitchFamily="34" charset="-120"/>
              </a:rPr>
              <a:t>48</a:t>
            </a:r>
            <a:endParaRPr lang="en-US" sz="6000" dirty="0"/>
          </a:p>
        </p:txBody>
      </p:sp>
      <p:sp>
        <p:nvSpPr>
          <p:cNvPr id="19" name="Text 17"/>
          <p:cNvSpPr txBox="1"/>
          <p:nvPr/>
        </p:nvSpPr>
        <p:spPr>
          <a:xfrm>
            <a:off x="6144768" y="2706624"/>
            <a:ext cx="2450592"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automated security tests</a:t>
            </a:r>
            <a:endParaRPr lang="en-US" sz="1200" dirty="0"/>
          </a:p>
        </p:txBody>
      </p:sp>
      <p:sp>
        <p:nvSpPr>
          <p:cNvPr id="20" name="Text 18"/>
          <p:cNvSpPr txBox="1"/>
          <p:nvPr/>
        </p:nvSpPr>
        <p:spPr>
          <a:xfrm>
            <a:off x="6272784" y="3017520"/>
            <a:ext cx="2194560" cy="731520"/>
          </a:xfrm>
          <a:prstGeom prst="rect">
            <a:avLst/>
          </a:prstGeom>
          <a:noFill/>
          <a:ln/>
        </p:spPr>
        <p:txBody>
          <a:bodyPr wrap="square" lIns="0" tIns="0" rIns="0" bIns="0" rtlCol="0" anchor="ctr"/>
          <a:lstStyle/>
          <a:p>
            <a:pPr algn="ctr" indent="0" marL="0">
              <a:lnSpc>
                <a:spcPct val="110000"/>
              </a:lnSpc>
              <a:buNone/>
            </a:pPr>
            <a:r>
              <a:rPr lang="en-US" sz="1000" dirty="0">
                <a:solidFill>
                  <a:srgbClr val="B9C7DE"/>
                </a:solidFill>
                <a:latin typeface="Calibri" pitchFamily="34" charset="0"/>
                <a:ea typeface="Calibri" pitchFamily="34" charset="-122"/>
                <a:cs typeface="Calibri" pitchFamily="34" charset="-120"/>
              </a:rPr>
              <a:t>Each one checks a permission that must be granted — and one that must be refused. All 48 pass.</a:t>
            </a:r>
            <a:endParaRPr lang="en-US" sz="1000" dirty="0"/>
          </a:p>
        </p:txBody>
      </p:sp>
      <p:sp>
        <p:nvSpPr>
          <p:cNvPr id="21" name="Text 19"/>
          <p:cNvSpPr txBox="1"/>
          <p:nvPr/>
        </p:nvSpPr>
        <p:spPr>
          <a:xfrm>
            <a:off x="457200" y="4389120"/>
            <a:ext cx="8229600" cy="274320"/>
          </a:xfrm>
          <a:prstGeom prst="rect">
            <a:avLst/>
          </a:prstGeom>
          <a:noFill/>
          <a:ln/>
        </p:spPr>
        <p:txBody>
          <a:bodyPr wrap="square" lIns="0" tIns="0" rIns="0" bIns="0" rtlCol="0" anchor="ctr"/>
          <a:lstStyle/>
          <a:p>
            <a:pPr indent="0" marL="0">
              <a:buNone/>
            </a:pPr>
            <a:r>
              <a:rPr lang="en-US" sz="1000" i="1" dirty="0">
                <a:solidFill>
                  <a:srgbClr val="8FA8CC"/>
                </a:solidFill>
                <a:latin typeface="Calibri" pitchFamily="34" charset="0"/>
                <a:ea typeface="Calibri" pitchFamily="34" charset="-122"/>
                <a:cs typeface="Calibri" pitchFamily="34" charset="-120"/>
              </a:rPr>
              <a:t>Tests are re-run against a Firebase emulator before every release.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00113D"/>
                </a:solidFill>
                <a:latin typeface="Cambria" pitchFamily="34" charset="0"/>
                <a:ea typeface="Cambria" pitchFamily="34" charset="-122"/>
                <a:cs typeface="Cambria" pitchFamily="34" charset="-120"/>
              </a:rPr>
              <a:t>Built and measured for 4,000 workers</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Report generation timed on the standard build, not estimated</a:t>
            </a:r>
            <a:endParaRPr lang="en-US" sz="1300" dirty="0"/>
          </a:p>
        </p:txBody>
      </p:sp>
      <p:graphicFrame>
        <p:nvGraphicFramePr>
          <p:cNvPr id="4" name="Chart 0" descr=""/>
          <p:cNvGraphicFramePr/>
          <p:nvPr/>
        </p:nvGraphicFramePr>
        <p:xfrm>
          <a:off x="457200" y="1325880"/>
          <a:ext cx="4846320" cy="2834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577840" y="1517904"/>
            <a:ext cx="310896" cy="310896"/>
          </a:xfrm>
          <a:prstGeom prst="ellipse">
            <a:avLst/>
          </a:prstGeom>
          <a:solidFill>
            <a:srgbClr val="0B66D6"/>
          </a:solidFill>
          <a:ln w="12700">
            <a:solidFill>
              <a:srgbClr val="0B66D6"/>
            </a:solidFill>
            <a:prstDash val="solid"/>
          </a:ln>
        </p:spPr>
      </p:sp>
      <p:sp>
        <p:nvSpPr>
          <p:cNvPr id="6" name="Text 3"/>
          <p:cNvSpPr txBox="1"/>
          <p:nvPr/>
        </p:nvSpPr>
        <p:spPr>
          <a:xfrm>
            <a:off x="5577840" y="15179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6035040" y="1481328"/>
            <a:ext cx="2651760" cy="402336"/>
          </a:xfrm>
          <a:prstGeom prst="rect">
            <a:avLst/>
          </a:prstGeom>
          <a:noFill/>
          <a:ln/>
        </p:spPr>
        <p:txBody>
          <a:bodyPr wrap="square" lIns="0" tIns="0" rIns="0" bIns="0" rtlCol="0" anchor="t"/>
          <a:lstStyle/>
          <a:p>
            <a:pPr algn="l" indent="0" marL="0">
              <a:lnSpc>
                <a:spcPct val="110000"/>
              </a:lnSpc>
              <a:buNone/>
            </a:pPr>
            <a:r>
              <a:rPr lang="en-US" sz="1150" b="1" dirty="0">
                <a:solidFill>
                  <a:srgbClr val="141F1A"/>
                </a:solidFill>
                <a:latin typeface="Calibri" pitchFamily="34" charset="0"/>
                <a:ea typeface="Calibri" pitchFamily="34" charset="-122"/>
                <a:cs typeface="Calibri" pitchFamily="34" charset="-120"/>
              </a:rPr>
              <a:t>Attendance is written per project, per day</a:t>
            </a:r>
            <a:endParaRPr lang="en-US" sz="1150" dirty="0"/>
          </a:p>
        </p:txBody>
      </p:sp>
      <p:sp>
        <p:nvSpPr>
          <p:cNvPr id="8" name="Text 5"/>
          <p:cNvSpPr txBox="1"/>
          <p:nvPr/>
        </p:nvSpPr>
        <p:spPr>
          <a:xfrm>
            <a:off x="6035040" y="1901952"/>
            <a:ext cx="2651760" cy="548640"/>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The system never has to load the whole company at once, so adding projects does not slow the existing ones down.</a:t>
            </a:r>
            <a:endParaRPr lang="en-US" sz="1000" dirty="0"/>
          </a:p>
        </p:txBody>
      </p:sp>
      <p:sp>
        <p:nvSpPr>
          <p:cNvPr id="9" name="Shape 6"/>
          <p:cNvSpPr/>
          <p:nvPr/>
        </p:nvSpPr>
        <p:spPr>
          <a:xfrm>
            <a:off x="5577840" y="2542032"/>
            <a:ext cx="310896" cy="310896"/>
          </a:xfrm>
          <a:prstGeom prst="ellipse">
            <a:avLst/>
          </a:prstGeom>
          <a:solidFill>
            <a:srgbClr val="00113D"/>
          </a:solidFill>
          <a:ln w="12700">
            <a:solidFill>
              <a:srgbClr val="00113D"/>
            </a:solidFill>
            <a:prstDash val="solid"/>
          </a:ln>
        </p:spPr>
      </p:sp>
      <p:sp>
        <p:nvSpPr>
          <p:cNvPr id="10" name="Text 7"/>
          <p:cNvSpPr txBox="1"/>
          <p:nvPr/>
        </p:nvSpPr>
        <p:spPr>
          <a:xfrm>
            <a:off x="5577840" y="25420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txBox="1"/>
          <p:nvPr/>
        </p:nvSpPr>
        <p:spPr>
          <a:xfrm>
            <a:off x="6035040" y="2505456"/>
            <a:ext cx="2651760" cy="402336"/>
          </a:xfrm>
          <a:prstGeom prst="rect">
            <a:avLst/>
          </a:prstGeom>
          <a:noFill/>
          <a:ln/>
        </p:spPr>
        <p:txBody>
          <a:bodyPr wrap="square" lIns="0" tIns="0" rIns="0" bIns="0" rtlCol="0" anchor="t"/>
          <a:lstStyle/>
          <a:p>
            <a:pPr algn="l" indent="0" marL="0">
              <a:lnSpc>
                <a:spcPct val="110000"/>
              </a:lnSpc>
              <a:buNone/>
            </a:pPr>
            <a:r>
              <a:rPr lang="en-US" sz="1150" b="1" dirty="0">
                <a:solidFill>
                  <a:srgbClr val="141F1A"/>
                </a:solidFill>
                <a:latin typeface="Calibri" pitchFamily="34" charset="0"/>
                <a:ea typeface="Calibri" pitchFamily="34" charset="-122"/>
                <a:cs typeface="Calibri" pitchFamily="34" charset="-120"/>
              </a:rPr>
              <a:t>Every phone loads only its own projects</a:t>
            </a:r>
            <a:endParaRPr lang="en-US" sz="1150" dirty="0"/>
          </a:p>
        </p:txBody>
      </p:sp>
      <p:sp>
        <p:nvSpPr>
          <p:cNvPr id="12" name="Text 9"/>
          <p:cNvSpPr txBox="1"/>
          <p:nvPr/>
        </p:nvSpPr>
        <p:spPr>
          <a:xfrm>
            <a:off x="6035040" y="2926080"/>
            <a:ext cx="2651760" cy="548640"/>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A foreman's phone fetches his site's crew, not 4,000 records.</a:t>
            </a:r>
            <a:endParaRPr lang="en-US" sz="1000" dirty="0"/>
          </a:p>
        </p:txBody>
      </p:sp>
      <p:sp>
        <p:nvSpPr>
          <p:cNvPr id="13" name="Shape 10"/>
          <p:cNvSpPr/>
          <p:nvPr/>
        </p:nvSpPr>
        <p:spPr>
          <a:xfrm>
            <a:off x="5577840" y="3566160"/>
            <a:ext cx="310896" cy="310896"/>
          </a:xfrm>
          <a:prstGeom prst="ellipse">
            <a:avLst/>
          </a:prstGeom>
          <a:solidFill>
            <a:srgbClr val="0B66D6"/>
          </a:solidFill>
          <a:ln w="12700">
            <a:solidFill>
              <a:srgbClr val="0B66D6"/>
            </a:solidFill>
            <a:prstDash val="solid"/>
          </a:ln>
        </p:spPr>
      </p:sp>
      <p:sp>
        <p:nvSpPr>
          <p:cNvPr id="14" name="Text 11"/>
          <p:cNvSpPr txBox="1"/>
          <p:nvPr/>
        </p:nvSpPr>
        <p:spPr>
          <a:xfrm>
            <a:off x="5577840" y="3566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txBox="1"/>
          <p:nvPr/>
        </p:nvSpPr>
        <p:spPr>
          <a:xfrm>
            <a:off x="6035040" y="3529584"/>
            <a:ext cx="2651760" cy="402336"/>
          </a:xfrm>
          <a:prstGeom prst="rect">
            <a:avLst/>
          </a:prstGeom>
          <a:noFill/>
          <a:ln/>
        </p:spPr>
        <p:txBody>
          <a:bodyPr wrap="square" lIns="0" tIns="0" rIns="0" bIns="0" rtlCol="0" anchor="t"/>
          <a:lstStyle/>
          <a:p>
            <a:pPr algn="l" indent="0" marL="0">
              <a:lnSpc>
                <a:spcPct val="110000"/>
              </a:lnSpc>
              <a:buNone/>
            </a:pPr>
            <a:r>
              <a:rPr lang="en-US" sz="1150" b="1" dirty="0">
                <a:solidFill>
                  <a:srgbClr val="141F1A"/>
                </a:solidFill>
                <a:latin typeface="Calibri" pitchFamily="34" charset="0"/>
                <a:ea typeface="Calibri" pitchFamily="34" charset="-122"/>
                <a:cs typeface="Calibri" pitchFamily="34" charset="-120"/>
              </a:rPr>
              <a:t>Growth is priced per record, not per user</a:t>
            </a:r>
            <a:endParaRPr lang="en-US" sz="1150" dirty="0"/>
          </a:p>
        </p:txBody>
      </p:sp>
      <p:sp>
        <p:nvSpPr>
          <p:cNvPr id="16" name="Text 13"/>
          <p:cNvSpPr txBox="1"/>
          <p:nvPr/>
        </p:nvSpPr>
        <p:spPr>
          <a:xfrm>
            <a:off x="6035040" y="3950208"/>
            <a:ext cx="2651760" cy="548640"/>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Adding a site or a supervisor costs nothing extra by itself.</a:t>
            </a:r>
            <a:endParaRPr lang="en-US" sz="1000" dirty="0"/>
          </a:p>
        </p:txBody>
      </p:sp>
      <p:sp>
        <p:nvSpPr>
          <p:cNvPr id="17" name="Text 14"/>
          <p:cNvSpPr txBox="1"/>
          <p:nvPr/>
        </p:nvSpPr>
        <p:spPr>
          <a:xfrm>
            <a:off x="457200" y="4572000"/>
            <a:ext cx="8229600" cy="274320"/>
          </a:xfrm>
          <a:prstGeom prst="rect">
            <a:avLst/>
          </a:prstGeom>
          <a:noFill/>
          <a:ln/>
        </p:spPr>
        <p:txBody>
          <a:bodyPr wrap="square" lIns="0" tIns="0" rIns="0" bIns="0" rtlCol="0" anchor="ctr"/>
          <a:lstStyle/>
          <a:p>
            <a:pPr indent="0" marL="0">
              <a:buNone/>
            </a:pPr>
            <a:r>
              <a:rPr lang="en-US" sz="1000" i="1" dirty="0">
                <a:solidFill>
                  <a:srgbClr val="5B6B63"/>
                </a:solidFill>
                <a:latin typeface="Calibri" pitchFamily="34" charset="0"/>
                <a:ea typeface="Calibri" pitchFamily="34" charset="-122"/>
                <a:cs typeface="Calibri" pitchFamily="34" charset="-120"/>
              </a:rPr>
              <a:t>Measured on the release build with an Android-sized memory limit. Both reports completed well inside it.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00113D"/>
                </a:solidFill>
                <a:latin typeface="Cambria" pitchFamily="34" charset="0"/>
                <a:ea typeface="Cambria" pitchFamily="34" charset="-122"/>
                <a:cs typeface="Cambria" pitchFamily="34" charset="-120"/>
              </a:rPr>
              <a:t>What this changes for HR</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Six outcomes, in the order HR feels them</a:t>
            </a:r>
            <a:endParaRPr lang="en-US" sz="1300" dirty="0"/>
          </a:p>
        </p:txBody>
      </p:sp>
      <p:sp>
        <p:nvSpPr>
          <p:cNvPr id="4" name="Shape 2"/>
          <p:cNvSpPr/>
          <p:nvPr/>
        </p:nvSpPr>
        <p:spPr>
          <a:xfrm>
            <a:off x="457200" y="1371600"/>
            <a:ext cx="2578608" cy="1371600"/>
          </a:xfrm>
          <a:prstGeom prst="roundRect">
            <a:avLst>
              <a:gd name="adj" fmla="val 6000"/>
            </a:avLst>
          </a:prstGeom>
          <a:solidFill>
            <a:srgbClr val="F5F7F5"/>
          </a:solidFill>
          <a:ln w="9525">
            <a:solidFill>
              <a:srgbClr val="DEE6E1"/>
            </a:solidFill>
            <a:prstDash val="solid"/>
          </a:ln>
        </p:spPr>
      </p:sp>
      <p:sp>
        <p:nvSpPr>
          <p:cNvPr id="5" name="Shape 3"/>
          <p:cNvSpPr/>
          <p:nvPr/>
        </p:nvSpPr>
        <p:spPr>
          <a:xfrm>
            <a:off x="676656" y="1572768"/>
            <a:ext cx="384048" cy="384048"/>
          </a:xfrm>
          <a:prstGeom prst="ellipse">
            <a:avLst/>
          </a:prstGeom>
          <a:solidFill>
            <a:srgbClr val="17875E"/>
          </a:solidFill>
          <a:ln w="12700">
            <a:solidFill>
              <a:srgbClr val="17875E"/>
            </a:solidFill>
            <a:prstDash val="solid"/>
          </a:ln>
        </p:spPr>
      </p:sp>
      <p:sp>
        <p:nvSpPr>
          <p:cNvPr id="6" name="Text 4"/>
          <p:cNvSpPr txBox="1"/>
          <p:nvPr/>
        </p:nvSpPr>
        <p:spPr>
          <a:xfrm>
            <a:off x="676656" y="15727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152144" y="1554480"/>
            <a:ext cx="1755648" cy="457200"/>
          </a:xfrm>
          <a:prstGeom prst="rect">
            <a:avLst/>
          </a:prstGeom>
          <a:noFill/>
          <a:ln/>
        </p:spPr>
        <p:txBody>
          <a:bodyPr wrap="square" lIns="0" tIns="0" rIns="0" bIns="0" rtlCol="0" anchor="t"/>
          <a:lstStyle/>
          <a:p>
            <a:pPr algn="l" indent="0" marL="0">
              <a:lnSpc>
                <a:spcPct val="110000"/>
              </a:lnSpc>
              <a:buNone/>
            </a:pPr>
            <a:r>
              <a:rPr lang="en-US" sz="1200" b="1" dirty="0">
                <a:solidFill>
                  <a:srgbClr val="141F1A"/>
                </a:solidFill>
                <a:latin typeface="Calibri" pitchFamily="34" charset="0"/>
                <a:ea typeface="Calibri" pitchFamily="34" charset="-122"/>
                <a:cs typeface="Calibri" pitchFamily="34" charset="-120"/>
              </a:rPr>
              <a:t>Payroll you can defend</a:t>
            </a:r>
            <a:endParaRPr lang="en-US" sz="1200" dirty="0"/>
          </a:p>
        </p:txBody>
      </p:sp>
      <p:sp>
        <p:nvSpPr>
          <p:cNvPr id="8" name="Text 6"/>
          <p:cNvSpPr txBox="1"/>
          <p:nvPr/>
        </p:nvSpPr>
        <p:spPr>
          <a:xfrm>
            <a:off x="676656" y="2084832"/>
            <a:ext cx="2157984" cy="566928"/>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Every paid day traces back to a GPS-verified record naming the person who marked it.</a:t>
            </a:r>
            <a:endParaRPr lang="en-US" sz="1000" dirty="0"/>
          </a:p>
        </p:txBody>
      </p:sp>
      <p:sp>
        <p:nvSpPr>
          <p:cNvPr id="9" name="Shape 7"/>
          <p:cNvSpPr/>
          <p:nvPr/>
        </p:nvSpPr>
        <p:spPr>
          <a:xfrm>
            <a:off x="3282696" y="1371600"/>
            <a:ext cx="2578608" cy="1371600"/>
          </a:xfrm>
          <a:prstGeom prst="roundRect">
            <a:avLst>
              <a:gd name="adj" fmla="val 6000"/>
            </a:avLst>
          </a:prstGeom>
          <a:solidFill>
            <a:srgbClr val="F5F7F5"/>
          </a:solidFill>
          <a:ln w="9525">
            <a:solidFill>
              <a:srgbClr val="DEE6E1"/>
            </a:solidFill>
            <a:prstDash val="solid"/>
          </a:ln>
        </p:spPr>
      </p:sp>
      <p:sp>
        <p:nvSpPr>
          <p:cNvPr id="10" name="Shape 8"/>
          <p:cNvSpPr/>
          <p:nvPr/>
        </p:nvSpPr>
        <p:spPr>
          <a:xfrm>
            <a:off x="3502152" y="1572768"/>
            <a:ext cx="384048" cy="384048"/>
          </a:xfrm>
          <a:prstGeom prst="ellipse">
            <a:avLst/>
          </a:prstGeom>
          <a:solidFill>
            <a:srgbClr val="0B66D6"/>
          </a:solidFill>
          <a:ln w="12700">
            <a:solidFill>
              <a:srgbClr val="0B66D6"/>
            </a:solidFill>
            <a:prstDash val="solid"/>
          </a:ln>
        </p:spPr>
      </p:sp>
      <p:sp>
        <p:nvSpPr>
          <p:cNvPr id="11" name="Text 9"/>
          <p:cNvSpPr txBox="1"/>
          <p:nvPr/>
        </p:nvSpPr>
        <p:spPr>
          <a:xfrm>
            <a:off x="3502152" y="15727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977640" y="1554480"/>
            <a:ext cx="1755648" cy="457200"/>
          </a:xfrm>
          <a:prstGeom prst="rect">
            <a:avLst/>
          </a:prstGeom>
          <a:noFill/>
          <a:ln/>
        </p:spPr>
        <p:txBody>
          <a:bodyPr wrap="square" lIns="0" tIns="0" rIns="0" bIns="0" rtlCol="0" anchor="t"/>
          <a:lstStyle/>
          <a:p>
            <a:pPr algn="l" indent="0" marL="0">
              <a:lnSpc>
                <a:spcPct val="110000"/>
              </a:lnSpc>
              <a:buNone/>
            </a:pPr>
            <a:r>
              <a:rPr lang="en-US" sz="1200" b="1" dirty="0">
                <a:solidFill>
                  <a:srgbClr val="141F1A"/>
                </a:solidFill>
                <a:latin typeface="Calibri" pitchFamily="34" charset="0"/>
                <a:ea typeface="Calibri" pitchFamily="34" charset="-122"/>
                <a:cs typeface="Calibri" pitchFamily="34" charset="-120"/>
              </a:rPr>
              <a:t>Month-end in minutes</a:t>
            </a:r>
            <a:endParaRPr lang="en-US" sz="1200" dirty="0"/>
          </a:p>
        </p:txBody>
      </p:sp>
      <p:sp>
        <p:nvSpPr>
          <p:cNvPr id="13" name="Text 11"/>
          <p:cNvSpPr txBox="1"/>
          <p:nvPr/>
        </p:nvSpPr>
        <p:spPr>
          <a:xfrm>
            <a:off x="3502152" y="2084832"/>
            <a:ext cx="2157984" cy="566928"/>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Trade-wise, absentee and hours reports generate on demand instead of being rebuilt by hand.</a:t>
            </a:r>
            <a:endParaRPr lang="en-US" sz="1000" dirty="0"/>
          </a:p>
        </p:txBody>
      </p:sp>
      <p:sp>
        <p:nvSpPr>
          <p:cNvPr id="14" name="Shape 12"/>
          <p:cNvSpPr/>
          <p:nvPr/>
        </p:nvSpPr>
        <p:spPr>
          <a:xfrm>
            <a:off x="6108192" y="1371600"/>
            <a:ext cx="2578608" cy="1371600"/>
          </a:xfrm>
          <a:prstGeom prst="roundRect">
            <a:avLst>
              <a:gd name="adj" fmla="val 6000"/>
            </a:avLst>
          </a:prstGeom>
          <a:solidFill>
            <a:srgbClr val="F5F7F5"/>
          </a:solidFill>
          <a:ln w="9525">
            <a:solidFill>
              <a:srgbClr val="DEE6E1"/>
            </a:solidFill>
            <a:prstDash val="solid"/>
          </a:ln>
        </p:spPr>
      </p:sp>
      <p:sp>
        <p:nvSpPr>
          <p:cNvPr id="15" name="Shape 13"/>
          <p:cNvSpPr/>
          <p:nvPr/>
        </p:nvSpPr>
        <p:spPr>
          <a:xfrm>
            <a:off x="6327648" y="1572768"/>
            <a:ext cx="384048" cy="384048"/>
          </a:xfrm>
          <a:prstGeom prst="ellipse">
            <a:avLst/>
          </a:prstGeom>
          <a:solidFill>
            <a:srgbClr val="00113D"/>
          </a:solidFill>
          <a:ln w="12700">
            <a:solidFill>
              <a:srgbClr val="00113D"/>
            </a:solidFill>
            <a:prstDash val="solid"/>
          </a:ln>
        </p:spPr>
      </p:sp>
      <p:sp>
        <p:nvSpPr>
          <p:cNvPr id="16" name="Text 14"/>
          <p:cNvSpPr txBox="1"/>
          <p:nvPr/>
        </p:nvSpPr>
        <p:spPr>
          <a:xfrm>
            <a:off x="6327648" y="15727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803136" y="1554480"/>
            <a:ext cx="1755648" cy="457200"/>
          </a:xfrm>
          <a:prstGeom prst="rect">
            <a:avLst/>
          </a:prstGeom>
          <a:noFill/>
          <a:ln/>
        </p:spPr>
        <p:txBody>
          <a:bodyPr wrap="square" lIns="0" tIns="0" rIns="0" bIns="0" rtlCol="0" anchor="t"/>
          <a:lstStyle/>
          <a:p>
            <a:pPr algn="l" indent="0" marL="0">
              <a:lnSpc>
                <a:spcPct val="110000"/>
              </a:lnSpc>
              <a:buNone/>
            </a:pPr>
            <a:r>
              <a:rPr lang="en-US" sz="1200" b="1" dirty="0">
                <a:solidFill>
                  <a:srgbClr val="141F1A"/>
                </a:solidFill>
                <a:latin typeface="Calibri" pitchFamily="34" charset="0"/>
                <a:ea typeface="Calibri" pitchFamily="34" charset="-122"/>
                <a:cs typeface="Calibri" pitchFamily="34" charset="-120"/>
              </a:rPr>
              <a:t>Accurate cost allocation</a:t>
            </a:r>
            <a:endParaRPr lang="en-US" sz="1200" dirty="0"/>
          </a:p>
        </p:txBody>
      </p:sp>
      <p:sp>
        <p:nvSpPr>
          <p:cNvPr id="18" name="Text 16"/>
          <p:cNvSpPr txBox="1"/>
          <p:nvPr/>
        </p:nvSpPr>
        <p:spPr>
          <a:xfrm>
            <a:off x="6327648" y="2084832"/>
            <a:ext cx="2157984" cy="566928"/>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Transfers move the roster the same day, so a worker is charged to the project he actually worked on.</a:t>
            </a:r>
            <a:endParaRPr lang="en-US" sz="1000" dirty="0"/>
          </a:p>
        </p:txBody>
      </p:sp>
      <p:sp>
        <p:nvSpPr>
          <p:cNvPr id="19" name="Shape 17"/>
          <p:cNvSpPr/>
          <p:nvPr/>
        </p:nvSpPr>
        <p:spPr>
          <a:xfrm>
            <a:off x="457200" y="2944368"/>
            <a:ext cx="2578608" cy="1371600"/>
          </a:xfrm>
          <a:prstGeom prst="roundRect">
            <a:avLst>
              <a:gd name="adj" fmla="val 6000"/>
            </a:avLst>
          </a:prstGeom>
          <a:solidFill>
            <a:srgbClr val="F5F7F5"/>
          </a:solidFill>
          <a:ln w="9525">
            <a:solidFill>
              <a:srgbClr val="DEE6E1"/>
            </a:solidFill>
            <a:prstDash val="solid"/>
          </a:ln>
        </p:spPr>
      </p:sp>
      <p:sp>
        <p:nvSpPr>
          <p:cNvPr id="20" name="Shape 18"/>
          <p:cNvSpPr/>
          <p:nvPr/>
        </p:nvSpPr>
        <p:spPr>
          <a:xfrm>
            <a:off x="676656" y="3145536"/>
            <a:ext cx="384048" cy="384048"/>
          </a:xfrm>
          <a:prstGeom prst="ellipse">
            <a:avLst/>
          </a:prstGeom>
          <a:solidFill>
            <a:srgbClr val="0378E2"/>
          </a:solidFill>
          <a:ln w="12700">
            <a:solidFill>
              <a:srgbClr val="0378E2"/>
            </a:solidFill>
            <a:prstDash val="solid"/>
          </a:ln>
        </p:spPr>
      </p:sp>
      <p:sp>
        <p:nvSpPr>
          <p:cNvPr id="21" name="Text 19"/>
          <p:cNvSpPr txBox="1"/>
          <p:nvPr/>
        </p:nvSpPr>
        <p:spPr>
          <a:xfrm>
            <a:off x="676656" y="31455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152144" y="3127248"/>
            <a:ext cx="1755648" cy="457200"/>
          </a:xfrm>
          <a:prstGeom prst="rect">
            <a:avLst/>
          </a:prstGeom>
          <a:noFill/>
          <a:ln/>
        </p:spPr>
        <p:txBody>
          <a:bodyPr wrap="square" lIns="0" tIns="0" rIns="0" bIns="0" rtlCol="0" anchor="t"/>
          <a:lstStyle/>
          <a:p>
            <a:pPr algn="l" indent="0" marL="0">
              <a:lnSpc>
                <a:spcPct val="110000"/>
              </a:lnSpc>
              <a:buNone/>
            </a:pPr>
            <a:r>
              <a:rPr lang="en-US" sz="1200" b="1" dirty="0">
                <a:solidFill>
                  <a:srgbClr val="141F1A"/>
                </a:solidFill>
                <a:latin typeface="Calibri" pitchFamily="34" charset="0"/>
                <a:ea typeface="Calibri" pitchFamily="34" charset="-122"/>
                <a:cs typeface="Calibri" pitchFamily="34" charset="-120"/>
              </a:rPr>
              <a:t>Leave handled in the system</a:t>
            </a:r>
            <a:endParaRPr lang="en-US" sz="1200" dirty="0"/>
          </a:p>
        </p:txBody>
      </p:sp>
      <p:sp>
        <p:nvSpPr>
          <p:cNvPr id="23" name="Text 21"/>
          <p:cNvSpPr txBox="1"/>
          <p:nvPr/>
        </p:nvSpPr>
        <p:spPr>
          <a:xfrm>
            <a:off x="676656" y="3657600"/>
            <a:ext cx="2157984" cy="566928"/>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Staff apply, admin approves, and approved leave is automatically excluded from absence.</a:t>
            </a:r>
            <a:endParaRPr lang="en-US" sz="1000" dirty="0"/>
          </a:p>
        </p:txBody>
      </p:sp>
      <p:sp>
        <p:nvSpPr>
          <p:cNvPr id="24" name="Shape 22"/>
          <p:cNvSpPr/>
          <p:nvPr/>
        </p:nvSpPr>
        <p:spPr>
          <a:xfrm>
            <a:off x="3282696" y="2944368"/>
            <a:ext cx="2578608" cy="1371600"/>
          </a:xfrm>
          <a:prstGeom prst="roundRect">
            <a:avLst>
              <a:gd name="adj" fmla="val 6000"/>
            </a:avLst>
          </a:prstGeom>
          <a:solidFill>
            <a:srgbClr val="F5F7F5"/>
          </a:solidFill>
          <a:ln w="9525">
            <a:solidFill>
              <a:srgbClr val="DEE6E1"/>
            </a:solidFill>
            <a:prstDash val="solid"/>
          </a:ln>
        </p:spPr>
      </p:sp>
      <p:sp>
        <p:nvSpPr>
          <p:cNvPr id="25" name="Shape 23"/>
          <p:cNvSpPr/>
          <p:nvPr/>
        </p:nvSpPr>
        <p:spPr>
          <a:xfrm>
            <a:off x="3502152" y="3145536"/>
            <a:ext cx="384048" cy="384048"/>
          </a:xfrm>
          <a:prstGeom prst="ellipse">
            <a:avLst/>
          </a:prstGeom>
          <a:solidFill>
            <a:srgbClr val="B8842E"/>
          </a:solidFill>
          <a:ln w="12700">
            <a:solidFill>
              <a:srgbClr val="B8842E"/>
            </a:solidFill>
            <a:prstDash val="solid"/>
          </a:ln>
        </p:spPr>
      </p:sp>
      <p:sp>
        <p:nvSpPr>
          <p:cNvPr id="26" name="Text 24"/>
          <p:cNvSpPr txBox="1"/>
          <p:nvPr/>
        </p:nvSpPr>
        <p:spPr>
          <a:xfrm>
            <a:off x="3502152" y="31455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3977640" y="3127248"/>
            <a:ext cx="1755648" cy="457200"/>
          </a:xfrm>
          <a:prstGeom prst="rect">
            <a:avLst/>
          </a:prstGeom>
          <a:noFill/>
          <a:ln/>
        </p:spPr>
        <p:txBody>
          <a:bodyPr wrap="square" lIns="0" tIns="0" rIns="0" bIns="0" rtlCol="0" anchor="t"/>
          <a:lstStyle/>
          <a:p>
            <a:pPr algn="l" indent="0" marL="0">
              <a:lnSpc>
                <a:spcPct val="110000"/>
              </a:lnSpc>
              <a:buNone/>
            </a:pPr>
            <a:r>
              <a:rPr lang="en-US" sz="1200" b="1" dirty="0">
                <a:solidFill>
                  <a:srgbClr val="141F1A"/>
                </a:solidFill>
                <a:latin typeface="Calibri" pitchFamily="34" charset="0"/>
                <a:ea typeface="Calibri" pitchFamily="34" charset="-122"/>
                <a:cs typeface="Calibri" pitchFamily="34" charset="-120"/>
              </a:rPr>
              <a:t>Disputes settled by record</a:t>
            </a:r>
            <a:endParaRPr lang="en-US" sz="1200" dirty="0"/>
          </a:p>
        </p:txBody>
      </p:sp>
      <p:sp>
        <p:nvSpPr>
          <p:cNvPr id="28" name="Text 26"/>
          <p:cNvSpPr txBox="1"/>
          <p:nvPr/>
        </p:nvSpPr>
        <p:spPr>
          <a:xfrm>
            <a:off x="3502152" y="3657600"/>
            <a:ext cx="2157984" cy="566928"/>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Worker Locator answers 'where was he on the 14th?' in seconds, for any past date.</a:t>
            </a:r>
            <a:endParaRPr lang="en-US" sz="1000" dirty="0"/>
          </a:p>
        </p:txBody>
      </p:sp>
      <p:sp>
        <p:nvSpPr>
          <p:cNvPr id="29" name="Shape 27"/>
          <p:cNvSpPr/>
          <p:nvPr/>
        </p:nvSpPr>
        <p:spPr>
          <a:xfrm>
            <a:off x="6108192" y="2944368"/>
            <a:ext cx="2578608" cy="1371600"/>
          </a:xfrm>
          <a:prstGeom prst="roundRect">
            <a:avLst>
              <a:gd name="adj" fmla="val 6000"/>
            </a:avLst>
          </a:prstGeom>
          <a:solidFill>
            <a:srgbClr val="F5F7F5"/>
          </a:solidFill>
          <a:ln w="9525">
            <a:solidFill>
              <a:srgbClr val="DEE6E1"/>
            </a:solidFill>
            <a:prstDash val="solid"/>
          </a:ln>
        </p:spPr>
      </p:sp>
      <p:sp>
        <p:nvSpPr>
          <p:cNvPr id="30" name="Shape 28"/>
          <p:cNvSpPr/>
          <p:nvPr/>
        </p:nvSpPr>
        <p:spPr>
          <a:xfrm>
            <a:off x="6327648" y="3145536"/>
            <a:ext cx="384048" cy="384048"/>
          </a:xfrm>
          <a:prstGeom prst="ellipse">
            <a:avLst/>
          </a:prstGeom>
          <a:solidFill>
            <a:srgbClr val="5B6B63"/>
          </a:solidFill>
          <a:ln w="12700">
            <a:solidFill>
              <a:srgbClr val="5B6B63"/>
            </a:solidFill>
            <a:prstDash val="solid"/>
          </a:ln>
        </p:spPr>
      </p:sp>
      <p:sp>
        <p:nvSpPr>
          <p:cNvPr id="31" name="Text 29"/>
          <p:cNvSpPr txBox="1"/>
          <p:nvPr/>
        </p:nvSpPr>
        <p:spPr>
          <a:xfrm>
            <a:off x="6327648" y="31455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6803136" y="3127248"/>
            <a:ext cx="1755648" cy="457200"/>
          </a:xfrm>
          <a:prstGeom prst="rect">
            <a:avLst/>
          </a:prstGeom>
          <a:noFill/>
          <a:ln/>
        </p:spPr>
        <p:txBody>
          <a:bodyPr wrap="square" lIns="0" tIns="0" rIns="0" bIns="0" rtlCol="0" anchor="t"/>
          <a:lstStyle/>
          <a:p>
            <a:pPr algn="l" indent="0" marL="0">
              <a:lnSpc>
                <a:spcPct val="110000"/>
              </a:lnSpc>
              <a:buNone/>
            </a:pPr>
            <a:r>
              <a:rPr lang="en-US" sz="1200" b="1" dirty="0">
                <a:solidFill>
                  <a:srgbClr val="141F1A"/>
                </a:solidFill>
                <a:latin typeface="Calibri" pitchFamily="34" charset="0"/>
                <a:ea typeface="Calibri" pitchFamily="34" charset="-122"/>
                <a:cs typeface="Calibri" pitchFamily="34" charset="-120"/>
              </a:rPr>
              <a:t>Nothing lost with a phone</a:t>
            </a:r>
            <a:endParaRPr lang="en-US" sz="1200" dirty="0"/>
          </a:p>
        </p:txBody>
      </p:sp>
      <p:sp>
        <p:nvSpPr>
          <p:cNvPr id="33" name="Text 31"/>
          <p:cNvSpPr txBox="1"/>
          <p:nvPr/>
        </p:nvSpPr>
        <p:spPr>
          <a:xfrm>
            <a:off x="6327648" y="3657600"/>
            <a:ext cx="2157984" cy="566928"/>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Data lives in Google's cloud, not on the device. A broken or stolen phone loses no attendance.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566928"/>
          </a:xfrm>
          <a:prstGeom prst="rect">
            <a:avLst/>
          </a:prstGeom>
          <a:noFill/>
          <a:ln/>
        </p:spPr>
        <p:txBody>
          <a:bodyPr wrap="square" lIns="0" tIns="0" rIns="0" bIns="0" rtlCol="0" anchor="ctr"/>
          <a:lstStyle/>
          <a:p>
            <a:pPr algn="l" indent="0" marL="0">
              <a:buNone/>
            </a:pPr>
            <a:r>
              <a:rPr lang="en-US" sz="3200" b="1" dirty="0">
                <a:solidFill>
                  <a:srgbClr val="00113D"/>
                </a:solidFill>
                <a:latin typeface="Cambria" pitchFamily="34" charset="0"/>
                <a:ea typeface="Cambria" pitchFamily="34" charset="-122"/>
                <a:cs typeface="Cambria" pitchFamily="34" charset="-120"/>
              </a:rPr>
              <a:t>Running cost and what comes next</a:t>
            </a:r>
            <a:endParaRPr lang="en-US" sz="3200" dirty="0"/>
          </a:p>
        </p:txBody>
      </p:sp>
      <p:sp>
        <p:nvSpPr>
          <p:cNvPr id="3" name="Text 1"/>
          <p:cNvSpPr txBox="1"/>
          <p:nvPr/>
        </p:nvSpPr>
        <p:spPr>
          <a:xfrm>
            <a:off x="457200" y="905256"/>
            <a:ext cx="8229600" cy="310896"/>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No licence fees, no per-user charge, no server to buy</a:t>
            </a:r>
            <a:endParaRPr lang="en-US" sz="1300" dirty="0"/>
          </a:p>
        </p:txBody>
      </p:sp>
      <p:sp>
        <p:nvSpPr>
          <p:cNvPr id="4" name="Shape 2"/>
          <p:cNvSpPr/>
          <p:nvPr/>
        </p:nvSpPr>
        <p:spPr>
          <a:xfrm>
            <a:off x="457200" y="1371600"/>
            <a:ext cx="3977640" cy="1783080"/>
          </a:xfrm>
          <a:prstGeom prst="roundRect">
            <a:avLst>
              <a:gd name="adj" fmla="val 4615"/>
            </a:avLst>
          </a:prstGeom>
          <a:solidFill>
            <a:srgbClr val="E9F2ED"/>
          </a:solidFill>
          <a:ln w="9525">
            <a:solidFill>
              <a:srgbClr val="DEE6E1"/>
            </a:solidFill>
            <a:prstDash val="solid"/>
          </a:ln>
        </p:spPr>
      </p:sp>
      <p:sp>
        <p:nvSpPr>
          <p:cNvPr id="5" name="Text 3"/>
          <p:cNvSpPr txBox="1"/>
          <p:nvPr/>
        </p:nvSpPr>
        <p:spPr>
          <a:xfrm>
            <a:off x="694944" y="1536192"/>
            <a:ext cx="3474720" cy="237744"/>
          </a:xfrm>
          <a:prstGeom prst="rect">
            <a:avLst/>
          </a:prstGeom>
          <a:noFill/>
          <a:ln/>
        </p:spPr>
        <p:txBody>
          <a:bodyPr wrap="square" lIns="0" tIns="0" rIns="0" bIns="0" rtlCol="0" anchor="t"/>
          <a:lstStyle/>
          <a:p>
            <a:pPr algn="l" indent="0" marL="0">
              <a:lnSpc>
                <a:spcPct val="110000"/>
              </a:lnSpc>
              <a:buNone/>
            </a:pPr>
            <a:r>
              <a:rPr lang="en-US" sz="1050" b="1" dirty="0">
                <a:solidFill>
                  <a:srgbClr val="17875E"/>
                </a:solidFill>
                <a:latin typeface="Calibri" pitchFamily="34" charset="0"/>
                <a:ea typeface="Calibri" pitchFamily="34" charset="-122"/>
                <a:cs typeface="Calibri" pitchFamily="34" charset="-120"/>
              </a:rPr>
              <a:t>COST</a:t>
            </a:r>
            <a:endParaRPr lang="en-US" sz="1050" dirty="0"/>
          </a:p>
        </p:txBody>
      </p:sp>
      <p:sp>
        <p:nvSpPr>
          <p:cNvPr id="6" name="Text 4"/>
          <p:cNvSpPr txBox="1"/>
          <p:nvPr/>
        </p:nvSpPr>
        <p:spPr>
          <a:xfrm>
            <a:off x="694944" y="1828800"/>
            <a:ext cx="3520440" cy="777240"/>
          </a:xfrm>
          <a:prstGeom prst="rect">
            <a:avLst/>
          </a:prstGeom>
          <a:noFill/>
          <a:ln/>
        </p:spPr>
        <p:txBody>
          <a:bodyPr wrap="square" lIns="0" tIns="0" rIns="0" bIns="0" rtlCol="0" anchor="t"/>
          <a:lstStyle/>
          <a:p>
            <a:pPr algn="l" indent="0" marL="0">
              <a:lnSpc>
                <a:spcPct val="110000"/>
              </a:lnSpc>
              <a:buNone/>
            </a:pPr>
            <a:r>
              <a:rPr lang="en-US" sz="1100" dirty="0">
                <a:solidFill>
                  <a:srgbClr val="5B6B63"/>
                </a:solidFill>
                <a:latin typeface="Calibri" pitchFamily="34" charset="0"/>
                <a:ea typeface="Calibri" pitchFamily="34" charset="-122"/>
                <a:cs typeface="Calibri" pitchFamily="34" charset="-120"/>
              </a:rPr>
              <a:t>There is no software licence and no per-user fee. The only cost is Google's charge for data stored and read, which scales with how much the system is actually used.</a:t>
            </a:r>
            <a:endParaRPr lang="en-US" sz="1100" dirty="0"/>
          </a:p>
        </p:txBody>
      </p:sp>
      <p:sp>
        <p:nvSpPr>
          <p:cNvPr id="7" name="Text 5"/>
          <p:cNvSpPr txBox="1"/>
          <p:nvPr/>
        </p:nvSpPr>
        <p:spPr>
          <a:xfrm>
            <a:off x="694944" y="2633472"/>
            <a:ext cx="3520440" cy="384048"/>
          </a:xfrm>
          <a:prstGeom prst="rect">
            <a:avLst/>
          </a:prstGeom>
          <a:noFill/>
          <a:ln/>
        </p:spPr>
        <p:txBody>
          <a:bodyPr wrap="square" lIns="0" tIns="0" rIns="0" bIns="0" rtlCol="0" anchor="t"/>
          <a:lstStyle/>
          <a:p>
            <a:pPr algn="l" indent="0" marL="0">
              <a:lnSpc>
                <a:spcPct val="110000"/>
              </a:lnSpc>
              <a:buNone/>
            </a:pPr>
            <a:r>
              <a:rPr lang="en-US" sz="1100" b="1" dirty="0">
                <a:solidFill>
                  <a:srgbClr val="17875E"/>
                </a:solidFill>
                <a:latin typeface="Calibri" pitchFamily="34" charset="0"/>
                <a:ea typeface="Calibri" pitchFamily="34" charset="-122"/>
                <a:cs typeface="Calibri" pitchFamily="34" charset="-120"/>
              </a:rPr>
              <a:t>At 4,000 workers this is projected to sit well inside a USD 100 per month budget.</a:t>
            </a:r>
            <a:endParaRPr lang="en-US" sz="1100" dirty="0"/>
          </a:p>
        </p:txBody>
      </p:sp>
      <p:sp>
        <p:nvSpPr>
          <p:cNvPr id="8" name="Text 6"/>
          <p:cNvSpPr txBox="1"/>
          <p:nvPr/>
        </p:nvSpPr>
        <p:spPr>
          <a:xfrm>
            <a:off x="4709160" y="1536192"/>
            <a:ext cx="3840480" cy="237744"/>
          </a:xfrm>
          <a:prstGeom prst="rect">
            <a:avLst/>
          </a:prstGeom>
          <a:noFill/>
          <a:ln/>
        </p:spPr>
        <p:txBody>
          <a:bodyPr wrap="square" lIns="0" tIns="0" rIns="0" bIns="0" rtlCol="0" anchor="t"/>
          <a:lstStyle/>
          <a:p>
            <a:pPr algn="l" indent="0" marL="0">
              <a:lnSpc>
                <a:spcPct val="110000"/>
              </a:lnSpc>
              <a:buNone/>
            </a:pPr>
            <a:r>
              <a:rPr lang="en-US" sz="1050" b="1" dirty="0">
                <a:solidFill>
                  <a:srgbClr val="00113D"/>
                </a:solidFill>
                <a:latin typeface="Calibri" pitchFamily="34" charset="0"/>
                <a:ea typeface="Calibri" pitchFamily="34" charset="-122"/>
                <a:cs typeface="Calibri" pitchFamily="34" charset="-120"/>
              </a:rPr>
              <a:t>ALREADY PLANNED</a:t>
            </a:r>
            <a:endParaRPr lang="en-US" sz="1050" dirty="0"/>
          </a:p>
        </p:txBody>
      </p:sp>
      <p:sp>
        <p:nvSpPr>
          <p:cNvPr id="9" name="Shape 7"/>
          <p:cNvSpPr/>
          <p:nvPr/>
        </p:nvSpPr>
        <p:spPr>
          <a:xfrm>
            <a:off x="4709160" y="1874520"/>
            <a:ext cx="274320" cy="274320"/>
          </a:xfrm>
          <a:prstGeom prst="ellipse">
            <a:avLst/>
          </a:prstGeom>
          <a:solidFill>
            <a:srgbClr val="0B66D6"/>
          </a:solidFill>
          <a:ln w="12700">
            <a:solidFill>
              <a:srgbClr val="0B66D6"/>
            </a:solidFill>
            <a:prstDash val="solid"/>
          </a:ln>
        </p:spPr>
      </p:sp>
      <p:sp>
        <p:nvSpPr>
          <p:cNvPr id="10" name="Text 8"/>
          <p:cNvSpPr txBox="1"/>
          <p:nvPr/>
        </p:nvSpPr>
        <p:spPr>
          <a:xfrm>
            <a:off x="4709160" y="18745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5120640" y="1847088"/>
            <a:ext cx="3566160" cy="237744"/>
          </a:xfrm>
          <a:prstGeom prst="rect">
            <a:avLst/>
          </a:prstGeom>
          <a:noFill/>
          <a:ln/>
        </p:spPr>
        <p:txBody>
          <a:bodyPr wrap="square" lIns="0" tIns="0" rIns="0" bIns="0" rtlCol="0" anchor="t"/>
          <a:lstStyle/>
          <a:p>
            <a:pPr algn="l" indent="0" marL="0">
              <a:lnSpc>
                <a:spcPct val="110000"/>
              </a:lnSpc>
              <a:buNone/>
            </a:pPr>
            <a:r>
              <a:rPr lang="en-US" sz="1150" b="1" dirty="0">
                <a:solidFill>
                  <a:srgbClr val="141F1A"/>
                </a:solidFill>
                <a:latin typeface="Calibri" pitchFamily="34" charset="0"/>
                <a:ea typeface="Calibri" pitchFamily="34" charset="-122"/>
                <a:cs typeface="Calibri" pitchFamily="34" charset="-120"/>
              </a:rPr>
              <a:t>Push notifications</a:t>
            </a:r>
            <a:endParaRPr lang="en-US" sz="1150" dirty="0"/>
          </a:p>
        </p:txBody>
      </p:sp>
      <p:sp>
        <p:nvSpPr>
          <p:cNvPr id="12" name="Text 10"/>
          <p:cNvSpPr txBox="1"/>
          <p:nvPr/>
        </p:nvSpPr>
        <p:spPr>
          <a:xfrm>
            <a:off x="5120640" y="2103120"/>
            <a:ext cx="3566160" cy="310896"/>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Alerts for transfers, arrivals and leave — needs one server function switched on.</a:t>
            </a:r>
            <a:endParaRPr lang="en-US" sz="1000" dirty="0"/>
          </a:p>
        </p:txBody>
      </p:sp>
      <p:sp>
        <p:nvSpPr>
          <p:cNvPr id="13" name="Shape 11"/>
          <p:cNvSpPr/>
          <p:nvPr/>
        </p:nvSpPr>
        <p:spPr>
          <a:xfrm>
            <a:off x="4709160" y="2551176"/>
            <a:ext cx="274320" cy="274320"/>
          </a:xfrm>
          <a:prstGeom prst="ellipse">
            <a:avLst/>
          </a:prstGeom>
          <a:solidFill>
            <a:srgbClr val="00113D"/>
          </a:solidFill>
          <a:ln w="12700">
            <a:solidFill>
              <a:srgbClr val="00113D"/>
            </a:solidFill>
            <a:prstDash val="solid"/>
          </a:ln>
        </p:spPr>
      </p:sp>
      <p:sp>
        <p:nvSpPr>
          <p:cNvPr id="14" name="Text 12"/>
          <p:cNvSpPr txBox="1"/>
          <p:nvPr/>
        </p:nvSpPr>
        <p:spPr>
          <a:xfrm>
            <a:off x="4709160" y="255117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5120640" y="2523744"/>
            <a:ext cx="3566160" cy="237744"/>
          </a:xfrm>
          <a:prstGeom prst="rect">
            <a:avLst/>
          </a:prstGeom>
          <a:noFill/>
          <a:ln/>
        </p:spPr>
        <p:txBody>
          <a:bodyPr wrap="square" lIns="0" tIns="0" rIns="0" bIns="0" rtlCol="0" anchor="t"/>
          <a:lstStyle/>
          <a:p>
            <a:pPr algn="l" indent="0" marL="0">
              <a:lnSpc>
                <a:spcPct val="110000"/>
              </a:lnSpc>
              <a:buNone/>
            </a:pPr>
            <a:r>
              <a:rPr lang="en-US" sz="1150" b="1" dirty="0">
                <a:solidFill>
                  <a:srgbClr val="141F1A"/>
                </a:solidFill>
                <a:latin typeface="Calibri" pitchFamily="34" charset="0"/>
                <a:ea typeface="Calibri" pitchFamily="34" charset="-122"/>
                <a:cs typeface="Calibri" pitchFamily="34" charset="-120"/>
              </a:rPr>
              <a:t>Photo on check-in</a:t>
            </a:r>
            <a:endParaRPr lang="en-US" sz="1150" dirty="0"/>
          </a:p>
        </p:txBody>
      </p:sp>
      <p:sp>
        <p:nvSpPr>
          <p:cNvPr id="16" name="Text 14"/>
          <p:cNvSpPr txBox="1"/>
          <p:nvPr/>
        </p:nvSpPr>
        <p:spPr>
          <a:xfrm>
            <a:off x="5120640" y="2779776"/>
            <a:ext cx="3566160" cy="310896"/>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An optional photo stored with the attendance record.</a:t>
            </a:r>
            <a:endParaRPr lang="en-US" sz="1000" dirty="0"/>
          </a:p>
        </p:txBody>
      </p:sp>
      <p:sp>
        <p:nvSpPr>
          <p:cNvPr id="17" name="Shape 15"/>
          <p:cNvSpPr/>
          <p:nvPr/>
        </p:nvSpPr>
        <p:spPr>
          <a:xfrm>
            <a:off x="4709160" y="3227832"/>
            <a:ext cx="274320" cy="274320"/>
          </a:xfrm>
          <a:prstGeom prst="ellipse">
            <a:avLst/>
          </a:prstGeom>
          <a:solidFill>
            <a:srgbClr val="0B66D6"/>
          </a:solidFill>
          <a:ln w="12700">
            <a:solidFill>
              <a:srgbClr val="0B66D6"/>
            </a:solidFill>
            <a:prstDash val="solid"/>
          </a:ln>
        </p:spPr>
      </p:sp>
      <p:sp>
        <p:nvSpPr>
          <p:cNvPr id="18" name="Text 16"/>
          <p:cNvSpPr txBox="1"/>
          <p:nvPr/>
        </p:nvSpPr>
        <p:spPr>
          <a:xfrm>
            <a:off x="4709160" y="322783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5120640" y="3200400"/>
            <a:ext cx="3566160" cy="237744"/>
          </a:xfrm>
          <a:prstGeom prst="rect">
            <a:avLst/>
          </a:prstGeom>
          <a:noFill/>
          <a:ln/>
        </p:spPr>
        <p:txBody>
          <a:bodyPr wrap="square" lIns="0" tIns="0" rIns="0" bIns="0" rtlCol="0" anchor="t"/>
          <a:lstStyle/>
          <a:p>
            <a:pPr algn="l" indent="0" marL="0">
              <a:lnSpc>
                <a:spcPct val="110000"/>
              </a:lnSpc>
              <a:buNone/>
            </a:pPr>
            <a:r>
              <a:rPr lang="en-US" sz="1150" b="1" dirty="0">
                <a:solidFill>
                  <a:srgbClr val="141F1A"/>
                </a:solidFill>
                <a:latin typeface="Calibri" pitchFamily="34" charset="0"/>
                <a:ea typeface="Calibri" pitchFamily="34" charset="-122"/>
                <a:cs typeface="Calibri" pitchFamily="34" charset="-120"/>
              </a:rPr>
              <a:t>Power BI / Excel reporting</a:t>
            </a:r>
            <a:endParaRPr lang="en-US" sz="1150" dirty="0"/>
          </a:p>
        </p:txBody>
      </p:sp>
      <p:sp>
        <p:nvSpPr>
          <p:cNvPr id="20" name="Text 18"/>
          <p:cNvSpPr txBox="1"/>
          <p:nvPr/>
        </p:nvSpPr>
        <p:spPr>
          <a:xfrm>
            <a:off x="5120640" y="3456432"/>
            <a:ext cx="3566160" cy="310896"/>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Live connection for HR's own analysis, without touching the app.</a:t>
            </a:r>
            <a:endParaRPr lang="en-US" sz="1000" dirty="0"/>
          </a:p>
        </p:txBody>
      </p:sp>
      <p:sp>
        <p:nvSpPr>
          <p:cNvPr id="21" name="Shape 19"/>
          <p:cNvSpPr/>
          <p:nvPr/>
        </p:nvSpPr>
        <p:spPr>
          <a:xfrm>
            <a:off x="4709160" y="3904488"/>
            <a:ext cx="274320" cy="274320"/>
          </a:xfrm>
          <a:prstGeom prst="ellipse">
            <a:avLst/>
          </a:prstGeom>
          <a:solidFill>
            <a:srgbClr val="00113D"/>
          </a:solidFill>
          <a:ln w="12700">
            <a:solidFill>
              <a:srgbClr val="00113D"/>
            </a:solidFill>
            <a:prstDash val="solid"/>
          </a:ln>
        </p:spPr>
      </p:sp>
      <p:sp>
        <p:nvSpPr>
          <p:cNvPr id="22" name="Text 20"/>
          <p:cNvSpPr txBox="1"/>
          <p:nvPr/>
        </p:nvSpPr>
        <p:spPr>
          <a:xfrm>
            <a:off x="4709160" y="39044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5120640" y="3877056"/>
            <a:ext cx="3566160" cy="237744"/>
          </a:xfrm>
          <a:prstGeom prst="rect">
            <a:avLst/>
          </a:prstGeom>
          <a:noFill/>
          <a:ln/>
        </p:spPr>
        <p:txBody>
          <a:bodyPr wrap="square" lIns="0" tIns="0" rIns="0" bIns="0" rtlCol="0" anchor="t"/>
          <a:lstStyle/>
          <a:p>
            <a:pPr algn="l" indent="0" marL="0">
              <a:lnSpc>
                <a:spcPct val="110000"/>
              </a:lnSpc>
              <a:buNone/>
            </a:pPr>
            <a:r>
              <a:rPr lang="en-US" sz="1150" b="1" dirty="0">
                <a:solidFill>
                  <a:srgbClr val="141F1A"/>
                </a:solidFill>
                <a:latin typeface="Calibri" pitchFamily="34" charset="0"/>
                <a:ea typeface="Calibri" pitchFamily="34" charset="-122"/>
                <a:cs typeface="Calibri" pitchFamily="34" charset="-120"/>
              </a:rPr>
              <a:t>ERP roster sync</a:t>
            </a:r>
            <a:endParaRPr lang="en-US" sz="1150" dirty="0"/>
          </a:p>
        </p:txBody>
      </p:sp>
      <p:sp>
        <p:nvSpPr>
          <p:cNvPr id="24" name="Text 22"/>
          <p:cNvSpPr txBox="1"/>
          <p:nvPr/>
        </p:nvSpPr>
        <p:spPr>
          <a:xfrm>
            <a:off x="5120640" y="4133088"/>
            <a:ext cx="3566160" cy="310896"/>
          </a:xfrm>
          <a:prstGeom prst="rect">
            <a:avLst/>
          </a:prstGeom>
          <a:noFill/>
          <a:ln/>
        </p:spPr>
        <p:txBody>
          <a:bodyPr wrap="square" lIns="0" tIns="0" rIns="0" bIns="0" rtlCol="0" anchor="t"/>
          <a:lstStyle/>
          <a:p>
            <a:pPr algn="l" indent="0" marL="0">
              <a:lnSpc>
                <a:spcPct val="110000"/>
              </a:lnSpc>
              <a:buNone/>
            </a:pPr>
            <a:r>
              <a:rPr lang="en-US" sz="1000" dirty="0">
                <a:solidFill>
                  <a:srgbClr val="5B6B63"/>
                </a:solidFill>
                <a:latin typeface="Calibri" pitchFamily="34" charset="0"/>
                <a:ea typeface="Calibri" pitchFamily="34" charset="-122"/>
                <a:cs typeface="Calibri" pitchFamily="34" charset="-120"/>
              </a:rPr>
              <a:t>Roster arriving automatically from the ERP instead of an Excel upload.</a:t>
            </a:r>
            <a:endParaRPr lang="en-US" sz="1000" dirty="0"/>
          </a:p>
        </p:txBody>
      </p:sp>
      <p:sp>
        <p:nvSpPr>
          <p:cNvPr id="25" name="Shape 23"/>
          <p:cNvSpPr/>
          <p:nvPr/>
        </p:nvSpPr>
        <p:spPr>
          <a:xfrm>
            <a:off x="457200" y="3364992"/>
            <a:ext cx="3977640" cy="1234440"/>
          </a:xfrm>
          <a:prstGeom prst="roundRect">
            <a:avLst>
              <a:gd name="adj" fmla="val 6667"/>
            </a:avLst>
          </a:prstGeom>
          <a:solidFill>
            <a:srgbClr val="F5F7F5"/>
          </a:solidFill>
          <a:ln w="9525">
            <a:solidFill>
              <a:srgbClr val="DEE6E1"/>
            </a:solidFill>
            <a:prstDash val="solid"/>
          </a:ln>
        </p:spPr>
      </p:sp>
      <p:sp>
        <p:nvSpPr>
          <p:cNvPr id="26" name="Text 24"/>
          <p:cNvSpPr txBox="1"/>
          <p:nvPr/>
        </p:nvSpPr>
        <p:spPr>
          <a:xfrm>
            <a:off x="694944" y="3529584"/>
            <a:ext cx="3520440" cy="256032"/>
          </a:xfrm>
          <a:prstGeom prst="rect">
            <a:avLst/>
          </a:prstGeom>
          <a:noFill/>
          <a:ln/>
        </p:spPr>
        <p:txBody>
          <a:bodyPr wrap="square" lIns="0" tIns="0" rIns="0" bIns="0" rtlCol="0" anchor="t"/>
          <a:lstStyle/>
          <a:p>
            <a:pPr algn="l" indent="0" marL="0">
              <a:lnSpc>
                <a:spcPct val="110000"/>
              </a:lnSpc>
              <a:buNone/>
            </a:pPr>
            <a:r>
              <a:rPr lang="en-US" sz="1200" b="1" dirty="0">
                <a:solidFill>
                  <a:srgbClr val="00113D"/>
                </a:solidFill>
                <a:latin typeface="Calibri" pitchFamily="34" charset="0"/>
                <a:ea typeface="Calibri" pitchFamily="34" charset="-122"/>
                <a:cs typeface="Calibri" pitchFamily="34" charset="-120"/>
              </a:rPr>
              <a:t>Already live today</a:t>
            </a:r>
            <a:endParaRPr lang="en-US" sz="1200" dirty="0"/>
          </a:p>
        </p:txBody>
      </p:sp>
      <p:sp>
        <p:nvSpPr>
          <p:cNvPr id="27" name="Text 25"/>
          <p:cNvSpPr txBox="1"/>
          <p:nvPr/>
        </p:nvSpPr>
        <p:spPr>
          <a:xfrm>
            <a:off x="694944" y="3822192"/>
            <a:ext cx="3520440" cy="658368"/>
          </a:xfrm>
          <a:prstGeom prst="rect">
            <a:avLst/>
          </a:prstGeom>
          <a:noFill/>
          <a:ln/>
        </p:spPr>
        <p:txBody>
          <a:bodyPr wrap="square" lIns="0" tIns="0" rIns="0" bIns="0" rtlCol="0" anchor="t"/>
          <a:lstStyle/>
          <a:p>
            <a:pPr algn="l" indent="0" marL="0">
              <a:lnSpc>
                <a:spcPct val="110000"/>
              </a:lnSpc>
              <a:buNone/>
            </a:pPr>
            <a:r>
              <a:rPr lang="en-US" sz="1050" dirty="0">
                <a:solidFill>
                  <a:srgbClr val="5B6B63"/>
                </a:solidFill>
                <a:latin typeface="Calibri" pitchFamily="34" charset="0"/>
                <a:ea typeface="Calibri" pitchFamily="34" charset="-122"/>
                <a:cs typeface="Calibri" pitchFamily="34" charset="-120"/>
              </a:rPr>
              <a:t>GPS check-in, badge scanning, six roles, site scoping, transfers, leave, holidays, dashboards, Excel reports, and full backup and restore.</a:t>
            </a:r>
            <a:endParaRPr lang="en-US" sz="1050" dirty="0"/>
          </a:p>
        </p:txBody>
      </p:sp>
      <p:sp>
        <p:nvSpPr>
          <p:cNvPr id="28" name="Text 26"/>
          <p:cNvSpPr txBox="1"/>
          <p:nvPr/>
        </p:nvSpPr>
        <p:spPr>
          <a:xfrm>
            <a:off x="457200" y="4572000"/>
            <a:ext cx="8229600" cy="274320"/>
          </a:xfrm>
          <a:prstGeom prst="rect">
            <a:avLst/>
          </a:prstGeom>
          <a:noFill/>
          <a:ln/>
        </p:spPr>
        <p:txBody>
          <a:bodyPr wrap="square" lIns="0" tIns="0" rIns="0" bIns="0" rtlCol="0" anchor="ctr"/>
          <a:lstStyle/>
          <a:p>
            <a:pPr indent="0" marL="0">
              <a:buNone/>
            </a:pPr>
            <a:r>
              <a:rPr lang="en-US" sz="1000" i="1" dirty="0">
                <a:solidFill>
                  <a:srgbClr val="5B6B63"/>
                </a:solidFill>
                <a:latin typeface="Calibri" pitchFamily="34" charset="0"/>
                <a:ea typeface="Calibri" pitchFamily="34" charset="-122"/>
                <a:cs typeface="Calibri" pitchFamily="34" charset="-120"/>
              </a:rPr>
              <a:t>Cost figure is a projection based on expected usage, not a quoted price.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113D"/>
        </a:solidFill>
      </p:bgPr>
    </p:bg>
    <p:spTree>
      <p:nvGrpSpPr>
        <p:cNvPr id="1" name=""/>
        <p:cNvGrpSpPr/>
        <p:nvPr/>
      </p:nvGrpSpPr>
      <p:grpSpPr>
        <a:xfrm>
          <a:off x="0" y="0"/>
          <a:ext cx="0" cy="0"/>
          <a:chOff x="0" y="0"/>
          <a:chExt cx="0" cy="0"/>
        </a:xfrm>
      </p:grpSpPr>
      <p:sp>
        <p:nvSpPr>
          <p:cNvPr id="2" name="Shape 0"/>
          <p:cNvSpPr/>
          <p:nvPr/>
        </p:nvSpPr>
        <p:spPr>
          <a:xfrm>
            <a:off x="-1280160" y="2926080"/>
            <a:ext cx="3291840" cy="3291840"/>
          </a:xfrm>
          <a:prstGeom prst="ellipse">
            <a:avLst/>
          </a:prstGeom>
          <a:solidFill>
            <a:srgbClr val="0A2050"/>
          </a:solidFill>
          <a:ln w="12700">
            <a:solidFill>
              <a:srgbClr val="0A2050"/>
            </a:solidFill>
            <a:prstDash val="solid"/>
          </a:ln>
        </p:spPr>
      </p:sp>
      <p:sp>
        <p:nvSpPr>
          <p:cNvPr id="3" name="Shape 1"/>
          <p:cNvSpPr/>
          <p:nvPr/>
        </p:nvSpPr>
        <p:spPr>
          <a:xfrm>
            <a:off x="7680960" y="-1097280"/>
            <a:ext cx="2926080" cy="2926080"/>
          </a:xfrm>
          <a:prstGeom prst="ellipse">
            <a:avLst/>
          </a:prstGeom>
          <a:solidFill>
            <a:srgbClr val="0A2050"/>
          </a:solidFill>
          <a:ln w="12700">
            <a:solidFill>
              <a:srgbClr val="0A2050"/>
            </a:solidFill>
            <a:prstDash val="solid"/>
          </a:ln>
        </p:spPr>
      </p:sp>
      <p:sp>
        <p:nvSpPr>
          <p:cNvPr id="4" name="Text 2"/>
          <p:cNvSpPr txBox="1"/>
          <p:nvPr/>
        </p:nvSpPr>
        <p:spPr>
          <a:xfrm>
            <a:off x="457200" y="1170432"/>
            <a:ext cx="8229600"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Built, tested, ready to roll out</a:t>
            </a:r>
            <a:endParaRPr lang="en-US" sz="4000" dirty="0"/>
          </a:p>
        </p:txBody>
      </p:sp>
      <p:sp>
        <p:nvSpPr>
          <p:cNvPr id="5" name="Text 3"/>
          <p:cNvSpPr txBox="1"/>
          <p:nvPr/>
        </p:nvSpPr>
        <p:spPr>
          <a:xfrm>
            <a:off x="457200" y="2523744"/>
            <a:ext cx="6766560" cy="658368"/>
          </a:xfrm>
          <a:prstGeom prst="rect">
            <a:avLst/>
          </a:prstGeom>
          <a:noFill/>
          <a:ln/>
        </p:spPr>
        <p:txBody>
          <a:bodyPr wrap="square" lIns="0" tIns="0" rIns="0" bIns="0" rtlCol="0" anchor="ctr"/>
          <a:lstStyle/>
          <a:p>
            <a:pPr indent="0" marL="0">
              <a:lnSpc>
                <a:spcPct val="115000"/>
              </a:lnSpc>
              <a:buNone/>
            </a:pPr>
            <a:r>
              <a:rPr lang="en-US" sz="1400" dirty="0">
                <a:solidFill>
                  <a:srgbClr val="CADCFC"/>
                </a:solidFill>
                <a:latin typeface="Calibri" pitchFamily="34" charset="0"/>
                <a:ea typeface="Calibri" pitchFamily="34" charset="-122"/>
                <a:cs typeface="Calibri" pitchFamily="34" charset="-120"/>
              </a:rPr>
              <a:t>Both apps are complete and running against the live database. What remains is a pilot on one project, then a staged rollout across the rest.</a:t>
            </a:r>
            <a:endParaRPr lang="en-US" sz="1400" dirty="0"/>
          </a:p>
        </p:txBody>
      </p:sp>
      <p:sp>
        <p:nvSpPr>
          <p:cNvPr id="6" name="Text 4"/>
          <p:cNvSpPr txBox="1"/>
          <p:nvPr/>
        </p:nvSpPr>
        <p:spPr>
          <a:xfrm>
            <a:off x="457200" y="3310128"/>
            <a:ext cx="2560320" cy="548640"/>
          </a:xfrm>
          <a:prstGeom prst="rect">
            <a:avLst/>
          </a:prstGeom>
          <a:noFill/>
          <a:ln/>
        </p:spPr>
        <p:txBody>
          <a:bodyPr wrap="square" lIns="0" tIns="0" rIns="0" bIns="0" rtlCol="0" anchor="ctr"/>
          <a:lstStyle/>
          <a:p>
            <a:pPr indent="0" marL="0">
              <a:buNone/>
            </a:pPr>
            <a:r>
              <a:rPr lang="en-US" sz="3200" b="1" dirty="0">
                <a:solidFill>
                  <a:srgbClr val="F9CB14"/>
                </a:solidFill>
                <a:latin typeface="Cambria" pitchFamily="34" charset="0"/>
                <a:ea typeface="Cambria" pitchFamily="34" charset="-122"/>
                <a:cs typeface="Cambria" pitchFamily="34" charset="-120"/>
              </a:rPr>
              <a:t>4,000</a:t>
            </a:r>
            <a:endParaRPr lang="en-US" sz="3200" dirty="0"/>
          </a:p>
        </p:txBody>
      </p:sp>
      <p:sp>
        <p:nvSpPr>
          <p:cNvPr id="7" name="Text 5"/>
          <p:cNvSpPr txBox="1"/>
          <p:nvPr/>
        </p:nvSpPr>
        <p:spPr>
          <a:xfrm>
            <a:off x="457200" y="3840480"/>
            <a:ext cx="2560320" cy="329184"/>
          </a:xfrm>
          <a:prstGeom prst="rect">
            <a:avLst/>
          </a:prstGeom>
          <a:noFill/>
          <a:ln/>
        </p:spPr>
        <p:txBody>
          <a:bodyPr wrap="square" lIns="0" tIns="0" rIns="0" bIns="0" rtlCol="0" anchor="ctr"/>
          <a:lstStyle/>
          <a:p>
            <a:pPr indent="0" marL="0">
              <a:buNone/>
            </a:pPr>
            <a:r>
              <a:rPr lang="en-US" sz="1100" dirty="0">
                <a:solidFill>
                  <a:srgbClr val="8FA8CC"/>
                </a:solidFill>
                <a:latin typeface="Calibri" pitchFamily="34" charset="0"/>
                <a:ea typeface="Calibri" pitchFamily="34" charset="-122"/>
                <a:cs typeface="Calibri" pitchFamily="34" charset="-120"/>
              </a:rPr>
              <a:t>workers supported</a:t>
            </a:r>
            <a:endParaRPr lang="en-US" sz="1100" dirty="0"/>
          </a:p>
        </p:txBody>
      </p:sp>
      <p:sp>
        <p:nvSpPr>
          <p:cNvPr id="8" name="Text 6"/>
          <p:cNvSpPr txBox="1"/>
          <p:nvPr/>
        </p:nvSpPr>
        <p:spPr>
          <a:xfrm>
            <a:off x="3246120" y="3310128"/>
            <a:ext cx="2560320" cy="548640"/>
          </a:xfrm>
          <a:prstGeom prst="rect">
            <a:avLst/>
          </a:prstGeom>
          <a:noFill/>
          <a:ln/>
        </p:spPr>
        <p:txBody>
          <a:bodyPr wrap="square" lIns="0" tIns="0" rIns="0" bIns="0" rtlCol="0" anchor="ctr"/>
          <a:lstStyle/>
          <a:p>
            <a:pPr indent="0" marL="0">
              <a:buNone/>
            </a:pPr>
            <a:r>
              <a:rPr lang="en-US" sz="3200" b="1" dirty="0">
                <a:solidFill>
                  <a:srgbClr val="F9CB14"/>
                </a:solidFill>
                <a:latin typeface="Cambria" pitchFamily="34" charset="0"/>
                <a:ea typeface="Cambria" pitchFamily="34" charset="-122"/>
                <a:cs typeface="Cambria" pitchFamily="34" charset="-120"/>
              </a:rPr>
              <a:t>5</a:t>
            </a:r>
            <a:endParaRPr lang="en-US" sz="3200" dirty="0"/>
          </a:p>
        </p:txBody>
      </p:sp>
      <p:sp>
        <p:nvSpPr>
          <p:cNvPr id="9" name="Text 7"/>
          <p:cNvSpPr txBox="1"/>
          <p:nvPr/>
        </p:nvSpPr>
        <p:spPr>
          <a:xfrm>
            <a:off x="3246120" y="3840480"/>
            <a:ext cx="2560320" cy="329184"/>
          </a:xfrm>
          <a:prstGeom prst="rect">
            <a:avLst/>
          </a:prstGeom>
          <a:noFill/>
          <a:ln/>
        </p:spPr>
        <p:txBody>
          <a:bodyPr wrap="square" lIns="0" tIns="0" rIns="0" bIns="0" rtlCol="0" anchor="ctr"/>
          <a:lstStyle/>
          <a:p>
            <a:pPr indent="0" marL="0">
              <a:buNone/>
            </a:pPr>
            <a:r>
              <a:rPr lang="en-US" sz="1100" dirty="0">
                <a:solidFill>
                  <a:srgbClr val="8FA8CC"/>
                </a:solidFill>
                <a:latin typeface="Calibri" pitchFamily="34" charset="0"/>
                <a:ea typeface="Calibri" pitchFamily="34" charset="-122"/>
                <a:cs typeface="Calibri" pitchFamily="34" charset="-120"/>
              </a:rPr>
              <a:t>roles</a:t>
            </a:r>
            <a:endParaRPr lang="en-US" sz="1100" dirty="0"/>
          </a:p>
        </p:txBody>
      </p:sp>
      <p:sp>
        <p:nvSpPr>
          <p:cNvPr id="10" name="Text 8"/>
          <p:cNvSpPr txBox="1"/>
          <p:nvPr/>
        </p:nvSpPr>
        <p:spPr>
          <a:xfrm>
            <a:off x="6035040" y="3310128"/>
            <a:ext cx="2560320" cy="548640"/>
          </a:xfrm>
          <a:prstGeom prst="rect">
            <a:avLst/>
          </a:prstGeom>
          <a:noFill/>
          <a:ln/>
        </p:spPr>
        <p:txBody>
          <a:bodyPr wrap="square" lIns="0" tIns="0" rIns="0" bIns="0" rtlCol="0" anchor="ctr"/>
          <a:lstStyle/>
          <a:p>
            <a:pPr indent="0" marL="0">
              <a:buNone/>
            </a:pPr>
            <a:r>
              <a:rPr lang="en-US" sz="3200" b="1" dirty="0">
                <a:solidFill>
                  <a:srgbClr val="F9CB14"/>
                </a:solidFill>
                <a:latin typeface="Cambria" pitchFamily="34" charset="0"/>
                <a:ea typeface="Cambria" pitchFamily="34" charset="-122"/>
                <a:cs typeface="Cambria" pitchFamily="34" charset="-120"/>
              </a:rPr>
              <a:t>48</a:t>
            </a:r>
            <a:endParaRPr lang="en-US" sz="3200" dirty="0"/>
          </a:p>
        </p:txBody>
      </p:sp>
      <p:sp>
        <p:nvSpPr>
          <p:cNvPr id="11" name="Text 9"/>
          <p:cNvSpPr txBox="1"/>
          <p:nvPr/>
        </p:nvSpPr>
        <p:spPr>
          <a:xfrm>
            <a:off x="6035040" y="3840480"/>
            <a:ext cx="2560320" cy="329184"/>
          </a:xfrm>
          <a:prstGeom prst="rect">
            <a:avLst/>
          </a:prstGeom>
          <a:noFill/>
          <a:ln/>
        </p:spPr>
        <p:txBody>
          <a:bodyPr wrap="square" lIns="0" tIns="0" rIns="0" bIns="0" rtlCol="0" anchor="ctr"/>
          <a:lstStyle/>
          <a:p>
            <a:pPr indent="0" marL="0">
              <a:buNone/>
            </a:pPr>
            <a:r>
              <a:rPr lang="en-US" sz="1100" dirty="0">
                <a:solidFill>
                  <a:srgbClr val="8FA8CC"/>
                </a:solidFill>
                <a:latin typeface="Calibri" pitchFamily="34" charset="0"/>
                <a:ea typeface="Calibri" pitchFamily="34" charset="-122"/>
                <a:cs typeface="Calibri" pitchFamily="34" charset="-120"/>
              </a:rPr>
              <a:t>security tests passing</a:t>
            </a:r>
            <a:endParaRPr lang="en-US" sz="1100" dirty="0"/>
          </a:p>
        </p:txBody>
      </p:sp>
      <p:sp>
        <p:nvSpPr>
          <p:cNvPr id="12" name="Text 10"/>
          <p:cNvSpPr txBox="1"/>
          <p:nvPr/>
        </p:nvSpPr>
        <p:spPr>
          <a:xfrm>
            <a:off x="457200" y="4434840"/>
            <a:ext cx="8229600" cy="310896"/>
          </a:xfrm>
          <a:prstGeom prst="rect">
            <a:avLst/>
          </a:prstGeom>
          <a:noFill/>
          <a:ln/>
        </p:spPr>
        <p:txBody>
          <a:bodyPr wrap="square" lIns="0" tIns="0" rIns="0" bIns="0" rtlCol="0" anchor="ctr"/>
          <a:lstStyle/>
          <a:p>
            <a:pPr indent="0" marL="0">
              <a:buNone/>
            </a:pPr>
            <a:r>
              <a:rPr lang="en-US" sz="1100" dirty="0">
                <a:solidFill>
                  <a:srgbClr val="6B84AB"/>
                </a:solidFill>
                <a:latin typeface="Calibri" pitchFamily="34" charset="0"/>
                <a:ea typeface="Calibri" pitchFamily="34" charset="-122"/>
                <a:cs typeface="Calibri" pitchFamily="34" charset="-120"/>
              </a:rPr>
              <a:t>SitePulse  ·  KTC International Contracting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KTC International Contracting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SitePulse — Workforce Attendance &amp; Manpower Control</dc:title>
  <dc:subject>PptxGenJS Presentation</dc:subject>
  <dc:creator>SitePulse</dc:creator>
  <cp:lastModifiedBy>SitePulse</cp:lastModifiedBy>
  <cp:revision>1</cp:revision>
  <dcterms:created xsi:type="dcterms:W3CDTF">2026-09-10T13:25:14Z</dcterms:created>
  <dcterms:modified xsi:type="dcterms:W3CDTF">2026-09-10T13:25:14Z</dcterms:modified>
</cp:coreProperties>
</file>