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B6B63"/>
                </a:solidFill>
                <a:latin typeface="Calibri"/>
              </a:defRPr>
            </a:pPr>
            <a:r>
              <a:rPr sz="1200" b="0" i="0" u="none" strike="noStrike">
                <a:solidFill>
                  <a:srgbClr val="5B6B63"/>
                </a:solidFill>
                <a:latin typeface="Calibri"/>
              </a:rPr>
              <a:t>Excel report generation (seconds)</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0B66D6"/>
            </a:solidFill>
            <a:effectLst/>
          </c:spPr>
          <c:invertIfNegative val="0"/>
          <c:dLbls>
            <c:numFmt formatCode="0.0" sourceLinked="0"/>
            <c:txPr>
              <a:bodyPr/>
              <a:lstStyle/>
              <a:p>
                <a:pPr>
                  <a:defRPr b="0" i="0" strike="noStrike" sz="1100" u="none">
                    <a:solidFill>
                      <a:srgbClr val="141F1A"/>
                    </a:solidFill>
                    <a:latin typeface="Calibri"/>
                  </a:defRPr>
                </a:pPr>
              </a:p>
            </c:txPr>
            <c:showLegendKey val="0"/>
            <c:showVal val="1"/>
            <c:showCatName val="0"/>
            <c:showSerName val="0"/>
            <c:showPercent val="0"/>
            <c:showBubbleSize val="0"/>
            <c:showLeaderLines val="0"/>
          </c:dLbls>
          <c:dPt>
            <c:idx val="0"/>
            <c:invertIfNegative val="0"/>
            <c:bubble3D val="0"/>
            <c:spPr>
              <a:solidFill>
                <a:srgbClr val="0B66D6"/>
              </a:solidFill>
              <a:effectLst/>
            </c:spPr>
          </c:dPt>
          <c:dPt>
            <c:idx val="1"/>
            <c:invertIfNegative val="0"/>
            <c:bubble3D val="0"/>
            <c:spPr>
              <a:solidFill>
                <a:srgbClr val="00113D"/>
              </a:solidFill>
              <a:effectLst/>
            </c:spPr>
          </c:dPt>
          <c:cat>
            <c:multiLvlStrRef>
              <c:f>Sheet1!$A$2:$A$3</c:f>
              <c:multiLvlStrCache>
                <c:ptCount val="2"/>
                <c:lvl>
                  <c:pt idx="0">
                    <c:v>Whole company,
one day
4,000 rows</c:v>
                  </c:pt>
                  <c:pt idx="1">
                    <c:v>One project,
full month
10,400 rows</c:v>
                  </c:pt>
                </c:lvl>
              </c:multiLvlStrCache>
            </c:multiLvlStrRef>
          </c:cat>
          <c:val>
            <c:numRef>
              <c:f>Sheet1!$B$2:$B$3</c:f>
              <c:numCache>
                <c:formatCode>General</c:formatCode>
                <c:ptCount val="2"/>
                <c:pt idx="0">
                  <c:v>1.9</c:v>
                </c:pt>
                <c:pt idx="1">
                  <c:v>8.6</c:v>
                </c:pt>
              </c:numCache>
            </c:numRef>
          </c:val>
        </c:ser>
        <c:dLbls>
          <c:numFmt formatCode="0.0" sourceLinked="0"/>
          <c:txPr>
            <a:bodyPr/>
            <a:lstStyle/>
            <a:p>
              <a:pPr>
                <a:defRPr b="0" i="0" strike="noStrike" sz="1100" u="none">
                  <a:solidFill>
                    <a:srgbClr val="141F1A"/>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63"/>
                </a:solidFill>
                <a:latin typeface="Calibri"/>
              </a:defRPr>
            </a:pPr>
            <a:endParaRPr lang="en-US"/>
          </a:p>
        </c:txPr>
        <c:crossAx val="2094734552"/>
        <c:crosses val="autoZero"/>
        <c:auto val="1"/>
        <c:lblAlgn val="ctr"/>
        <c:noMultiLvlLbl val="1"/>
      </c:catAx>
      <c:valAx>
        <c:axId val="2094734552"/>
        <c:scaling>
          <c:orientation val="minMax"/>
          <c:max val="12"/>
        </c:scaling>
        <c:delete val="0"/>
        <c:axPos val="l"/>
        <c:majorGridlines>
          <c:spPr>
            <a:ln w="9525" cap="flat">
              <a:solidFill>
                <a:srgbClr val="DEE6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6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SitePulse is a workforce attendance system built for KTC. Two apps — Android for site, web for office — sharing one live database. This deck covers what it does, what it proves, and what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problems HR and site management raised. Every feature that follows exists to close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a prototype. Both apps are built, tested and running against the live Firebase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refusal is the point. A blocked attempt is written to its own record, so nothing is silently discarded.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Badges are a speed-up, not a dependency — every check-in that works with a scan also works by search, so a lost badge never stops a man being marked.
The scanner accepts all common barcode formats, so if KTC already issues ID cards with a barcode, those can be used from day one and no reprint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first question HR asks: how do we know the man was on site? The phone had to be inside the fence before the record could be written at all — and a fake-GPS app does not get past it, because Android itself flags a mock fix and the app rejects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GPS proves a phone was on site. It cannot prove the man whose badge was scanned was standing next to it — the biometric can, because he had to put his own finger on a reader.
This is a detective control, not a preventive one, and it is worth saying so plainly. It does not stop a bad mark at the gate; it makes one findable. That is usually enough, because a foreman who knows the check runs daily does not make the mark.
If asked about coverage: where there is no reader on a project, the app reports that the biometric did not cover those men rather than listing them as discrepancies.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 assignment is the second half of the permission. A timekeeper on Project A cannot open Project B's attendance at all.
There used to be a sixth role, Foreman, carrying permissions identical to Supervisor. It was merged in, since at KTC it is the same job. Logins created as Foreman before the merge keep working unchanged and now read as Supervisor.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last operational gap. Attendance was never blocked for a transferred worker, but the roster stayed wrong, so the headcount reports were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Absent Report is the one HR cares about most: approved leave and public holidays are already excluded, so an absence in that sheet is a real absence.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and project scope at the top of the dashboard drives everything below it, including the worker locator.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44 tests are the strongest thing in this deck. They are not claims — they run, and they fail loudly if a permission drifts.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4,000 is the figure HR gave. The daily company-wide report — the one run every day — finishes in under two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only one slide is remembered, this is the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the cost line: it is a projection. The point is the shape — no licence, no per-user fee, cost follows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pilot project and a date. A single site for two weeks proves it in front of real payroll.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13D"/>
        </a:solidFill>
      </p:bgPr>
    </p:bg>
    <p:spTree>
      <p:nvGrpSpPr>
        <p:cNvPr id="1" name=""/>
        <p:cNvGrpSpPr/>
        <p:nvPr/>
      </p:nvGrpSpPr>
      <p:grpSpPr>
        <a:xfrm>
          <a:off x="0" y="0"/>
          <a:ext cx="0" cy="0"/>
          <a:chOff x="0" y="0"/>
          <a:chExt cx="0" cy="0"/>
        </a:xfrm>
      </p:grpSpPr>
      <p:sp>
        <p:nvSpPr>
          <p:cNvPr id="2" name="Shape 0"/>
          <p:cNvSpPr/>
          <p:nvPr/>
        </p:nvSpPr>
        <p:spPr>
          <a:xfrm>
            <a:off x="7223760" y="-1371600"/>
            <a:ext cx="3840480" cy="3840480"/>
          </a:xfrm>
          <a:prstGeom prst="ellipse">
            <a:avLst/>
          </a:prstGeom>
          <a:solidFill>
            <a:srgbClr val="0A2050"/>
          </a:solidFill>
          <a:ln w="12700">
            <a:solidFill>
              <a:srgbClr val="0A2050"/>
            </a:solidFill>
            <a:prstDash val="solid"/>
          </a:ln>
        </p:spPr>
      </p:sp>
      <p:sp>
        <p:nvSpPr>
          <p:cNvPr id="3" name="Shape 1"/>
          <p:cNvSpPr/>
          <p:nvPr/>
        </p:nvSpPr>
        <p:spPr>
          <a:xfrm>
            <a:off x="8138160" y="3108960"/>
            <a:ext cx="2377440" cy="2377440"/>
          </a:xfrm>
          <a:prstGeom prst="ellipse">
            <a:avLst/>
          </a:prstGeom>
          <a:solidFill>
            <a:srgbClr val="0A2050"/>
          </a:solidFill>
          <a:ln w="12700">
            <a:solidFill>
              <a:srgbClr val="0A2050"/>
            </a:solidFill>
            <a:prstDash val="solid"/>
          </a:ln>
        </p:spPr>
      </p:sp>
      <p:sp>
        <p:nvSpPr>
          <p:cNvPr id="4" name="Text 2"/>
          <p:cNvSpPr txBox="1"/>
          <p:nvPr/>
        </p:nvSpPr>
        <p:spPr>
          <a:xfrm>
            <a:off x="457200" y="1417320"/>
            <a:ext cx="6583680" cy="9601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SitePulse</a:t>
            </a:r>
            <a:endParaRPr lang="en-US" sz="6000" dirty="0"/>
          </a:p>
        </p:txBody>
      </p:sp>
      <p:sp>
        <p:nvSpPr>
          <p:cNvPr id="5" name="Text 3"/>
          <p:cNvSpPr txBox="1"/>
          <p:nvPr/>
        </p:nvSpPr>
        <p:spPr>
          <a:xfrm>
            <a:off x="457200" y="2395728"/>
            <a:ext cx="6583680" cy="411480"/>
          </a:xfrm>
          <a:prstGeom prst="rect">
            <a:avLst/>
          </a:prstGeom>
          <a:noFill/>
          <a:ln/>
        </p:spPr>
        <p:txBody>
          <a:bodyPr wrap="square" lIns="0" tIns="0" rIns="0" bIns="0" rtlCol="0" anchor="ctr"/>
          <a:lstStyle/>
          <a:p>
            <a:pPr indent="0" marL="0">
              <a:buNone/>
            </a:pPr>
            <a:r>
              <a:rPr lang="en-US" sz="1900" dirty="0">
                <a:solidFill>
                  <a:srgbClr val="F9CB14"/>
                </a:solidFill>
                <a:latin typeface="Calibri" pitchFamily="34" charset="0"/>
                <a:ea typeface="Calibri" pitchFamily="34" charset="-122"/>
                <a:cs typeface="Calibri" pitchFamily="34" charset="-120"/>
              </a:rPr>
              <a:t>Workforce Attendance &amp; Manpower Control</a:t>
            </a:r>
            <a:endParaRPr lang="en-US" sz="1900" dirty="0"/>
          </a:p>
        </p:txBody>
      </p:sp>
      <p:sp>
        <p:nvSpPr>
          <p:cNvPr id="6" name="Text 4"/>
          <p:cNvSpPr txBox="1"/>
          <p:nvPr/>
        </p:nvSpPr>
        <p:spPr>
          <a:xfrm>
            <a:off x="457200" y="2907792"/>
            <a:ext cx="6309360" cy="640080"/>
          </a:xfrm>
          <a:prstGeom prst="rect">
            <a:avLst/>
          </a:prstGeom>
          <a:noFill/>
          <a:ln/>
        </p:spPr>
        <p:txBody>
          <a:bodyPr wrap="square" lIns="0" tIns="0" rIns="0" bIns="0" rtlCol="0" anchor="ctr"/>
          <a:lstStyle/>
          <a:p>
            <a:pPr indent="0" marL="0">
              <a:lnSpc>
                <a:spcPct val="115000"/>
              </a:lnSpc>
              <a:buNone/>
            </a:pPr>
            <a:r>
              <a:rPr lang="en-US" sz="1300" dirty="0">
                <a:solidFill>
                  <a:srgbClr val="CADCFC"/>
                </a:solidFill>
                <a:latin typeface="Calibri" pitchFamily="34" charset="0"/>
                <a:ea typeface="Calibri" pitchFamily="34" charset="-122"/>
                <a:cs typeface="Calibri" pitchFamily="34" charset="-120"/>
              </a:rPr>
              <a:t>GPS-verified attendance for every worker, on every project — captured at the gate and in head office at the same moment.</a:t>
            </a:r>
            <a:endParaRPr lang="en-US" sz="1300" dirty="0"/>
          </a:p>
        </p:txBody>
      </p:sp>
      <p:sp>
        <p:nvSpPr>
          <p:cNvPr id="7" name="Shape 5"/>
          <p:cNvSpPr/>
          <p:nvPr/>
        </p:nvSpPr>
        <p:spPr>
          <a:xfrm>
            <a:off x="457200" y="4069080"/>
            <a:ext cx="384048" cy="384048"/>
          </a:xfrm>
          <a:prstGeom prst="ellipse">
            <a:avLst/>
          </a:prstGeom>
          <a:solidFill>
            <a:srgbClr val="F9CB14"/>
          </a:solidFill>
          <a:ln w="12700">
            <a:solidFill>
              <a:srgbClr val="F9CB14"/>
            </a:solidFill>
            <a:prstDash val="solid"/>
          </a:ln>
        </p:spPr>
      </p:sp>
      <p:sp>
        <p:nvSpPr>
          <p:cNvPr id="8" name="Text 6"/>
          <p:cNvSpPr txBox="1"/>
          <p:nvPr/>
        </p:nvSpPr>
        <p:spPr>
          <a:xfrm>
            <a:off x="457200" y="4069080"/>
            <a:ext cx="384048" cy="384048"/>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K</a:t>
            </a:r>
            <a:endParaRPr lang="en-US" sz="1200" dirty="0"/>
          </a:p>
        </p:txBody>
      </p:sp>
      <p:sp>
        <p:nvSpPr>
          <p:cNvPr id="9" name="Text 7"/>
          <p:cNvSpPr txBox="1"/>
          <p:nvPr/>
        </p:nvSpPr>
        <p:spPr>
          <a:xfrm>
            <a:off x="932688" y="4069080"/>
            <a:ext cx="411480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KTC International Contracting</a:t>
            </a:r>
            <a:endParaRPr lang="en-US" sz="1300" dirty="0"/>
          </a:p>
        </p:txBody>
      </p:sp>
      <p:sp>
        <p:nvSpPr>
          <p:cNvPr id="10" name="Text 8"/>
          <p:cNvSpPr txBox="1"/>
          <p:nvPr/>
        </p:nvSpPr>
        <p:spPr>
          <a:xfrm>
            <a:off x="5120640" y="4069080"/>
            <a:ext cx="3566160" cy="384048"/>
          </a:xfrm>
          <a:prstGeom prst="rect">
            <a:avLst/>
          </a:prstGeom>
          <a:noFill/>
          <a:ln/>
        </p:spPr>
        <p:txBody>
          <a:bodyPr wrap="square" lIns="0" tIns="0" rIns="0" bIns="0" rtlCol="0" anchor="ctr"/>
          <a:lstStyle/>
          <a:p>
            <a:pPr algn="r" indent="0" marL="0">
              <a:buNone/>
            </a:pPr>
            <a:r>
              <a:rPr lang="en-US" sz="1200" dirty="0">
                <a:solidFill>
                  <a:srgbClr val="8FA8CC"/>
                </a:solidFill>
                <a:latin typeface="Calibri" pitchFamily="34" charset="0"/>
                <a:ea typeface="Calibri" pitchFamily="34" charset="-122"/>
                <a:cs typeface="Calibri" pitchFamily="34" charset="-120"/>
              </a:rPr>
              <a:t>Prepared for Human Resources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Where attendance breaks down</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The four failures SitePulse was built to remove</a:t>
            </a:r>
            <a:endParaRPr lang="en-US" sz="1300" dirty="0"/>
          </a:p>
        </p:txBody>
      </p:sp>
      <p:sp>
        <p:nvSpPr>
          <p:cNvPr id="4" name="Shape 2"/>
          <p:cNvSpPr/>
          <p:nvPr/>
        </p:nvSpPr>
        <p:spPr>
          <a:xfrm>
            <a:off x="457200" y="1371600"/>
            <a:ext cx="3977640" cy="1481328"/>
          </a:xfrm>
          <a:prstGeom prst="roundRect">
            <a:avLst>
              <a:gd name="adj" fmla="val 5556"/>
            </a:avLst>
          </a:prstGeom>
          <a:solidFill>
            <a:srgbClr val="F5F7F5"/>
          </a:solidFill>
          <a:ln w="9525">
            <a:solidFill>
              <a:srgbClr val="DEE6E1"/>
            </a:solidFill>
            <a:prstDash val="solid"/>
          </a:ln>
        </p:spPr>
      </p:sp>
      <p:sp>
        <p:nvSpPr>
          <p:cNvPr id="5" name="Shape 3"/>
          <p:cNvSpPr/>
          <p:nvPr/>
        </p:nvSpPr>
        <p:spPr>
          <a:xfrm>
            <a:off x="658368" y="1591056"/>
            <a:ext cx="402336" cy="402336"/>
          </a:xfrm>
          <a:prstGeom prst="ellipse">
            <a:avLst/>
          </a:prstGeom>
          <a:solidFill>
            <a:srgbClr val="0B66D6"/>
          </a:solidFill>
          <a:ln w="12700">
            <a:solidFill>
              <a:srgbClr val="0B66D6"/>
            </a:solidFill>
            <a:prstDash val="solid"/>
          </a:ln>
        </p:spPr>
      </p:sp>
      <p:sp>
        <p:nvSpPr>
          <p:cNvPr id="6" name="Text 4"/>
          <p:cNvSpPr txBox="1"/>
          <p:nvPr/>
        </p:nvSpPr>
        <p:spPr>
          <a:xfrm>
            <a:off x="658368" y="159105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188720" y="1609344"/>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Paper and Excel</a:t>
            </a:r>
            <a:endParaRPr lang="en-US" sz="1400" dirty="0"/>
          </a:p>
        </p:txBody>
      </p:sp>
      <p:sp>
        <p:nvSpPr>
          <p:cNvPr id="8" name="Text 6"/>
          <p:cNvSpPr txBox="1"/>
          <p:nvPr/>
        </p:nvSpPr>
        <p:spPr>
          <a:xfrm>
            <a:off x="1188720" y="1938528"/>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A day's attendance is collected on paper, typed up later, and consolidated by hand. Mistakes only surface at payroll.</a:t>
            </a:r>
            <a:endParaRPr lang="en-US" sz="1100" dirty="0"/>
          </a:p>
        </p:txBody>
      </p:sp>
      <p:sp>
        <p:nvSpPr>
          <p:cNvPr id="9" name="Shape 7"/>
          <p:cNvSpPr/>
          <p:nvPr/>
        </p:nvSpPr>
        <p:spPr>
          <a:xfrm>
            <a:off x="4709160" y="1371600"/>
            <a:ext cx="3977640" cy="1481328"/>
          </a:xfrm>
          <a:prstGeom prst="roundRect">
            <a:avLst>
              <a:gd name="adj" fmla="val 5556"/>
            </a:avLst>
          </a:prstGeom>
          <a:solidFill>
            <a:srgbClr val="F5F7F5"/>
          </a:solidFill>
          <a:ln w="9525">
            <a:solidFill>
              <a:srgbClr val="DEE6E1"/>
            </a:solidFill>
            <a:prstDash val="solid"/>
          </a:ln>
        </p:spPr>
      </p:sp>
      <p:sp>
        <p:nvSpPr>
          <p:cNvPr id="10" name="Shape 8"/>
          <p:cNvSpPr/>
          <p:nvPr/>
        </p:nvSpPr>
        <p:spPr>
          <a:xfrm>
            <a:off x="4910328" y="1591056"/>
            <a:ext cx="402336" cy="402336"/>
          </a:xfrm>
          <a:prstGeom prst="ellipse">
            <a:avLst/>
          </a:prstGeom>
          <a:solidFill>
            <a:srgbClr val="00113D"/>
          </a:solidFill>
          <a:ln w="12700">
            <a:solidFill>
              <a:srgbClr val="00113D"/>
            </a:solidFill>
            <a:prstDash val="solid"/>
          </a:ln>
        </p:spPr>
      </p:sp>
      <p:sp>
        <p:nvSpPr>
          <p:cNvPr id="11" name="Text 9"/>
          <p:cNvSpPr txBox="1"/>
          <p:nvPr/>
        </p:nvSpPr>
        <p:spPr>
          <a:xfrm>
            <a:off x="4910328" y="159105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440680" y="1609344"/>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No proof of presence</a:t>
            </a:r>
            <a:endParaRPr lang="en-US" sz="1400" dirty="0"/>
          </a:p>
        </p:txBody>
      </p:sp>
      <p:sp>
        <p:nvSpPr>
          <p:cNvPr id="13" name="Text 11"/>
          <p:cNvSpPr txBox="1"/>
          <p:nvPr/>
        </p:nvSpPr>
        <p:spPr>
          <a:xfrm>
            <a:off x="5440680" y="1938528"/>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A name written on a sheet does not prove the man was on the project. There is nothing to check the claim against.</a:t>
            </a:r>
            <a:endParaRPr lang="en-US" sz="1100" dirty="0"/>
          </a:p>
        </p:txBody>
      </p:sp>
      <p:sp>
        <p:nvSpPr>
          <p:cNvPr id="14" name="Shape 12"/>
          <p:cNvSpPr/>
          <p:nvPr/>
        </p:nvSpPr>
        <p:spPr>
          <a:xfrm>
            <a:off x="457200" y="3072384"/>
            <a:ext cx="3977640" cy="1481328"/>
          </a:xfrm>
          <a:prstGeom prst="roundRect">
            <a:avLst>
              <a:gd name="adj" fmla="val 5556"/>
            </a:avLst>
          </a:prstGeom>
          <a:solidFill>
            <a:srgbClr val="F5F7F5"/>
          </a:solidFill>
          <a:ln w="9525">
            <a:solidFill>
              <a:srgbClr val="DEE6E1"/>
            </a:solidFill>
            <a:prstDash val="solid"/>
          </a:ln>
        </p:spPr>
      </p:sp>
      <p:sp>
        <p:nvSpPr>
          <p:cNvPr id="15" name="Shape 13"/>
          <p:cNvSpPr/>
          <p:nvPr/>
        </p:nvSpPr>
        <p:spPr>
          <a:xfrm>
            <a:off x="658368" y="3291840"/>
            <a:ext cx="402336" cy="402336"/>
          </a:xfrm>
          <a:prstGeom prst="ellipse">
            <a:avLst/>
          </a:prstGeom>
          <a:solidFill>
            <a:srgbClr val="0B66D6"/>
          </a:solidFill>
          <a:ln w="12700">
            <a:solidFill>
              <a:srgbClr val="0B66D6"/>
            </a:solidFill>
            <a:prstDash val="solid"/>
          </a:ln>
        </p:spPr>
      </p:sp>
      <p:sp>
        <p:nvSpPr>
          <p:cNvPr id="16" name="Text 14"/>
          <p:cNvSpPr txBox="1"/>
          <p:nvPr/>
        </p:nvSpPr>
        <p:spPr>
          <a:xfrm>
            <a:off x="658368" y="3291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188720" y="3310128"/>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Transfers go stale</a:t>
            </a:r>
            <a:endParaRPr lang="en-US" sz="1400" dirty="0"/>
          </a:p>
        </p:txBody>
      </p:sp>
      <p:sp>
        <p:nvSpPr>
          <p:cNvPr id="18" name="Text 16"/>
          <p:cNvSpPr txBox="1"/>
          <p:nvPr/>
        </p:nvSpPr>
        <p:spPr>
          <a:xfrm>
            <a:off x="1188720" y="3639312"/>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A worker moves from Project A to Project B and keeps counting against the site he left, until head office reassigns him by hand.</a:t>
            </a:r>
            <a:endParaRPr lang="en-US" sz="1100" dirty="0"/>
          </a:p>
        </p:txBody>
      </p:sp>
      <p:sp>
        <p:nvSpPr>
          <p:cNvPr id="19" name="Shape 17"/>
          <p:cNvSpPr/>
          <p:nvPr/>
        </p:nvSpPr>
        <p:spPr>
          <a:xfrm>
            <a:off x="4709160" y="3072384"/>
            <a:ext cx="3977640" cy="1481328"/>
          </a:xfrm>
          <a:prstGeom prst="roundRect">
            <a:avLst>
              <a:gd name="adj" fmla="val 5556"/>
            </a:avLst>
          </a:prstGeom>
          <a:solidFill>
            <a:srgbClr val="F5F7F5"/>
          </a:solidFill>
          <a:ln w="9525">
            <a:solidFill>
              <a:srgbClr val="DEE6E1"/>
            </a:solidFill>
            <a:prstDash val="solid"/>
          </a:ln>
        </p:spPr>
      </p:sp>
      <p:sp>
        <p:nvSpPr>
          <p:cNvPr id="20" name="Shape 18"/>
          <p:cNvSpPr/>
          <p:nvPr/>
        </p:nvSpPr>
        <p:spPr>
          <a:xfrm>
            <a:off x="4910328" y="3291840"/>
            <a:ext cx="402336" cy="402336"/>
          </a:xfrm>
          <a:prstGeom prst="ellipse">
            <a:avLst/>
          </a:prstGeom>
          <a:solidFill>
            <a:srgbClr val="00113D"/>
          </a:solidFill>
          <a:ln w="12700">
            <a:solidFill>
              <a:srgbClr val="00113D"/>
            </a:solidFill>
            <a:prstDash val="solid"/>
          </a:ln>
        </p:spPr>
      </p:sp>
      <p:sp>
        <p:nvSpPr>
          <p:cNvPr id="21" name="Text 19"/>
          <p:cNvSpPr txBox="1"/>
          <p:nvPr/>
        </p:nvSpPr>
        <p:spPr>
          <a:xfrm>
            <a:off x="4910328" y="3291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5440680" y="3310128"/>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Month-end scramble</a:t>
            </a:r>
            <a:endParaRPr lang="en-US" sz="1400" dirty="0"/>
          </a:p>
        </p:txBody>
      </p:sp>
      <p:sp>
        <p:nvSpPr>
          <p:cNvPr id="23" name="Text 21"/>
          <p:cNvSpPr txBox="1"/>
          <p:nvPr/>
        </p:nvSpPr>
        <p:spPr>
          <a:xfrm>
            <a:off x="5440680" y="3639312"/>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Trade-wise manpower, absentee lists and hours are rebuilt from scratch every month, under time pressure.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Two apps, one live database</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The same data, whether you are standing at the gate or sitting in head office</a:t>
            </a:r>
            <a:endParaRPr lang="en-US" sz="1300" dirty="0"/>
          </a:p>
        </p:txBody>
      </p:sp>
      <p:sp>
        <p:nvSpPr>
          <p:cNvPr id="4" name="Shape 2"/>
          <p:cNvSpPr/>
          <p:nvPr/>
        </p:nvSpPr>
        <p:spPr>
          <a:xfrm>
            <a:off x="457200" y="1371600"/>
            <a:ext cx="3977640" cy="1325880"/>
          </a:xfrm>
          <a:prstGeom prst="roundRect">
            <a:avLst>
              <a:gd name="adj" fmla="val 6207"/>
            </a:avLst>
          </a:prstGeom>
          <a:solidFill>
            <a:srgbClr val="E8F1FC"/>
          </a:solidFill>
          <a:ln w="9525">
            <a:solidFill>
              <a:srgbClr val="DEE6E1"/>
            </a:solidFill>
            <a:prstDash val="solid"/>
          </a:ln>
        </p:spPr>
      </p:sp>
      <p:sp>
        <p:nvSpPr>
          <p:cNvPr id="5" name="Shape 3"/>
          <p:cNvSpPr/>
          <p:nvPr/>
        </p:nvSpPr>
        <p:spPr>
          <a:xfrm>
            <a:off x="676656" y="1572768"/>
            <a:ext cx="402336" cy="402336"/>
          </a:xfrm>
          <a:prstGeom prst="ellipse">
            <a:avLst/>
          </a:prstGeom>
          <a:solidFill>
            <a:srgbClr val="0B66D6"/>
          </a:solidFill>
          <a:ln w="12700">
            <a:solidFill>
              <a:srgbClr val="0B66D6"/>
            </a:solidFill>
            <a:prstDash val="solid"/>
          </a:ln>
        </p:spPr>
      </p:sp>
      <p:sp>
        <p:nvSpPr>
          <p:cNvPr id="6" name="Text 4"/>
          <p:cNvSpPr txBox="1"/>
          <p:nvPr/>
        </p:nvSpPr>
        <p:spPr>
          <a:xfrm>
            <a:off x="676656" y="15727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207008" y="1591056"/>
            <a:ext cx="3017520" cy="274320"/>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Android app — for site</a:t>
            </a:r>
            <a:endParaRPr lang="en-US" sz="1400" dirty="0"/>
          </a:p>
        </p:txBody>
      </p:sp>
      <p:sp>
        <p:nvSpPr>
          <p:cNvPr id="8" name="Text 6"/>
          <p:cNvSpPr txBox="1"/>
          <p:nvPr/>
        </p:nvSpPr>
        <p:spPr>
          <a:xfrm>
            <a:off x="1207008" y="1920240"/>
            <a:ext cx="3017520"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Installed on the timekeeper's or foreman's phone. GPS, badge scanning, works on a normal site phone.</a:t>
            </a:r>
            <a:endParaRPr lang="en-US" sz="1100" dirty="0"/>
          </a:p>
        </p:txBody>
      </p:sp>
      <p:sp>
        <p:nvSpPr>
          <p:cNvPr id="9" name="Shape 7"/>
          <p:cNvSpPr/>
          <p:nvPr/>
        </p:nvSpPr>
        <p:spPr>
          <a:xfrm>
            <a:off x="4709160" y="1371600"/>
            <a:ext cx="3977640" cy="1325880"/>
          </a:xfrm>
          <a:prstGeom prst="roundRect">
            <a:avLst>
              <a:gd name="adj" fmla="val 6207"/>
            </a:avLst>
          </a:prstGeom>
          <a:solidFill>
            <a:srgbClr val="E8F1FC"/>
          </a:solidFill>
          <a:ln w="9525">
            <a:solidFill>
              <a:srgbClr val="DEE6E1"/>
            </a:solidFill>
            <a:prstDash val="solid"/>
          </a:ln>
        </p:spPr>
      </p:sp>
      <p:sp>
        <p:nvSpPr>
          <p:cNvPr id="10" name="Shape 8"/>
          <p:cNvSpPr/>
          <p:nvPr/>
        </p:nvSpPr>
        <p:spPr>
          <a:xfrm>
            <a:off x="4928616" y="1572768"/>
            <a:ext cx="402336" cy="402336"/>
          </a:xfrm>
          <a:prstGeom prst="ellipse">
            <a:avLst/>
          </a:prstGeom>
          <a:solidFill>
            <a:srgbClr val="00113D"/>
          </a:solidFill>
          <a:ln w="12700">
            <a:solidFill>
              <a:srgbClr val="00113D"/>
            </a:solidFill>
            <a:prstDash val="solid"/>
          </a:ln>
        </p:spPr>
      </p:sp>
      <p:sp>
        <p:nvSpPr>
          <p:cNvPr id="11" name="Text 9"/>
          <p:cNvSpPr txBox="1"/>
          <p:nvPr/>
        </p:nvSpPr>
        <p:spPr>
          <a:xfrm>
            <a:off x="4928616" y="15727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a:t>
            </a:r>
            <a:endParaRPr lang="en-US" sz="1200" dirty="0"/>
          </a:p>
        </p:txBody>
      </p:sp>
      <p:sp>
        <p:nvSpPr>
          <p:cNvPr id="12" name="Text 10"/>
          <p:cNvSpPr txBox="1"/>
          <p:nvPr/>
        </p:nvSpPr>
        <p:spPr>
          <a:xfrm>
            <a:off x="5458968" y="1591056"/>
            <a:ext cx="3017520" cy="274320"/>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Web app — for office</a:t>
            </a:r>
            <a:endParaRPr lang="en-US" sz="1400" dirty="0"/>
          </a:p>
        </p:txBody>
      </p:sp>
      <p:sp>
        <p:nvSpPr>
          <p:cNvPr id="13" name="Text 11"/>
          <p:cNvSpPr txBox="1"/>
          <p:nvPr/>
        </p:nvSpPr>
        <p:spPr>
          <a:xfrm>
            <a:off x="5458968" y="1920240"/>
            <a:ext cx="3017520"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Opens in any browser, no install. Dashboards, reports, roster and user management.</a:t>
            </a:r>
            <a:endParaRPr lang="en-US" sz="1100" dirty="0"/>
          </a:p>
        </p:txBody>
      </p:sp>
      <p:sp>
        <p:nvSpPr>
          <p:cNvPr id="14" name="Shape 12"/>
          <p:cNvSpPr/>
          <p:nvPr/>
        </p:nvSpPr>
        <p:spPr>
          <a:xfrm>
            <a:off x="457200" y="2852928"/>
            <a:ext cx="8229600" cy="960120"/>
          </a:xfrm>
          <a:prstGeom prst="roundRect">
            <a:avLst>
              <a:gd name="adj" fmla="val 8571"/>
            </a:avLst>
          </a:prstGeom>
          <a:solidFill>
            <a:srgbClr val="F5F7F5"/>
          </a:solidFill>
          <a:ln w="9525">
            <a:solidFill>
              <a:srgbClr val="DEE6E1"/>
            </a:solidFill>
            <a:prstDash val="solid"/>
          </a:ln>
        </p:spPr>
      </p:sp>
      <p:sp>
        <p:nvSpPr>
          <p:cNvPr id="15" name="Text 13"/>
          <p:cNvSpPr txBox="1"/>
          <p:nvPr/>
        </p:nvSpPr>
        <p:spPr>
          <a:xfrm>
            <a:off x="713232" y="3035808"/>
            <a:ext cx="7717536" cy="640080"/>
          </a:xfrm>
          <a:prstGeom prst="rect">
            <a:avLst/>
          </a:prstGeom>
          <a:noFill/>
          <a:ln/>
        </p:spPr>
        <p:txBody>
          <a:bodyPr wrap="square" lIns="0" tIns="0" rIns="0" bIns="0" rtlCol="0" anchor="t"/>
          <a:lstStyle/>
          <a:p>
            <a:pPr algn="l" indent="0" marL="0">
              <a:lnSpc>
                <a:spcPct val="110000"/>
              </a:lnSpc>
              <a:buNone/>
            </a:pPr>
            <a:r>
              <a:rPr lang="en-US" sz="1200" dirty="0">
                <a:solidFill>
                  <a:srgbClr val="141F1A"/>
                </a:solidFill>
                <a:latin typeface="Calibri" pitchFamily="34" charset="0"/>
                <a:ea typeface="Calibri" pitchFamily="34" charset="-122"/>
                <a:cs typeface="Calibri" pitchFamily="34" charset="-120"/>
              </a:rPr>
              <a:t>Both run on Google Firebase — the same infrastructure Google runs its own products on. Data is replicated and backed up by Google; a lost or broken site phone loses nothing.</a:t>
            </a:r>
            <a:endParaRPr lang="en-US" sz="1200" dirty="0"/>
          </a:p>
        </p:txBody>
      </p:sp>
      <p:sp>
        <p:nvSpPr>
          <p:cNvPr id="16" name="Text 14"/>
          <p:cNvSpPr txBox="1"/>
          <p:nvPr/>
        </p:nvSpPr>
        <p:spPr>
          <a:xfrm>
            <a:off x="457200" y="3840480"/>
            <a:ext cx="2011680" cy="658368"/>
          </a:xfrm>
          <a:prstGeom prst="rect">
            <a:avLst/>
          </a:prstGeom>
          <a:noFill/>
          <a:ln/>
        </p:spPr>
        <p:txBody>
          <a:bodyPr wrap="square" lIns="0" tIns="0" rIns="0" bIns="0" rtlCol="0" anchor="ctr"/>
          <a:lstStyle/>
          <a:p>
            <a:pPr algn="l" indent="0" marL="0">
              <a:buNone/>
            </a:pPr>
            <a:r>
              <a:rPr lang="en-US" sz="4000" b="1" dirty="0">
                <a:solidFill>
                  <a:srgbClr val="00113D"/>
                </a:solidFill>
                <a:latin typeface="Cambria" pitchFamily="34" charset="0"/>
                <a:ea typeface="Cambria" pitchFamily="34" charset="-122"/>
                <a:cs typeface="Cambria" pitchFamily="34" charset="-120"/>
              </a:rPr>
              <a:t>5</a:t>
            </a:r>
            <a:endParaRPr lang="en-US" sz="4000" dirty="0"/>
          </a:p>
        </p:txBody>
      </p:sp>
      <p:sp>
        <p:nvSpPr>
          <p:cNvPr id="17" name="Text 15"/>
          <p:cNvSpPr txBox="1"/>
          <p:nvPr/>
        </p:nvSpPr>
        <p:spPr>
          <a:xfrm>
            <a:off x="457200" y="4480560"/>
            <a:ext cx="2011680" cy="384048"/>
          </a:xfrm>
          <a:prstGeom prst="rect">
            <a:avLst/>
          </a:prstGeom>
          <a:noFill/>
          <a:ln/>
        </p:spPr>
        <p:txBody>
          <a:bodyPr wrap="square" lIns="0" tIns="0" rIns="0" bIns="0" rtlCol="0" anchor="ctr"/>
          <a:lstStyle/>
          <a:p>
            <a:pPr algn="l" indent="0" marL="0">
              <a:buNone/>
            </a:pPr>
            <a:r>
              <a:rPr lang="en-US" sz="1200" dirty="0">
                <a:solidFill>
                  <a:srgbClr val="5B6B63"/>
                </a:solidFill>
                <a:latin typeface="Calibri" pitchFamily="34" charset="0"/>
                <a:ea typeface="Calibri" pitchFamily="34" charset="-122"/>
                <a:cs typeface="Calibri" pitchFamily="34" charset="-120"/>
              </a:rPr>
              <a:t>user roles, each with its own access</a:t>
            </a:r>
            <a:endParaRPr lang="en-US" sz="1200" dirty="0"/>
          </a:p>
        </p:txBody>
      </p:sp>
      <p:sp>
        <p:nvSpPr>
          <p:cNvPr id="18" name="Text 16"/>
          <p:cNvSpPr txBox="1"/>
          <p:nvPr/>
        </p:nvSpPr>
        <p:spPr>
          <a:xfrm>
            <a:off x="2880360" y="3840480"/>
            <a:ext cx="2194560" cy="658368"/>
          </a:xfrm>
          <a:prstGeom prst="rect">
            <a:avLst/>
          </a:prstGeom>
          <a:noFill/>
          <a:ln/>
        </p:spPr>
        <p:txBody>
          <a:bodyPr wrap="square" lIns="0" tIns="0" rIns="0" bIns="0" rtlCol="0" anchor="ctr"/>
          <a:lstStyle/>
          <a:p>
            <a:pPr algn="l" indent="0" marL="0">
              <a:buNone/>
            </a:pPr>
            <a:r>
              <a:rPr lang="en-US" sz="4000" b="1" dirty="0">
                <a:solidFill>
                  <a:srgbClr val="0B66D6"/>
                </a:solidFill>
                <a:latin typeface="Cambria" pitchFamily="34" charset="0"/>
                <a:ea typeface="Cambria" pitchFamily="34" charset="-122"/>
                <a:cs typeface="Cambria" pitchFamily="34" charset="-120"/>
              </a:rPr>
              <a:t>2</a:t>
            </a:r>
            <a:endParaRPr lang="en-US" sz="4000" dirty="0"/>
          </a:p>
        </p:txBody>
      </p:sp>
      <p:sp>
        <p:nvSpPr>
          <p:cNvPr id="19" name="Text 17"/>
          <p:cNvSpPr txBox="1"/>
          <p:nvPr/>
        </p:nvSpPr>
        <p:spPr>
          <a:xfrm>
            <a:off x="2880360" y="4480560"/>
            <a:ext cx="2194560" cy="384048"/>
          </a:xfrm>
          <a:prstGeom prst="rect">
            <a:avLst/>
          </a:prstGeom>
          <a:noFill/>
          <a:ln/>
        </p:spPr>
        <p:txBody>
          <a:bodyPr wrap="square" lIns="0" tIns="0" rIns="0" bIns="0" rtlCol="0" anchor="ctr"/>
          <a:lstStyle/>
          <a:p>
            <a:pPr algn="l" indent="0" marL="0">
              <a:buNone/>
            </a:pPr>
            <a:r>
              <a:rPr lang="en-US" sz="1200" dirty="0">
                <a:solidFill>
                  <a:srgbClr val="5B6B63"/>
                </a:solidFill>
                <a:latin typeface="Calibri" pitchFamily="34" charset="0"/>
                <a:ea typeface="Calibri" pitchFamily="34" charset="-122"/>
                <a:cs typeface="Calibri" pitchFamily="34" charset="-120"/>
              </a:rPr>
              <a:t>apps, one shared database</a:t>
            </a:r>
            <a:endParaRPr lang="en-US" sz="1200" dirty="0"/>
          </a:p>
        </p:txBody>
      </p:sp>
      <p:sp>
        <p:nvSpPr>
          <p:cNvPr id="20" name="Text 18"/>
          <p:cNvSpPr txBox="1"/>
          <p:nvPr/>
        </p:nvSpPr>
        <p:spPr>
          <a:xfrm>
            <a:off x="5532120" y="3840480"/>
            <a:ext cx="3108960" cy="658368"/>
          </a:xfrm>
          <a:prstGeom prst="rect">
            <a:avLst/>
          </a:prstGeom>
          <a:noFill/>
          <a:ln/>
        </p:spPr>
        <p:txBody>
          <a:bodyPr wrap="square" lIns="0" tIns="0" rIns="0" bIns="0" rtlCol="0" anchor="ctr"/>
          <a:lstStyle/>
          <a:p>
            <a:pPr algn="l" indent="0" marL="0">
              <a:buNone/>
            </a:pPr>
            <a:r>
              <a:rPr lang="en-US" sz="4000" b="1" dirty="0">
                <a:solidFill>
                  <a:srgbClr val="17875E"/>
                </a:solidFill>
                <a:latin typeface="Cambria" pitchFamily="34" charset="0"/>
                <a:ea typeface="Cambria" pitchFamily="34" charset="-122"/>
                <a:cs typeface="Cambria" pitchFamily="34" charset="-120"/>
              </a:rPr>
              <a:t>0</a:t>
            </a:r>
            <a:endParaRPr lang="en-US" sz="4000" dirty="0"/>
          </a:p>
        </p:txBody>
      </p:sp>
      <p:sp>
        <p:nvSpPr>
          <p:cNvPr id="21" name="Text 19"/>
          <p:cNvSpPr txBox="1"/>
          <p:nvPr/>
        </p:nvSpPr>
        <p:spPr>
          <a:xfrm>
            <a:off x="5532120" y="4480560"/>
            <a:ext cx="3108960" cy="384048"/>
          </a:xfrm>
          <a:prstGeom prst="rect">
            <a:avLst/>
          </a:prstGeom>
          <a:noFill/>
          <a:ln/>
        </p:spPr>
        <p:txBody>
          <a:bodyPr wrap="square" lIns="0" tIns="0" rIns="0" bIns="0" rtlCol="0" anchor="ctr"/>
          <a:lstStyle/>
          <a:p>
            <a:pPr algn="l" indent="0" marL="0">
              <a:buNone/>
            </a:pPr>
            <a:r>
              <a:rPr lang="en-US" sz="1200" dirty="0">
                <a:solidFill>
                  <a:srgbClr val="5B6B63"/>
                </a:solidFill>
                <a:latin typeface="Calibri" pitchFamily="34" charset="0"/>
                <a:ea typeface="Calibri" pitchFamily="34" charset="-122"/>
                <a:cs typeface="Calibri" pitchFamily="34" charset="-120"/>
              </a:rPr>
              <a:t>paper attendance sheets required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How a worker is marked present</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Three steps, roughly five seconds per man</a:t>
            </a:r>
            <a:endParaRPr lang="en-US" sz="1300" dirty="0"/>
          </a:p>
        </p:txBody>
      </p:sp>
      <p:sp>
        <p:nvSpPr>
          <p:cNvPr id="4" name="Shape 2"/>
          <p:cNvSpPr/>
          <p:nvPr/>
        </p:nvSpPr>
        <p:spPr>
          <a:xfrm>
            <a:off x="457200" y="1417320"/>
            <a:ext cx="2578608" cy="1920240"/>
          </a:xfrm>
          <a:prstGeom prst="roundRect">
            <a:avLst>
              <a:gd name="adj" fmla="val 4286"/>
            </a:avLst>
          </a:prstGeom>
          <a:solidFill>
            <a:srgbClr val="F5F7F5"/>
          </a:solidFill>
          <a:ln w="9525">
            <a:solidFill>
              <a:srgbClr val="DEE6E1"/>
            </a:solidFill>
            <a:prstDash val="solid"/>
          </a:ln>
        </p:spPr>
      </p:sp>
      <p:sp>
        <p:nvSpPr>
          <p:cNvPr id="5" name="Shape 3"/>
          <p:cNvSpPr/>
          <p:nvPr/>
        </p:nvSpPr>
        <p:spPr>
          <a:xfrm>
            <a:off x="676656" y="1645920"/>
            <a:ext cx="457200" cy="457200"/>
          </a:xfrm>
          <a:prstGeom prst="ellipse">
            <a:avLst/>
          </a:prstGeom>
          <a:solidFill>
            <a:srgbClr val="0B66D6"/>
          </a:solidFill>
          <a:ln w="12700">
            <a:solidFill>
              <a:srgbClr val="0B66D6"/>
            </a:solidFill>
            <a:prstDash val="solid"/>
          </a:ln>
        </p:spPr>
      </p:sp>
      <p:sp>
        <p:nvSpPr>
          <p:cNvPr id="6" name="Text 4"/>
          <p:cNvSpPr txBox="1"/>
          <p:nvPr/>
        </p:nvSpPr>
        <p:spPr>
          <a:xfrm>
            <a:off x="676656"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676656" y="2240280"/>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Identify</a:t>
            </a:r>
            <a:endParaRPr lang="en-US" sz="1500" dirty="0"/>
          </a:p>
        </p:txBody>
      </p:sp>
      <p:sp>
        <p:nvSpPr>
          <p:cNvPr id="8" name="Text 6"/>
          <p:cNvSpPr txBox="1"/>
          <p:nvPr/>
        </p:nvSpPr>
        <p:spPr>
          <a:xfrm>
            <a:off x="676656" y="2578608"/>
            <a:ext cx="2157984"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Scan the QR or barcode on the worker's ID badge, or search him by name or employee number.</a:t>
            </a:r>
            <a:endParaRPr lang="en-US" sz="1100" dirty="0"/>
          </a:p>
        </p:txBody>
      </p:sp>
      <p:sp>
        <p:nvSpPr>
          <p:cNvPr id="9" name="Text 7"/>
          <p:cNvSpPr txBox="1"/>
          <p:nvPr/>
        </p:nvSpPr>
        <p:spPr>
          <a:xfrm>
            <a:off x="3035808" y="2011680"/>
            <a:ext cx="237744" cy="457200"/>
          </a:xfrm>
          <a:prstGeom prst="rect">
            <a:avLst/>
          </a:prstGeom>
          <a:noFill/>
          <a:ln/>
        </p:spPr>
        <p:txBody>
          <a:bodyPr wrap="square" lIns="0" tIns="0" rIns="0" bIns="0" rtlCol="0" anchor="ctr"/>
          <a:lstStyle/>
          <a:p>
            <a:pPr algn="ctr" indent="0" marL="0">
              <a:buNone/>
            </a:pPr>
            <a:r>
              <a:rPr lang="en-US" sz="2600" b="1" dirty="0">
                <a:solidFill>
                  <a:srgbClr val="DEE6E1"/>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282696" y="1417320"/>
            <a:ext cx="2578608" cy="1920240"/>
          </a:xfrm>
          <a:prstGeom prst="roundRect">
            <a:avLst>
              <a:gd name="adj" fmla="val 4286"/>
            </a:avLst>
          </a:prstGeom>
          <a:solidFill>
            <a:srgbClr val="F5F7F5"/>
          </a:solidFill>
          <a:ln w="9525">
            <a:solidFill>
              <a:srgbClr val="DEE6E1"/>
            </a:solidFill>
            <a:prstDash val="solid"/>
          </a:ln>
        </p:spPr>
      </p:sp>
      <p:sp>
        <p:nvSpPr>
          <p:cNvPr id="11" name="Shape 9"/>
          <p:cNvSpPr/>
          <p:nvPr/>
        </p:nvSpPr>
        <p:spPr>
          <a:xfrm>
            <a:off x="3502152" y="1645920"/>
            <a:ext cx="457200" cy="457200"/>
          </a:xfrm>
          <a:prstGeom prst="ellipse">
            <a:avLst/>
          </a:prstGeom>
          <a:solidFill>
            <a:srgbClr val="00113D"/>
          </a:solidFill>
          <a:ln w="12700">
            <a:solidFill>
              <a:srgbClr val="00113D"/>
            </a:solidFill>
            <a:prstDash val="solid"/>
          </a:ln>
        </p:spPr>
      </p:sp>
      <p:sp>
        <p:nvSpPr>
          <p:cNvPr id="12" name="Text 10"/>
          <p:cNvSpPr txBox="1"/>
          <p:nvPr/>
        </p:nvSpPr>
        <p:spPr>
          <a:xfrm>
            <a:off x="3502152"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3502152" y="2240280"/>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Verify location</a:t>
            </a:r>
            <a:endParaRPr lang="en-US" sz="1500" dirty="0"/>
          </a:p>
        </p:txBody>
      </p:sp>
      <p:sp>
        <p:nvSpPr>
          <p:cNvPr id="14" name="Text 12"/>
          <p:cNvSpPr txBox="1"/>
          <p:nvPr/>
        </p:nvSpPr>
        <p:spPr>
          <a:xfrm>
            <a:off x="3502152" y="2578608"/>
            <a:ext cx="2157984"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phone's GPS is checked against the project's geofence before anything is saved.</a:t>
            </a:r>
            <a:endParaRPr lang="en-US" sz="1100" dirty="0"/>
          </a:p>
        </p:txBody>
      </p:sp>
      <p:sp>
        <p:nvSpPr>
          <p:cNvPr id="15" name="Text 13"/>
          <p:cNvSpPr txBox="1"/>
          <p:nvPr/>
        </p:nvSpPr>
        <p:spPr>
          <a:xfrm>
            <a:off x="5861304" y="2011680"/>
            <a:ext cx="237744" cy="457200"/>
          </a:xfrm>
          <a:prstGeom prst="rect">
            <a:avLst/>
          </a:prstGeom>
          <a:noFill/>
          <a:ln/>
        </p:spPr>
        <p:txBody>
          <a:bodyPr wrap="square" lIns="0" tIns="0" rIns="0" bIns="0" rtlCol="0" anchor="ctr"/>
          <a:lstStyle/>
          <a:p>
            <a:pPr algn="ctr" indent="0" marL="0">
              <a:buNone/>
            </a:pPr>
            <a:r>
              <a:rPr lang="en-US" sz="2600" b="1" dirty="0">
                <a:solidFill>
                  <a:srgbClr val="DEE6E1"/>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108192" y="1417320"/>
            <a:ext cx="2578608" cy="1920240"/>
          </a:xfrm>
          <a:prstGeom prst="roundRect">
            <a:avLst>
              <a:gd name="adj" fmla="val 4286"/>
            </a:avLst>
          </a:prstGeom>
          <a:solidFill>
            <a:srgbClr val="F5F7F5"/>
          </a:solidFill>
          <a:ln w="9525">
            <a:solidFill>
              <a:srgbClr val="DEE6E1"/>
            </a:solidFill>
            <a:prstDash val="solid"/>
          </a:ln>
        </p:spPr>
      </p:sp>
      <p:sp>
        <p:nvSpPr>
          <p:cNvPr id="17" name="Shape 15"/>
          <p:cNvSpPr/>
          <p:nvPr/>
        </p:nvSpPr>
        <p:spPr>
          <a:xfrm>
            <a:off x="6327648" y="1645920"/>
            <a:ext cx="457200" cy="457200"/>
          </a:xfrm>
          <a:prstGeom prst="ellipse">
            <a:avLst/>
          </a:prstGeom>
          <a:solidFill>
            <a:srgbClr val="17875E"/>
          </a:solidFill>
          <a:ln w="12700">
            <a:solidFill>
              <a:srgbClr val="17875E"/>
            </a:solidFill>
            <a:prstDash val="solid"/>
          </a:ln>
        </p:spPr>
      </p:sp>
      <p:sp>
        <p:nvSpPr>
          <p:cNvPr id="18" name="Text 16"/>
          <p:cNvSpPr txBox="1"/>
          <p:nvPr/>
        </p:nvSpPr>
        <p:spPr>
          <a:xfrm>
            <a:off x="6327648"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6327648" y="2240280"/>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Record</a:t>
            </a:r>
            <a:endParaRPr lang="en-US" sz="1500" dirty="0"/>
          </a:p>
        </p:txBody>
      </p:sp>
      <p:sp>
        <p:nvSpPr>
          <p:cNvPr id="20" name="Text 18"/>
          <p:cNvSpPr txBox="1"/>
          <p:nvPr/>
        </p:nvSpPr>
        <p:spPr>
          <a:xfrm>
            <a:off x="6327648" y="2578608"/>
            <a:ext cx="2157984"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IN or OUT is stored with the time, shift, project, and the name of the person who marked it.</a:t>
            </a:r>
            <a:endParaRPr lang="en-US" sz="1100" dirty="0"/>
          </a:p>
        </p:txBody>
      </p:sp>
      <p:sp>
        <p:nvSpPr>
          <p:cNvPr id="21" name="Shape 19"/>
          <p:cNvSpPr/>
          <p:nvPr/>
        </p:nvSpPr>
        <p:spPr>
          <a:xfrm>
            <a:off x="457200" y="3520440"/>
            <a:ext cx="8229600" cy="1078992"/>
          </a:xfrm>
          <a:prstGeom prst="roundRect">
            <a:avLst>
              <a:gd name="adj" fmla="val 7627"/>
            </a:avLst>
          </a:prstGeom>
          <a:solidFill>
            <a:srgbClr val="FDF3F2"/>
          </a:solidFill>
          <a:ln w="9525">
            <a:solidFill>
              <a:srgbClr val="DEE6E1"/>
            </a:solidFill>
            <a:prstDash val="solid"/>
          </a:ln>
        </p:spPr>
      </p:sp>
      <p:sp>
        <p:nvSpPr>
          <p:cNvPr id="22" name="Shape 20"/>
          <p:cNvSpPr/>
          <p:nvPr/>
        </p:nvSpPr>
        <p:spPr>
          <a:xfrm>
            <a:off x="713232" y="3767328"/>
            <a:ext cx="420624" cy="420624"/>
          </a:xfrm>
          <a:prstGeom prst="ellipse">
            <a:avLst/>
          </a:prstGeom>
          <a:solidFill>
            <a:srgbClr val="B3261E"/>
          </a:solidFill>
          <a:ln w="12700">
            <a:solidFill>
              <a:srgbClr val="B3261E"/>
            </a:solidFill>
            <a:prstDash val="solid"/>
          </a:ln>
        </p:spPr>
      </p:sp>
      <p:sp>
        <p:nvSpPr>
          <p:cNvPr id="23" name="Text 21"/>
          <p:cNvSpPr txBox="1"/>
          <p:nvPr/>
        </p:nvSpPr>
        <p:spPr>
          <a:xfrm>
            <a:off x="713232" y="376732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4" name="Text 22"/>
          <p:cNvSpPr txBox="1"/>
          <p:nvPr/>
        </p:nvSpPr>
        <p:spPr>
          <a:xfrm>
            <a:off x="1280160" y="3730752"/>
            <a:ext cx="7315200" cy="274320"/>
          </a:xfrm>
          <a:prstGeom prst="rect">
            <a:avLst/>
          </a:prstGeom>
          <a:noFill/>
          <a:ln/>
        </p:spPr>
        <p:txBody>
          <a:bodyPr wrap="square" lIns="0" tIns="0" rIns="0" bIns="0" rtlCol="0" anchor="t"/>
          <a:lstStyle/>
          <a:p>
            <a:pPr algn="l" indent="0" marL="0">
              <a:lnSpc>
                <a:spcPct val="110000"/>
              </a:lnSpc>
              <a:buNone/>
            </a:pPr>
            <a:r>
              <a:rPr lang="en-US" sz="1300" b="1" dirty="0">
                <a:solidFill>
                  <a:srgbClr val="B3261E"/>
                </a:solidFill>
                <a:latin typeface="Calibri" pitchFamily="34" charset="0"/>
                <a:ea typeface="Calibri" pitchFamily="34" charset="-122"/>
                <a:cs typeface="Calibri" pitchFamily="34" charset="-120"/>
              </a:rPr>
              <a:t>If the phone is outside the project's geofence, the check-in is refused</a:t>
            </a:r>
            <a:endParaRPr lang="en-US" sz="1300" dirty="0"/>
          </a:p>
        </p:txBody>
      </p:sp>
      <p:sp>
        <p:nvSpPr>
          <p:cNvPr id="25" name="Text 23"/>
          <p:cNvSpPr txBox="1"/>
          <p:nvPr/>
        </p:nvSpPr>
        <p:spPr>
          <a:xfrm>
            <a:off x="1280160" y="4041648"/>
            <a:ext cx="7315200" cy="4572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refused attempt is still recorded — who tried, where they were, and how far off site — so a pattern of attempts is visible rather than lost.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ID badges and scanning</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The worker's employee number, printed as a code the phone can read</a:t>
            </a:r>
            <a:endParaRPr lang="en-US" sz="1300" dirty="0"/>
          </a:p>
        </p:txBody>
      </p:sp>
      <p:sp>
        <p:nvSpPr>
          <p:cNvPr id="4" name="Shape 2"/>
          <p:cNvSpPr/>
          <p:nvPr/>
        </p:nvSpPr>
        <p:spPr>
          <a:xfrm>
            <a:off x="457200" y="1371600"/>
            <a:ext cx="2578608" cy="1783080"/>
          </a:xfrm>
          <a:prstGeom prst="roundRect">
            <a:avLst>
              <a:gd name="adj" fmla="val 4615"/>
            </a:avLst>
          </a:prstGeom>
          <a:solidFill>
            <a:srgbClr val="F5F7F5"/>
          </a:solidFill>
          <a:ln w="9525">
            <a:solidFill>
              <a:srgbClr val="DEE6E1"/>
            </a:solidFill>
            <a:prstDash val="solid"/>
          </a:ln>
        </p:spPr>
      </p:sp>
      <p:sp>
        <p:nvSpPr>
          <p:cNvPr id="5" name="Shape 3"/>
          <p:cNvSpPr/>
          <p:nvPr/>
        </p:nvSpPr>
        <p:spPr>
          <a:xfrm>
            <a:off x="676656" y="1591056"/>
            <a:ext cx="457200" cy="457200"/>
          </a:xfrm>
          <a:prstGeom prst="ellipse">
            <a:avLst/>
          </a:prstGeom>
          <a:solidFill>
            <a:srgbClr val="0B66D6"/>
          </a:solidFill>
          <a:ln w="12700">
            <a:solidFill>
              <a:srgbClr val="0B66D6"/>
            </a:solidFill>
            <a:prstDash val="solid"/>
          </a:ln>
        </p:spPr>
      </p:sp>
      <p:sp>
        <p:nvSpPr>
          <p:cNvPr id="6" name="Text 4"/>
          <p:cNvSpPr txBox="1"/>
          <p:nvPr/>
        </p:nvSpPr>
        <p:spPr>
          <a:xfrm>
            <a:off x="676656" y="15910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676656" y="2176272"/>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Generate</a:t>
            </a:r>
            <a:endParaRPr lang="en-US" sz="1500" dirty="0"/>
          </a:p>
        </p:txBody>
      </p:sp>
      <p:sp>
        <p:nvSpPr>
          <p:cNvPr id="8" name="Text 6"/>
          <p:cNvSpPr txBox="1"/>
          <p:nvPr/>
        </p:nvSpPr>
        <p:spPr>
          <a:xfrm>
            <a:off x="676656" y="2505456"/>
            <a:ext cx="2157984" cy="82296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Every worker's employee number becomes a QR code. Nothing to type in, nothing to look up.</a:t>
            </a:r>
            <a:endParaRPr lang="en-US" sz="1050" dirty="0"/>
          </a:p>
        </p:txBody>
      </p:sp>
      <p:sp>
        <p:nvSpPr>
          <p:cNvPr id="9" name="Shape 7"/>
          <p:cNvSpPr/>
          <p:nvPr/>
        </p:nvSpPr>
        <p:spPr>
          <a:xfrm>
            <a:off x="3282696" y="1371600"/>
            <a:ext cx="2578608" cy="1783080"/>
          </a:xfrm>
          <a:prstGeom prst="roundRect">
            <a:avLst>
              <a:gd name="adj" fmla="val 4615"/>
            </a:avLst>
          </a:prstGeom>
          <a:solidFill>
            <a:srgbClr val="F5F7F5"/>
          </a:solidFill>
          <a:ln w="9525">
            <a:solidFill>
              <a:srgbClr val="DEE6E1"/>
            </a:solidFill>
            <a:prstDash val="solid"/>
          </a:ln>
        </p:spPr>
      </p:sp>
      <p:sp>
        <p:nvSpPr>
          <p:cNvPr id="10" name="Shape 8"/>
          <p:cNvSpPr/>
          <p:nvPr/>
        </p:nvSpPr>
        <p:spPr>
          <a:xfrm>
            <a:off x="3502152" y="1591056"/>
            <a:ext cx="457200" cy="457200"/>
          </a:xfrm>
          <a:prstGeom prst="ellipse">
            <a:avLst/>
          </a:prstGeom>
          <a:solidFill>
            <a:srgbClr val="00113D"/>
          </a:solidFill>
          <a:ln w="12700">
            <a:solidFill>
              <a:srgbClr val="00113D"/>
            </a:solidFill>
            <a:prstDash val="solid"/>
          </a:ln>
        </p:spPr>
      </p:sp>
      <p:sp>
        <p:nvSpPr>
          <p:cNvPr id="11" name="Text 9"/>
          <p:cNvSpPr txBox="1"/>
          <p:nvPr/>
        </p:nvSpPr>
        <p:spPr>
          <a:xfrm>
            <a:off x="3502152" y="15910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3502152" y="2176272"/>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Print</a:t>
            </a:r>
            <a:endParaRPr lang="en-US" sz="1500" dirty="0"/>
          </a:p>
        </p:txBody>
      </p:sp>
      <p:sp>
        <p:nvSpPr>
          <p:cNvPr id="13" name="Text 11"/>
          <p:cNvSpPr txBox="1"/>
          <p:nvPr/>
        </p:nvSpPr>
        <p:spPr>
          <a:xfrm>
            <a:off x="3502152" y="2505456"/>
            <a:ext cx="2157984" cy="82296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Twelve badges to an A4 page, each with the worker's name and ID underneath, as one printable file.</a:t>
            </a:r>
            <a:endParaRPr lang="en-US" sz="1050" dirty="0"/>
          </a:p>
        </p:txBody>
      </p:sp>
      <p:sp>
        <p:nvSpPr>
          <p:cNvPr id="14" name="Shape 12"/>
          <p:cNvSpPr/>
          <p:nvPr/>
        </p:nvSpPr>
        <p:spPr>
          <a:xfrm>
            <a:off x="6108192" y="1371600"/>
            <a:ext cx="2578608" cy="1783080"/>
          </a:xfrm>
          <a:prstGeom prst="roundRect">
            <a:avLst>
              <a:gd name="adj" fmla="val 4615"/>
            </a:avLst>
          </a:prstGeom>
          <a:solidFill>
            <a:srgbClr val="F5F7F5"/>
          </a:solidFill>
          <a:ln w="9525">
            <a:solidFill>
              <a:srgbClr val="DEE6E1"/>
            </a:solidFill>
            <a:prstDash val="solid"/>
          </a:ln>
        </p:spPr>
      </p:sp>
      <p:sp>
        <p:nvSpPr>
          <p:cNvPr id="15" name="Shape 13"/>
          <p:cNvSpPr/>
          <p:nvPr/>
        </p:nvSpPr>
        <p:spPr>
          <a:xfrm>
            <a:off x="6327648" y="1591056"/>
            <a:ext cx="457200" cy="457200"/>
          </a:xfrm>
          <a:prstGeom prst="ellipse">
            <a:avLst/>
          </a:prstGeom>
          <a:solidFill>
            <a:srgbClr val="17875E"/>
          </a:solidFill>
          <a:ln w="12700">
            <a:solidFill>
              <a:srgbClr val="17875E"/>
            </a:solidFill>
            <a:prstDash val="solid"/>
          </a:ln>
        </p:spPr>
      </p:sp>
      <p:sp>
        <p:nvSpPr>
          <p:cNvPr id="16" name="Text 14"/>
          <p:cNvSpPr txBox="1"/>
          <p:nvPr/>
        </p:nvSpPr>
        <p:spPr>
          <a:xfrm>
            <a:off x="6327648" y="15910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6327648" y="2176272"/>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Scan</a:t>
            </a:r>
            <a:endParaRPr lang="en-US" sz="1500" dirty="0"/>
          </a:p>
        </p:txBody>
      </p:sp>
      <p:sp>
        <p:nvSpPr>
          <p:cNvPr id="18" name="Text 16"/>
          <p:cNvSpPr txBox="1"/>
          <p:nvPr/>
        </p:nvSpPr>
        <p:spPr>
          <a:xfrm>
            <a:off x="6327648" y="2505456"/>
            <a:ext cx="2157984" cy="82296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Point the phone at the badge. The worker is identified in under a second, with no chance of a mistyped ID.</a:t>
            </a:r>
            <a:endParaRPr lang="en-US" sz="1050" dirty="0"/>
          </a:p>
        </p:txBody>
      </p:sp>
      <p:sp>
        <p:nvSpPr>
          <p:cNvPr id="19" name="Shape 17"/>
          <p:cNvSpPr/>
          <p:nvPr/>
        </p:nvSpPr>
        <p:spPr>
          <a:xfrm>
            <a:off x="457200" y="3310128"/>
            <a:ext cx="3977640" cy="1325880"/>
          </a:xfrm>
          <a:prstGeom prst="roundRect">
            <a:avLst>
              <a:gd name="adj" fmla="val 6207"/>
            </a:avLst>
          </a:prstGeom>
          <a:solidFill>
            <a:srgbClr val="E8F1FC"/>
          </a:solidFill>
          <a:ln w="9525">
            <a:solidFill>
              <a:srgbClr val="DEE6E1"/>
            </a:solidFill>
            <a:prstDash val="solid"/>
          </a:ln>
        </p:spPr>
      </p:sp>
      <p:sp>
        <p:nvSpPr>
          <p:cNvPr id="20" name="Shape 18"/>
          <p:cNvSpPr/>
          <p:nvPr/>
        </p:nvSpPr>
        <p:spPr>
          <a:xfrm>
            <a:off x="676656" y="3529584"/>
            <a:ext cx="384048" cy="384048"/>
          </a:xfrm>
          <a:prstGeom prst="ellipse">
            <a:avLst/>
          </a:prstGeom>
          <a:solidFill>
            <a:srgbClr val="0B66D6"/>
          </a:solidFill>
          <a:ln w="12700">
            <a:solidFill>
              <a:srgbClr val="0B66D6"/>
            </a:solidFill>
            <a:prstDash val="solid"/>
          </a:ln>
        </p:spPr>
      </p:sp>
      <p:sp>
        <p:nvSpPr>
          <p:cNvPr id="21" name="Text 19"/>
          <p:cNvSpPr txBox="1"/>
          <p:nvPr/>
        </p:nvSpPr>
        <p:spPr>
          <a:xfrm>
            <a:off x="676656" y="35295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2" name="Text 20"/>
          <p:cNvSpPr txBox="1"/>
          <p:nvPr/>
        </p:nvSpPr>
        <p:spPr>
          <a:xfrm>
            <a:off x="1170432" y="3511296"/>
            <a:ext cx="3017520"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Existing badges still work</a:t>
            </a:r>
            <a:endParaRPr lang="en-US" sz="1300" dirty="0"/>
          </a:p>
        </p:txBody>
      </p:sp>
      <p:sp>
        <p:nvSpPr>
          <p:cNvPr id="23" name="Text 21"/>
          <p:cNvSpPr txBox="1"/>
          <p:nvPr/>
        </p:nvSpPr>
        <p:spPr>
          <a:xfrm>
            <a:off x="1170432" y="3803904"/>
            <a:ext cx="3017520" cy="7132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The scanner reads ordinary barcodes as well as QR, so badges already issued do not have to be replaced.</a:t>
            </a:r>
            <a:endParaRPr lang="en-US" sz="1050" dirty="0"/>
          </a:p>
        </p:txBody>
      </p:sp>
      <p:sp>
        <p:nvSpPr>
          <p:cNvPr id="24" name="Shape 22"/>
          <p:cNvSpPr/>
          <p:nvPr/>
        </p:nvSpPr>
        <p:spPr>
          <a:xfrm>
            <a:off x="4709160" y="3310128"/>
            <a:ext cx="3977640" cy="1325880"/>
          </a:xfrm>
          <a:prstGeom prst="roundRect">
            <a:avLst>
              <a:gd name="adj" fmla="val 6207"/>
            </a:avLst>
          </a:prstGeom>
          <a:solidFill>
            <a:srgbClr val="F5F7F5"/>
          </a:solidFill>
          <a:ln w="9525">
            <a:solidFill>
              <a:srgbClr val="DEE6E1"/>
            </a:solidFill>
            <a:prstDash val="solid"/>
          </a:ln>
        </p:spPr>
      </p:sp>
      <p:sp>
        <p:nvSpPr>
          <p:cNvPr id="25" name="Shape 23"/>
          <p:cNvSpPr/>
          <p:nvPr/>
        </p:nvSpPr>
        <p:spPr>
          <a:xfrm>
            <a:off x="4928616" y="3529584"/>
            <a:ext cx="384048" cy="384048"/>
          </a:xfrm>
          <a:prstGeom prst="ellipse">
            <a:avLst/>
          </a:prstGeom>
          <a:solidFill>
            <a:srgbClr val="00113D"/>
          </a:solidFill>
          <a:ln w="12700">
            <a:solidFill>
              <a:srgbClr val="00113D"/>
            </a:solidFill>
            <a:prstDash val="solid"/>
          </a:ln>
        </p:spPr>
      </p:sp>
      <p:sp>
        <p:nvSpPr>
          <p:cNvPr id="26" name="Text 24"/>
          <p:cNvSpPr txBox="1"/>
          <p:nvPr/>
        </p:nvSpPr>
        <p:spPr>
          <a:xfrm>
            <a:off x="4928616" y="35295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7" name="Text 25"/>
          <p:cNvSpPr txBox="1"/>
          <p:nvPr/>
        </p:nvSpPr>
        <p:spPr>
          <a:xfrm>
            <a:off x="5422392" y="3511296"/>
            <a:ext cx="3017520"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 badge is never required</a:t>
            </a:r>
            <a:endParaRPr lang="en-US" sz="1300" dirty="0"/>
          </a:p>
        </p:txBody>
      </p:sp>
      <p:sp>
        <p:nvSpPr>
          <p:cNvPr id="28" name="Text 26"/>
          <p:cNvSpPr txBox="1"/>
          <p:nvPr/>
        </p:nvSpPr>
        <p:spPr>
          <a:xfrm>
            <a:off x="5422392" y="3803904"/>
            <a:ext cx="3017520" cy="7132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Lost his badge, or a new man with none yet? Search by name or employee number and mark him as normal.</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Proof the man was there</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Location is checked by the system, not asserted by a person</a:t>
            </a:r>
            <a:endParaRPr lang="en-US" sz="1300" dirty="0"/>
          </a:p>
        </p:txBody>
      </p:sp>
      <p:sp>
        <p:nvSpPr>
          <p:cNvPr id="4" name="Shape 2"/>
          <p:cNvSpPr/>
          <p:nvPr/>
        </p:nvSpPr>
        <p:spPr>
          <a:xfrm>
            <a:off x="457200" y="1335024"/>
            <a:ext cx="310896" cy="310896"/>
          </a:xfrm>
          <a:prstGeom prst="ellipse">
            <a:avLst/>
          </a:prstGeom>
          <a:solidFill>
            <a:srgbClr val="B3261E"/>
          </a:solidFill>
          <a:ln w="12700">
            <a:solidFill>
              <a:srgbClr val="B3261E"/>
            </a:solidFill>
            <a:prstDash val="solid"/>
          </a:ln>
        </p:spPr>
      </p:sp>
      <p:sp>
        <p:nvSpPr>
          <p:cNvPr id="5" name="Text 3"/>
          <p:cNvSpPr txBox="1"/>
          <p:nvPr/>
        </p:nvSpPr>
        <p:spPr>
          <a:xfrm>
            <a:off x="457200" y="133502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69264" y="1298448"/>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Fake GPS apps are refused outright</a:t>
            </a:r>
            <a:endParaRPr lang="en-US" sz="1350" dirty="0"/>
          </a:p>
        </p:txBody>
      </p:sp>
      <p:sp>
        <p:nvSpPr>
          <p:cNvPr id="7" name="Text 5"/>
          <p:cNvSpPr txBox="1"/>
          <p:nvPr/>
        </p:nvSpPr>
        <p:spPr>
          <a:xfrm>
            <a:off x="969264" y="1591056"/>
            <a:ext cx="7717536" cy="27432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Android reports a spoofed fix; the check-in is rejected and the attempt recorded.</a:t>
            </a:r>
            <a:endParaRPr lang="en-US" sz="1100" dirty="0"/>
          </a:p>
        </p:txBody>
      </p:sp>
      <p:sp>
        <p:nvSpPr>
          <p:cNvPr id="8" name="Shape 6"/>
          <p:cNvSpPr/>
          <p:nvPr/>
        </p:nvSpPr>
        <p:spPr>
          <a:xfrm>
            <a:off x="457200" y="2011680"/>
            <a:ext cx="310896" cy="310896"/>
          </a:xfrm>
          <a:prstGeom prst="ellipse">
            <a:avLst/>
          </a:prstGeom>
          <a:solidFill>
            <a:srgbClr val="0B66D6"/>
          </a:solidFill>
          <a:ln w="12700">
            <a:solidFill>
              <a:srgbClr val="0B66D6"/>
            </a:solidFill>
            <a:prstDash val="solid"/>
          </a:ln>
        </p:spPr>
      </p:sp>
      <p:sp>
        <p:nvSpPr>
          <p:cNvPr id="9" name="Text 7"/>
          <p:cNvSpPr txBox="1"/>
          <p:nvPr/>
        </p:nvSpPr>
        <p:spPr>
          <a:xfrm>
            <a:off x="457200" y="20116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969264" y="1975104"/>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Every project carries its own geofence</a:t>
            </a:r>
            <a:endParaRPr lang="en-US" sz="1350" dirty="0"/>
          </a:p>
        </p:txBody>
      </p:sp>
      <p:sp>
        <p:nvSpPr>
          <p:cNvPr id="11" name="Text 9"/>
          <p:cNvSpPr txBox="1"/>
          <p:nvPr/>
        </p:nvSpPr>
        <p:spPr>
          <a:xfrm>
            <a:off x="969264" y="2267712"/>
            <a:ext cx="7717536" cy="27432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Coordinates and radius per project, so a tight compound and a spread-out site differ.</a:t>
            </a:r>
            <a:endParaRPr lang="en-US" sz="1100" dirty="0"/>
          </a:p>
        </p:txBody>
      </p:sp>
      <p:sp>
        <p:nvSpPr>
          <p:cNvPr id="12" name="Shape 10"/>
          <p:cNvSpPr/>
          <p:nvPr/>
        </p:nvSpPr>
        <p:spPr>
          <a:xfrm>
            <a:off x="457200" y="2688336"/>
            <a:ext cx="310896" cy="310896"/>
          </a:xfrm>
          <a:prstGeom prst="ellipse">
            <a:avLst/>
          </a:prstGeom>
          <a:solidFill>
            <a:srgbClr val="00113D"/>
          </a:solidFill>
          <a:ln w="12700">
            <a:solidFill>
              <a:srgbClr val="00113D"/>
            </a:solidFill>
            <a:prstDash val="solid"/>
          </a:ln>
        </p:spPr>
      </p:sp>
      <p:sp>
        <p:nvSpPr>
          <p:cNvPr id="13" name="Text 11"/>
          <p:cNvSpPr txBox="1"/>
          <p:nvPr/>
        </p:nvSpPr>
        <p:spPr>
          <a:xfrm>
            <a:off x="457200" y="268833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969264" y="2651760"/>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Distance is recorded, not just pass or fail</a:t>
            </a:r>
            <a:endParaRPr lang="en-US" sz="1350" dirty="0"/>
          </a:p>
        </p:txBody>
      </p:sp>
      <p:sp>
        <p:nvSpPr>
          <p:cNvPr id="15" name="Text 13"/>
          <p:cNvSpPr txBox="1"/>
          <p:nvPr/>
        </p:nvSpPr>
        <p:spPr>
          <a:xfrm>
            <a:off x="969264" y="2944368"/>
            <a:ext cx="7717536" cy="27432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How far from the site centre the phone was, so a borderline check-in can be reviewed.</a:t>
            </a:r>
            <a:endParaRPr lang="en-US" sz="1100" dirty="0"/>
          </a:p>
        </p:txBody>
      </p:sp>
      <p:sp>
        <p:nvSpPr>
          <p:cNvPr id="16" name="Shape 14"/>
          <p:cNvSpPr/>
          <p:nvPr/>
        </p:nvSpPr>
        <p:spPr>
          <a:xfrm>
            <a:off x="457200" y="3364992"/>
            <a:ext cx="310896" cy="310896"/>
          </a:xfrm>
          <a:prstGeom prst="ellipse">
            <a:avLst/>
          </a:prstGeom>
          <a:solidFill>
            <a:srgbClr val="0B66D6"/>
          </a:solidFill>
          <a:ln w="12700">
            <a:solidFill>
              <a:srgbClr val="0B66D6"/>
            </a:solidFill>
            <a:prstDash val="solid"/>
          </a:ln>
        </p:spPr>
      </p:sp>
      <p:sp>
        <p:nvSpPr>
          <p:cNvPr id="17" name="Text 15"/>
          <p:cNvSpPr txBox="1"/>
          <p:nvPr/>
        </p:nvSpPr>
        <p:spPr>
          <a:xfrm>
            <a:off x="457200" y="33649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969264" y="3328416"/>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Off-roster arrivals are flagged</a:t>
            </a:r>
            <a:endParaRPr lang="en-US" sz="1350" dirty="0"/>
          </a:p>
        </p:txBody>
      </p:sp>
      <p:sp>
        <p:nvSpPr>
          <p:cNvPr id="19" name="Text 17"/>
          <p:cNvSpPr txBox="1"/>
          <p:nvPr/>
        </p:nvSpPr>
        <p:spPr>
          <a:xfrm>
            <a:off x="969264" y="3621024"/>
            <a:ext cx="7717536" cy="27432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Marked at a project other than his roster? Flagged as a site deviation for review.</a:t>
            </a:r>
            <a:endParaRPr lang="en-US" sz="1100" dirty="0"/>
          </a:p>
        </p:txBody>
      </p:sp>
      <p:sp>
        <p:nvSpPr>
          <p:cNvPr id="20" name="Shape 18"/>
          <p:cNvSpPr/>
          <p:nvPr/>
        </p:nvSpPr>
        <p:spPr>
          <a:xfrm>
            <a:off x="457200" y="4041648"/>
            <a:ext cx="310896" cy="310896"/>
          </a:xfrm>
          <a:prstGeom prst="ellipse">
            <a:avLst/>
          </a:prstGeom>
          <a:solidFill>
            <a:srgbClr val="00113D"/>
          </a:solidFill>
          <a:ln w="12700">
            <a:solidFill>
              <a:srgbClr val="00113D"/>
            </a:solidFill>
            <a:prstDash val="solid"/>
          </a:ln>
        </p:spPr>
      </p:sp>
      <p:sp>
        <p:nvSpPr>
          <p:cNvPr id="21" name="Text 19"/>
          <p:cNvSpPr txBox="1"/>
          <p:nvPr/>
        </p:nvSpPr>
        <p:spPr>
          <a:xfrm>
            <a:off x="457200" y="404164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969264" y="4005072"/>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Office staff have a wider radius</a:t>
            </a:r>
            <a:endParaRPr lang="en-US" sz="1350" dirty="0"/>
          </a:p>
        </p:txBody>
      </p:sp>
      <p:sp>
        <p:nvSpPr>
          <p:cNvPr id="23" name="Text 21"/>
          <p:cNvSpPr txBox="1"/>
          <p:nvPr/>
        </p:nvSpPr>
        <p:spPr>
          <a:xfrm>
            <a:off x="969264" y="4297680"/>
            <a:ext cx="7717536" cy="27432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Set per site, so office staff are not held to a gate-level fence while the crew is.</a:t>
            </a:r>
            <a:endParaRPr lang="en-US" sz="1100" dirty="0"/>
          </a:p>
        </p:txBody>
      </p:sp>
      <p:sp>
        <p:nvSpPr>
          <p:cNvPr id="24" name="Text 22"/>
          <p:cNvSpPr txBox="1"/>
          <p:nvPr/>
        </p:nvSpPr>
        <p:spPr>
          <a:xfrm>
            <a:off x="457200" y="4590288"/>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A spoofed location is treated as its own kind of refusal, logged the same way an outside-the-fence attempt is.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Checked against the biometric</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The one question a geofence cannot settle, answered by the ERP</a:t>
            </a:r>
            <a:endParaRPr lang="en-US" sz="1300" dirty="0"/>
          </a:p>
        </p:txBody>
      </p:sp>
      <p:sp>
        <p:nvSpPr>
          <p:cNvPr id="4" name="Shape 2"/>
          <p:cNvSpPr/>
          <p:nvPr/>
        </p:nvSpPr>
        <p:spPr>
          <a:xfrm>
            <a:off x="457200" y="1325880"/>
            <a:ext cx="2578608" cy="1737360"/>
          </a:xfrm>
          <a:prstGeom prst="roundRect">
            <a:avLst>
              <a:gd name="adj" fmla="val 4737"/>
            </a:avLst>
          </a:prstGeom>
          <a:solidFill>
            <a:srgbClr val="F5F7F5"/>
          </a:solidFill>
          <a:ln w="9525">
            <a:solidFill>
              <a:srgbClr val="DEE6E1"/>
            </a:solidFill>
            <a:prstDash val="solid"/>
          </a:ln>
        </p:spPr>
      </p:sp>
      <p:sp>
        <p:nvSpPr>
          <p:cNvPr id="5" name="Shape 3"/>
          <p:cNvSpPr/>
          <p:nvPr/>
        </p:nvSpPr>
        <p:spPr>
          <a:xfrm>
            <a:off x="676656" y="1536192"/>
            <a:ext cx="457200" cy="457200"/>
          </a:xfrm>
          <a:prstGeom prst="ellipse">
            <a:avLst/>
          </a:prstGeom>
          <a:solidFill>
            <a:srgbClr val="0B66D6"/>
          </a:solidFill>
          <a:ln w="12700">
            <a:solidFill>
              <a:srgbClr val="0B66D6"/>
            </a:solidFill>
            <a:prstDash val="solid"/>
          </a:ln>
        </p:spPr>
      </p:sp>
      <p:sp>
        <p:nvSpPr>
          <p:cNvPr id="6" name="Text 4"/>
          <p:cNvSpPr txBox="1"/>
          <p:nvPr/>
        </p:nvSpPr>
        <p:spPr>
          <a:xfrm>
            <a:off x="676656" y="15361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676656" y="2121408"/>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Upload</a:t>
            </a:r>
            <a:endParaRPr lang="en-US" sz="1500" dirty="0"/>
          </a:p>
        </p:txBody>
      </p:sp>
      <p:sp>
        <p:nvSpPr>
          <p:cNvPr id="8" name="Text 6"/>
          <p:cNvSpPr txBox="1"/>
          <p:nvPr/>
        </p:nvSpPr>
        <p:spPr>
          <a:xfrm>
            <a:off x="676656" y="2450592"/>
            <a:ext cx="2157984" cy="77724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The ERP 8127 report goes straight into the app — employee ID, name, punch in and out.</a:t>
            </a:r>
            <a:endParaRPr lang="en-US" sz="1050" dirty="0"/>
          </a:p>
        </p:txBody>
      </p:sp>
      <p:sp>
        <p:nvSpPr>
          <p:cNvPr id="9" name="Shape 7"/>
          <p:cNvSpPr/>
          <p:nvPr/>
        </p:nvSpPr>
        <p:spPr>
          <a:xfrm>
            <a:off x="3282696" y="1325880"/>
            <a:ext cx="2578608" cy="1737360"/>
          </a:xfrm>
          <a:prstGeom prst="roundRect">
            <a:avLst>
              <a:gd name="adj" fmla="val 4737"/>
            </a:avLst>
          </a:prstGeom>
          <a:solidFill>
            <a:srgbClr val="F5F7F5"/>
          </a:solidFill>
          <a:ln w="9525">
            <a:solidFill>
              <a:srgbClr val="DEE6E1"/>
            </a:solidFill>
            <a:prstDash val="solid"/>
          </a:ln>
        </p:spPr>
      </p:sp>
      <p:sp>
        <p:nvSpPr>
          <p:cNvPr id="10" name="Shape 8"/>
          <p:cNvSpPr/>
          <p:nvPr/>
        </p:nvSpPr>
        <p:spPr>
          <a:xfrm>
            <a:off x="3502152" y="1536192"/>
            <a:ext cx="457200" cy="457200"/>
          </a:xfrm>
          <a:prstGeom prst="ellipse">
            <a:avLst/>
          </a:prstGeom>
          <a:solidFill>
            <a:srgbClr val="00113D"/>
          </a:solidFill>
          <a:ln w="12700">
            <a:solidFill>
              <a:srgbClr val="00113D"/>
            </a:solidFill>
            <a:prstDash val="solid"/>
          </a:ln>
        </p:spPr>
      </p:sp>
      <p:sp>
        <p:nvSpPr>
          <p:cNvPr id="11" name="Text 9"/>
          <p:cNvSpPr txBox="1"/>
          <p:nvPr/>
        </p:nvSpPr>
        <p:spPr>
          <a:xfrm>
            <a:off x="3502152" y="15361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3502152" y="2121408"/>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Compare</a:t>
            </a:r>
            <a:endParaRPr lang="en-US" sz="1500" dirty="0"/>
          </a:p>
        </p:txBody>
      </p:sp>
      <p:sp>
        <p:nvSpPr>
          <p:cNvPr id="13" name="Text 11"/>
          <p:cNvSpPr txBox="1"/>
          <p:nvPr/>
        </p:nvSpPr>
        <p:spPr>
          <a:xfrm>
            <a:off x="3502152" y="2450592"/>
            <a:ext cx="2157984" cy="77724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Every marked record is matched against the punches for the same day, worker by worker.</a:t>
            </a:r>
            <a:endParaRPr lang="en-US" sz="1050" dirty="0"/>
          </a:p>
        </p:txBody>
      </p:sp>
      <p:sp>
        <p:nvSpPr>
          <p:cNvPr id="14" name="Shape 12"/>
          <p:cNvSpPr/>
          <p:nvPr/>
        </p:nvSpPr>
        <p:spPr>
          <a:xfrm>
            <a:off x="6108192" y="1325880"/>
            <a:ext cx="2578608" cy="1737360"/>
          </a:xfrm>
          <a:prstGeom prst="roundRect">
            <a:avLst>
              <a:gd name="adj" fmla="val 4737"/>
            </a:avLst>
          </a:prstGeom>
          <a:solidFill>
            <a:srgbClr val="F5F7F5"/>
          </a:solidFill>
          <a:ln w="9525">
            <a:solidFill>
              <a:srgbClr val="DEE6E1"/>
            </a:solidFill>
            <a:prstDash val="solid"/>
          </a:ln>
        </p:spPr>
      </p:sp>
      <p:sp>
        <p:nvSpPr>
          <p:cNvPr id="15" name="Shape 13"/>
          <p:cNvSpPr/>
          <p:nvPr/>
        </p:nvSpPr>
        <p:spPr>
          <a:xfrm>
            <a:off x="6327648" y="1536192"/>
            <a:ext cx="457200" cy="457200"/>
          </a:xfrm>
          <a:prstGeom prst="ellipse">
            <a:avLst/>
          </a:prstGeom>
          <a:solidFill>
            <a:srgbClr val="17875E"/>
          </a:solidFill>
          <a:ln w="12700">
            <a:solidFill>
              <a:srgbClr val="17875E"/>
            </a:solidFill>
            <a:prstDash val="solid"/>
          </a:ln>
        </p:spPr>
      </p:sp>
      <p:sp>
        <p:nvSpPr>
          <p:cNvPr id="16" name="Text 14"/>
          <p:cNvSpPr txBox="1"/>
          <p:nvPr/>
        </p:nvSpPr>
        <p:spPr>
          <a:xfrm>
            <a:off x="6327648" y="15361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6327648" y="2121408"/>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Record</a:t>
            </a:r>
            <a:endParaRPr lang="en-US" sz="1500" dirty="0"/>
          </a:p>
        </p:txBody>
      </p:sp>
      <p:sp>
        <p:nvSpPr>
          <p:cNvPr id="18" name="Text 16"/>
          <p:cNvSpPr txBox="1"/>
          <p:nvPr/>
        </p:nvSpPr>
        <p:spPr>
          <a:xfrm>
            <a:off x="6327648" y="2450592"/>
            <a:ext cx="2157984" cy="77724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Who ran the check, when, and what it found is kept — so daily verification is evidenced.</a:t>
            </a:r>
            <a:endParaRPr lang="en-US" sz="1050" dirty="0"/>
          </a:p>
        </p:txBody>
      </p:sp>
      <p:sp>
        <p:nvSpPr>
          <p:cNvPr id="19" name="Shape 17"/>
          <p:cNvSpPr/>
          <p:nvPr/>
        </p:nvSpPr>
        <p:spPr>
          <a:xfrm>
            <a:off x="457200" y="3218688"/>
            <a:ext cx="3977640" cy="1325880"/>
          </a:xfrm>
          <a:prstGeom prst="roundRect">
            <a:avLst>
              <a:gd name="adj" fmla="val 6207"/>
            </a:avLst>
          </a:prstGeom>
          <a:solidFill>
            <a:srgbClr val="FDF3F2"/>
          </a:solidFill>
          <a:ln w="9525">
            <a:solidFill>
              <a:srgbClr val="DEE6E1"/>
            </a:solidFill>
            <a:prstDash val="solid"/>
          </a:ln>
        </p:spPr>
      </p:sp>
      <p:sp>
        <p:nvSpPr>
          <p:cNvPr id="20" name="Shape 18"/>
          <p:cNvSpPr/>
          <p:nvPr/>
        </p:nvSpPr>
        <p:spPr>
          <a:xfrm>
            <a:off x="676656" y="3438144"/>
            <a:ext cx="384048" cy="384048"/>
          </a:xfrm>
          <a:prstGeom prst="ellipse">
            <a:avLst/>
          </a:prstGeom>
          <a:solidFill>
            <a:srgbClr val="B3261E"/>
          </a:solidFill>
          <a:ln w="12700">
            <a:solidFill>
              <a:srgbClr val="B3261E"/>
            </a:solidFill>
            <a:prstDash val="solid"/>
          </a:ln>
        </p:spPr>
      </p:sp>
      <p:sp>
        <p:nvSpPr>
          <p:cNvPr id="21" name="Text 19"/>
          <p:cNvSpPr txBox="1"/>
          <p:nvPr/>
        </p:nvSpPr>
        <p:spPr>
          <a:xfrm>
            <a:off x="676656" y="343814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2" name="Text 20"/>
          <p:cNvSpPr txBox="1"/>
          <p:nvPr/>
        </p:nvSpPr>
        <p:spPr>
          <a:xfrm>
            <a:off x="1170432" y="3419856"/>
            <a:ext cx="3017520"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Marked present, never punched</a:t>
            </a:r>
            <a:endParaRPr lang="en-US" sz="1300" dirty="0"/>
          </a:p>
        </p:txBody>
      </p:sp>
      <p:sp>
        <p:nvSpPr>
          <p:cNvPr id="23" name="Text 21"/>
          <p:cNvSpPr txBox="1"/>
          <p:nvPr/>
        </p:nvSpPr>
        <p:spPr>
          <a:xfrm>
            <a:off x="1170432" y="3712464"/>
            <a:ext cx="3017520" cy="78638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Listed for review with the name of whoever marked him. The reverse is caught too: punched but never marked, which costs the worker a day.</a:t>
            </a:r>
            <a:endParaRPr lang="en-US" sz="1050" dirty="0"/>
          </a:p>
        </p:txBody>
      </p:sp>
      <p:sp>
        <p:nvSpPr>
          <p:cNvPr id="24" name="Shape 22"/>
          <p:cNvSpPr/>
          <p:nvPr/>
        </p:nvSpPr>
        <p:spPr>
          <a:xfrm>
            <a:off x="4709160" y="3218688"/>
            <a:ext cx="3977640" cy="1325880"/>
          </a:xfrm>
          <a:prstGeom prst="roundRect">
            <a:avLst>
              <a:gd name="adj" fmla="val 6207"/>
            </a:avLst>
          </a:prstGeom>
          <a:solidFill>
            <a:srgbClr val="F5F7F5"/>
          </a:solidFill>
          <a:ln w="9525">
            <a:solidFill>
              <a:srgbClr val="DEE6E1"/>
            </a:solidFill>
            <a:prstDash val="solid"/>
          </a:ln>
        </p:spPr>
      </p:sp>
      <p:sp>
        <p:nvSpPr>
          <p:cNvPr id="25" name="Shape 23"/>
          <p:cNvSpPr/>
          <p:nvPr/>
        </p:nvSpPr>
        <p:spPr>
          <a:xfrm>
            <a:off x="4928616" y="3438144"/>
            <a:ext cx="384048" cy="384048"/>
          </a:xfrm>
          <a:prstGeom prst="ellipse">
            <a:avLst/>
          </a:prstGeom>
          <a:solidFill>
            <a:srgbClr val="00113D"/>
          </a:solidFill>
          <a:ln w="12700">
            <a:solidFill>
              <a:srgbClr val="00113D"/>
            </a:solidFill>
            <a:prstDash val="solid"/>
          </a:ln>
        </p:spPr>
      </p:sp>
      <p:sp>
        <p:nvSpPr>
          <p:cNvPr id="26" name="Text 24"/>
          <p:cNvSpPr txBox="1"/>
          <p:nvPr/>
        </p:nvSpPr>
        <p:spPr>
          <a:xfrm>
            <a:off x="4928616" y="343814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a:t>
            </a:r>
            <a:endParaRPr lang="en-US" sz="1200" dirty="0"/>
          </a:p>
        </p:txBody>
      </p:sp>
      <p:sp>
        <p:nvSpPr>
          <p:cNvPr id="27" name="Text 25"/>
          <p:cNvSpPr txBox="1"/>
          <p:nvPr/>
        </p:nvSpPr>
        <p:spPr>
          <a:xfrm>
            <a:off x="5422392" y="3419856"/>
            <a:ext cx="3017520"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Honest about its limits</a:t>
            </a:r>
            <a:endParaRPr lang="en-US" sz="1300" dirty="0"/>
          </a:p>
        </p:txBody>
      </p:sp>
      <p:sp>
        <p:nvSpPr>
          <p:cNvPr id="28" name="Text 26"/>
          <p:cNvSpPr txBox="1"/>
          <p:nvPr/>
        </p:nvSpPr>
        <p:spPr>
          <a:xfrm>
            <a:off x="5422392" y="3712464"/>
            <a:ext cx="3017520" cy="78638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It finds a bad mark afterwards rather than stopping one, and only covers workers a reader reaches — the app says so on screen when coverage is low.</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Five roles, scoped by project</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Access is decided by role plus the projects that person is assigned to</a:t>
            </a:r>
            <a:endParaRPr lang="en-US" sz="1300" dirty="0"/>
          </a:p>
        </p:txBody>
      </p:sp>
      <p:sp>
        <p:nvSpPr>
          <p:cNvPr id="4" name="Shape 2"/>
          <p:cNvSpPr/>
          <p:nvPr/>
        </p:nvSpPr>
        <p:spPr>
          <a:xfrm>
            <a:off x="457200" y="1371600"/>
            <a:ext cx="2578608" cy="1371600"/>
          </a:xfrm>
          <a:prstGeom prst="roundRect">
            <a:avLst>
              <a:gd name="adj" fmla="val 6000"/>
            </a:avLst>
          </a:prstGeom>
          <a:solidFill>
            <a:srgbClr val="F5F7F5"/>
          </a:solidFill>
          <a:ln w="9525">
            <a:solidFill>
              <a:srgbClr val="DEE6E1"/>
            </a:solidFill>
            <a:prstDash val="solid"/>
          </a:ln>
        </p:spPr>
      </p:sp>
      <p:sp>
        <p:nvSpPr>
          <p:cNvPr id="5" name="Shape 3"/>
          <p:cNvSpPr/>
          <p:nvPr/>
        </p:nvSpPr>
        <p:spPr>
          <a:xfrm>
            <a:off x="676656" y="1572768"/>
            <a:ext cx="384048" cy="384048"/>
          </a:xfrm>
          <a:prstGeom prst="ellipse">
            <a:avLst/>
          </a:prstGeom>
          <a:solidFill>
            <a:srgbClr val="00113D"/>
          </a:solidFill>
          <a:ln w="12700">
            <a:solidFill>
              <a:srgbClr val="00113D"/>
            </a:solidFill>
            <a:prstDash val="solid"/>
          </a:ln>
        </p:spPr>
      </p:sp>
      <p:sp>
        <p:nvSpPr>
          <p:cNvPr id="6" name="Text 4"/>
          <p:cNvSpPr txBox="1"/>
          <p:nvPr/>
        </p:nvSpPr>
        <p:spPr>
          <a:xfrm>
            <a:off x="676656"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SA</a:t>
            </a:r>
            <a:endParaRPr lang="en-US" sz="1200" dirty="0"/>
          </a:p>
        </p:txBody>
      </p:sp>
      <p:sp>
        <p:nvSpPr>
          <p:cNvPr id="7" name="Text 5"/>
          <p:cNvSpPr txBox="1"/>
          <p:nvPr/>
        </p:nvSpPr>
        <p:spPr>
          <a:xfrm>
            <a:off x="1152144" y="1609344"/>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Super Admin</a:t>
            </a:r>
            <a:endParaRPr lang="en-US" sz="1300" dirty="0"/>
          </a:p>
        </p:txBody>
      </p:sp>
      <p:sp>
        <p:nvSpPr>
          <p:cNvPr id="8" name="Text 6"/>
          <p:cNvSpPr txBox="1"/>
          <p:nvPr/>
        </p:nvSpPr>
        <p:spPr>
          <a:xfrm>
            <a:off x="676656" y="2066544"/>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Full access. Creates users, sets roles, configures projects and geofences.</a:t>
            </a:r>
            <a:endParaRPr lang="en-US" sz="1050" dirty="0"/>
          </a:p>
        </p:txBody>
      </p:sp>
      <p:sp>
        <p:nvSpPr>
          <p:cNvPr id="9" name="Shape 7"/>
          <p:cNvSpPr/>
          <p:nvPr/>
        </p:nvSpPr>
        <p:spPr>
          <a:xfrm>
            <a:off x="3282696" y="1371600"/>
            <a:ext cx="2578608" cy="1371600"/>
          </a:xfrm>
          <a:prstGeom prst="roundRect">
            <a:avLst>
              <a:gd name="adj" fmla="val 6000"/>
            </a:avLst>
          </a:prstGeom>
          <a:solidFill>
            <a:srgbClr val="F5F7F5"/>
          </a:solidFill>
          <a:ln w="9525">
            <a:solidFill>
              <a:srgbClr val="DEE6E1"/>
            </a:solidFill>
            <a:prstDash val="solid"/>
          </a:ln>
        </p:spPr>
      </p:sp>
      <p:sp>
        <p:nvSpPr>
          <p:cNvPr id="10" name="Shape 8"/>
          <p:cNvSpPr/>
          <p:nvPr/>
        </p:nvSpPr>
        <p:spPr>
          <a:xfrm>
            <a:off x="3502152" y="1572768"/>
            <a:ext cx="384048" cy="384048"/>
          </a:xfrm>
          <a:prstGeom prst="ellipse">
            <a:avLst/>
          </a:prstGeom>
          <a:solidFill>
            <a:srgbClr val="0B66D6"/>
          </a:solidFill>
          <a:ln w="12700">
            <a:solidFill>
              <a:srgbClr val="0B66D6"/>
            </a:solidFill>
            <a:prstDash val="solid"/>
          </a:ln>
        </p:spPr>
      </p:sp>
      <p:sp>
        <p:nvSpPr>
          <p:cNvPr id="11" name="Text 9"/>
          <p:cNvSpPr txBox="1"/>
          <p:nvPr/>
        </p:nvSpPr>
        <p:spPr>
          <a:xfrm>
            <a:off x="3502152"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12" name="Text 10"/>
          <p:cNvSpPr txBox="1"/>
          <p:nvPr/>
        </p:nvSpPr>
        <p:spPr>
          <a:xfrm>
            <a:off x="3977640" y="1609344"/>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Admin</a:t>
            </a:r>
            <a:endParaRPr lang="en-US" sz="1300" dirty="0"/>
          </a:p>
        </p:txBody>
      </p:sp>
      <p:sp>
        <p:nvSpPr>
          <p:cNvPr id="13" name="Text 11"/>
          <p:cNvSpPr txBox="1"/>
          <p:nvPr/>
        </p:nvSpPr>
        <p:spPr>
          <a:xfrm>
            <a:off x="3502152" y="2066544"/>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Manages the workforce, attendance and reports across their assigned projects.</a:t>
            </a:r>
            <a:endParaRPr lang="en-US" sz="1050" dirty="0"/>
          </a:p>
        </p:txBody>
      </p:sp>
      <p:sp>
        <p:nvSpPr>
          <p:cNvPr id="14" name="Shape 12"/>
          <p:cNvSpPr/>
          <p:nvPr/>
        </p:nvSpPr>
        <p:spPr>
          <a:xfrm>
            <a:off x="6108192" y="1371600"/>
            <a:ext cx="2578608" cy="1371600"/>
          </a:xfrm>
          <a:prstGeom prst="roundRect">
            <a:avLst>
              <a:gd name="adj" fmla="val 6000"/>
            </a:avLst>
          </a:prstGeom>
          <a:solidFill>
            <a:srgbClr val="F5F7F5"/>
          </a:solidFill>
          <a:ln w="9525">
            <a:solidFill>
              <a:srgbClr val="DEE6E1"/>
            </a:solidFill>
            <a:prstDash val="solid"/>
          </a:ln>
        </p:spPr>
      </p:sp>
      <p:sp>
        <p:nvSpPr>
          <p:cNvPr id="15" name="Shape 13"/>
          <p:cNvSpPr/>
          <p:nvPr/>
        </p:nvSpPr>
        <p:spPr>
          <a:xfrm>
            <a:off x="6327648" y="1572768"/>
            <a:ext cx="384048" cy="384048"/>
          </a:xfrm>
          <a:prstGeom prst="ellipse">
            <a:avLst/>
          </a:prstGeom>
          <a:solidFill>
            <a:srgbClr val="0378E2"/>
          </a:solidFill>
          <a:ln w="12700">
            <a:solidFill>
              <a:srgbClr val="0378E2"/>
            </a:solidFill>
            <a:prstDash val="solid"/>
          </a:ln>
        </p:spPr>
      </p:sp>
      <p:sp>
        <p:nvSpPr>
          <p:cNvPr id="16" name="Text 14"/>
          <p:cNvSpPr txBox="1"/>
          <p:nvPr/>
        </p:nvSpPr>
        <p:spPr>
          <a:xfrm>
            <a:off x="6327648"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TK</a:t>
            </a:r>
            <a:endParaRPr lang="en-US" sz="1200" dirty="0"/>
          </a:p>
        </p:txBody>
      </p:sp>
      <p:sp>
        <p:nvSpPr>
          <p:cNvPr id="17" name="Text 15"/>
          <p:cNvSpPr txBox="1"/>
          <p:nvPr/>
        </p:nvSpPr>
        <p:spPr>
          <a:xfrm>
            <a:off x="6803136" y="1609344"/>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Timekeeper</a:t>
            </a:r>
            <a:endParaRPr lang="en-US" sz="1300" dirty="0"/>
          </a:p>
        </p:txBody>
      </p:sp>
      <p:sp>
        <p:nvSpPr>
          <p:cNvPr id="18" name="Text 16"/>
          <p:cNvSpPr txBox="1"/>
          <p:nvPr/>
        </p:nvSpPr>
        <p:spPr>
          <a:xfrm>
            <a:off x="6327648" y="2066544"/>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Owns their site's roster and attendance. Approves incoming worker transfers.</a:t>
            </a:r>
            <a:endParaRPr lang="en-US" sz="1050" dirty="0"/>
          </a:p>
        </p:txBody>
      </p:sp>
      <p:sp>
        <p:nvSpPr>
          <p:cNvPr id="19" name="Shape 17"/>
          <p:cNvSpPr/>
          <p:nvPr/>
        </p:nvSpPr>
        <p:spPr>
          <a:xfrm>
            <a:off x="457200" y="2944368"/>
            <a:ext cx="2578608" cy="1371600"/>
          </a:xfrm>
          <a:prstGeom prst="roundRect">
            <a:avLst>
              <a:gd name="adj" fmla="val 6000"/>
            </a:avLst>
          </a:prstGeom>
          <a:solidFill>
            <a:srgbClr val="F5F7F5"/>
          </a:solidFill>
          <a:ln w="9525">
            <a:solidFill>
              <a:srgbClr val="DEE6E1"/>
            </a:solidFill>
            <a:prstDash val="solid"/>
          </a:ln>
        </p:spPr>
      </p:sp>
      <p:sp>
        <p:nvSpPr>
          <p:cNvPr id="20" name="Shape 18"/>
          <p:cNvSpPr/>
          <p:nvPr/>
        </p:nvSpPr>
        <p:spPr>
          <a:xfrm>
            <a:off x="676656" y="3145536"/>
            <a:ext cx="384048" cy="384048"/>
          </a:xfrm>
          <a:prstGeom prst="ellipse">
            <a:avLst/>
          </a:prstGeom>
          <a:solidFill>
            <a:srgbClr val="17875E"/>
          </a:solidFill>
          <a:ln w="12700">
            <a:solidFill>
              <a:srgbClr val="17875E"/>
            </a:solidFill>
            <a:prstDash val="solid"/>
          </a:ln>
        </p:spPr>
      </p:sp>
      <p:sp>
        <p:nvSpPr>
          <p:cNvPr id="21" name="Text 19"/>
          <p:cNvSpPr txBox="1"/>
          <p:nvPr/>
        </p:nvSpPr>
        <p:spPr>
          <a:xfrm>
            <a:off x="676656"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SV</a:t>
            </a:r>
            <a:endParaRPr lang="en-US" sz="1200" dirty="0"/>
          </a:p>
        </p:txBody>
      </p:sp>
      <p:sp>
        <p:nvSpPr>
          <p:cNvPr id="22" name="Text 20"/>
          <p:cNvSpPr txBox="1"/>
          <p:nvPr/>
        </p:nvSpPr>
        <p:spPr>
          <a:xfrm>
            <a:off x="1152144" y="3182112"/>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Supervisor</a:t>
            </a:r>
            <a:endParaRPr lang="en-US" sz="1300" dirty="0"/>
          </a:p>
        </p:txBody>
      </p:sp>
      <p:sp>
        <p:nvSpPr>
          <p:cNvPr id="23" name="Text 21"/>
          <p:cNvSpPr txBox="1"/>
          <p:nvPr/>
        </p:nvSpPr>
        <p:spPr>
          <a:xfrm>
            <a:off x="676656" y="3639312"/>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Marks attendance, reads manpower and raises transfers for their projects.</a:t>
            </a:r>
            <a:endParaRPr lang="en-US" sz="1050" dirty="0"/>
          </a:p>
        </p:txBody>
      </p:sp>
      <p:sp>
        <p:nvSpPr>
          <p:cNvPr id="24" name="Shape 22"/>
          <p:cNvSpPr/>
          <p:nvPr/>
        </p:nvSpPr>
        <p:spPr>
          <a:xfrm>
            <a:off x="3282696" y="2944368"/>
            <a:ext cx="2578608" cy="1371600"/>
          </a:xfrm>
          <a:prstGeom prst="roundRect">
            <a:avLst>
              <a:gd name="adj" fmla="val 6000"/>
            </a:avLst>
          </a:prstGeom>
          <a:solidFill>
            <a:srgbClr val="F5F7F5"/>
          </a:solidFill>
          <a:ln w="9525">
            <a:solidFill>
              <a:srgbClr val="DEE6E1"/>
            </a:solidFill>
            <a:prstDash val="solid"/>
          </a:ln>
        </p:spPr>
      </p:sp>
      <p:sp>
        <p:nvSpPr>
          <p:cNvPr id="25" name="Shape 23"/>
          <p:cNvSpPr/>
          <p:nvPr/>
        </p:nvSpPr>
        <p:spPr>
          <a:xfrm>
            <a:off x="3502152" y="3145536"/>
            <a:ext cx="384048" cy="384048"/>
          </a:xfrm>
          <a:prstGeom prst="ellipse">
            <a:avLst/>
          </a:prstGeom>
          <a:solidFill>
            <a:srgbClr val="5B6B63"/>
          </a:solidFill>
          <a:ln w="12700">
            <a:solidFill>
              <a:srgbClr val="5B6B63"/>
            </a:solidFill>
            <a:prstDash val="solid"/>
          </a:ln>
        </p:spPr>
      </p:sp>
      <p:sp>
        <p:nvSpPr>
          <p:cNvPr id="26" name="Text 24"/>
          <p:cNvSpPr txBox="1"/>
          <p:nvPr/>
        </p:nvSpPr>
        <p:spPr>
          <a:xfrm>
            <a:off x="3502152"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t>
            </a:r>
            <a:endParaRPr lang="en-US" sz="1200" dirty="0"/>
          </a:p>
        </p:txBody>
      </p:sp>
      <p:sp>
        <p:nvSpPr>
          <p:cNvPr id="27" name="Text 25"/>
          <p:cNvSpPr txBox="1"/>
          <p:nvPr/>
        </p:nvSpPr>
        <p:spPr>
          <a:xfrm>
            <a:off x="3977640" y="3182112"/>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Staff</a:t>
            </a:r>
            <a:endParaRPr lang="en-US" sz="1300" dirty="0"/>
          </a:p>
        </p:txBody>
      </p:sp>
      <p:sp>
        <p:nvSpPr>
          <p:cNvPr id="28" name="Text 26"/>
          <p:cNvSpPr txBox="1"/>
          <p:nvPr/>
        </p:nvSpPr>
        <p:spPr>
          <a:xfrm>
            <a:off x="3502152" y="3639312"/>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Office staff. Marks only their own attendance and applies for their own leave.</a:t>
            </a:r>
            <a:endParaRPr lang="en-US" sz="1050" dirty="0"/>
          </a:p>
        </p:txBody>
      </p:sp>
      <p:sp>
        <p:nvSpPr>
          <p:cNvPr id="29" name="Shape 27"/>
          <p:cNvSpPr/>
          <p:nvPr/>
        </p:nvSpPr>
        <p:spPr>
          <a:xfrm>
            <a:off x="6108192" y="2944368"/>
            <a:ext cx="2578608" cy="1371600"/>
          </a:xfrm>
          <a:prstGeom prst="roundRect">
            <a:avLst>
              <a:gd name="adj" fmla="val 6000"/>
            </a:avLst>
          </a:prstGeom>
          <a:solidFill>
            <a:srgbClr val="E8F1FC"/>
          </a:solidFill>
          <a:ln w="9525">
            <a:solidFill>
              <a:srgbClr val="DEE6E1"/>
            </a:solidFill>
            <a:prstDash val="solid"/>
          </a:ln>
        </p:spPr>
      </p:sp>
      <p:sp>
        <p:nvSpPr>
          <p:cNvPr id="30" name="Text 28"/>
          <p:cNvSpPr txBox="1"/>
          <p:nvPr/>
        </p:nvSpPr>
        <p:spPr>
          <a:xfrm>
            <a:off x="6327648" y="3145536"/>
            <a:ext cx="2157984" cy="256032"/>
          </a:xfrm>
          <a:prstGeom prst="rect">
            <a:avLst/>
          </a:prstGeom>
          <a:noFill/>
          <a:ln/>
        </p:spPr>
        <p:txBody>
          <a:bodyPr wrap="square" lIns="0" tIns="0" rIns="0" bIns="0" rtlCol="0" anchor="t"/>
          <a:lstStyle/>
          <a:p>
            <a:pPr algn="l" indent="0" marL="0">
              <a:lnSpc>
                <a:spcPct val="110000"/>
              </a:lnSpc>
              <a:buNone/>
            </a:pPr>
            <a:r>
              <a:rPr lang="en-US" sz="1300" b="1" dirty="0">
                <a:solidFill>
                  <a:srgbClr val="00113D"/>
                </a:solidFill>
                <a:latin typeface="Calibri" pitchFamily="34" charset="0"/>
                <a:ea typeface="Calibri" pitchFamily="34" charset="-122"/>
                <a:cs typeface="Calibri" pitchFamily="34" charset="-120"/>
              </a:rPr>
              <a:t>Foreman</a:t>
            </a:r>
            <a:endParaRPr lang="en-US" sz="1300" dirty="0"/>
          </a:p>
        </p:txBody>
      </p:sp>
      <p:sp>
        <p:nvSpPr>
          <p:cNvPr id="31" name="Text 29"/>
          <p:cNvSpPr txBox="1"/>
          <p:nvPr/>
        </p:nvSpPr>
        <p:spPr>
          <a:xfrm>
            <a:off x="6327648" y="3456432"/>
            <a:ext cx="2157984" cy="74980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Merged into Supervisor — same job at KTC. Logins created as Foreman still work, and now read as Supervisor.</a:t>
            </a:r>
            <a:endParaRPr lang="en-US" sz="1000" dirty="0"/>
          </a:p>
        </p:txBody>
      </p:sp>
      <p:sp>
        <p:nvSpPr>
          <p:cNvPr id="32" name="Text 30"/>
          <p:cNvSpPr txBox="1"/>
          <p:nvPr/>
        </p:nvSpPr>
        <p:spPr>
          <a:xfrm>
            <a:off x="457200" y="4498848"/>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A person cannot see, mark or export data for a project they are not assigned to.</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Worker moves from Project A to B</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Fixed at the gate by the people who can see him, not by head office</a:t>
            </a:r>
            <a:endParaRPr lang="en-US" sz="1300" dirty="0"/>
          </a:p>
        </p:txBody>
      </p:sp>
      <p:sp>
        <p:nvSpPr>
          <p:cNvPr id="4" name="Shape 2"/>
          <p:cNvSpPr/>
          <p:nvPr/>
        </p:nvSpPr>
        <p:spPr>
          <a:xfrm>
            <a:off x="457200" y="1371600"/>
            <a:ext cx="3977640" cy="1481328"/>
          </a:xfrm>
          <a:prstGeom prst="roundRect">
            <a:avLst>
              <a:gd name="adj" fmla="val 5556"/>
            </a:avLst>
          </a:prstGeom>
          <a:solidFill>
            <a:srgbClr val="FDF3F2"/>
          </a:solidFill>
          <a:ln w="9525">
            <a:solidFill>
              <a:srgbClr val="DEE6E1"/>
            </a:solidFill>
            <a:prstDash val="solid"/>
          </a:ln>
        </p:spPr>
      </p:sp>
      <p:sp>
        <p:nvSpPr>
          <p:cNvPr id="5" name="Text 3"/>
          <p:cNvSpPr txBox="1"/>
          <p:nvPr/>
        </p:nvSpPr>
        <p:spPr>
          <a:xfrm>
            <a:off x="694944" y="1536192"/>
            <a:ext cx="3474720" cy="237744"/>
          </a:xfrm>
          <a:prstGeom prst="rect">
            <a:avLst/>
          </a:prstGeom>
          <a:noFill/>
          <a:ln/>
        </p:spPr>
        <p:txBody>
          <a:bodyPr wrap="square" lIns="0" tIns="0" rIns="0" bIns="0" rtlCol="0" anchor="t"/>
          <a:lstStyle/>
          <a:p>
            <a:pPr algn="l" indent="0" marL="0">
              <a:lnSpc>
                <a:spcPct val="110000"/>
              </a:lnSpc>
              <a:buNone/>
            </a:pPr>
            <a:r>
              <a:rPr lang="en-US" sz="1050" b="1" dirty="0">
                <a:solidFill>
                  <a:srgbClr val="B3261E"/>
                </a:solidFill>
                <a:latin typeface="Calibri" pitchFamily="34" charset="0"/>
                <a:ea typeface="Calibri" pitchFamily="34" charset="-122"/>
                <a:cs typeface="Calibri" pitchFamily="34" charset="-120"/>
              </a:rPr>
              <a:t>BEFORE</a:t>
            </a:r>
            <a:endParaRPr lang="en-US" sz="1050" dirty="0"/>
          </a:p>
        </p:txBody>
      </p:sp>
      <p:sp>
        <p:nvSpPr>
          <p:cNvPr id="6" name="Text 4"/>
          <p:cNvSpPr txBox="1"/>
          <p:nvPr/>
        </p:nvSpPr>
        <p:spPr>
          <a:xfrm>
            <a:off x="694944" y="1828800"/>
            <a:ext cx="3520440" cy="9144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man could be marked present at Project B, but his roster still said Project A. He kept counting against the site he had left until head office reassigned him by hand — often weeks later.</a:t>
            </a:r>
            <a:endParaRPr lang="en-US" sz="1100" dirty="0"/>
          </a:p>
        </p:txBody>
      </p:sp>
      <p:sp>
        <p:nvSpPr>
          <p:cNvPr id="7" name="Shape 5"/>
          <p:cNvSpPr/>
          <p:nvPr/>
        </p:nvSpPr>
        <p:spPr>
          <a:xfrm>
            <a:off x="4709160" y="1371600"/>
            <a:ext cx="3977640" cy="1481328"/>
          </a:xfrm>
          <a:prstGeom prst="roundRect">
            <a:avLst>
              <a:gd name="adj" fmla="val 5556"/>
            </a:avLst>
          </a:prstGeom>
          <a:solidFill>
            <a:srgbClr val="E9F2ED"/>
          </a:solidFill>
          <a:ln w="9525">
            <a:solidFill>
              <a:srgbClr val="DEE6E1"/>
            </a:solidFill>
            <a:prstDash val="solid"/>
          </a:ln>
        </p:spPr>
      </p:sp>
      <p:sp>
        <p:nvSpPr>
          <p:cNvPr id="8" name="Text 6"/>
          <p:cNvSpPr txBox="1"/>
          <p:nvPr/>
        </p:nvSpPr>
        <p:spPr>
          <a:xfrm>
            <a:off x="4946904" y="1536192"/>
            <a:ext cx="3474720" cy="237744"/>
          </a:xfrm>
          <a:prstGeom prst="rect">
            <a:avLst/>
          </a:prstGeom>
          <a:noFill/>
          <a:ln/>
        </p:spPr>
        <p:txBody>
          <a:bodyPr wrap="square" lIns="0" tIns="0" rIns="0" bIns="0" rtlCol="0" anchor="t"/>
          <a:lstStyle/>
          <a:p>
            <a:pPr algn="l" indent="0" marL="0">
              <a:lnSpc>
                <a:spcPct val="110000"/>
              </a:lnSpc>
              <a:buNone/>
            </a:pPr>
            <a:r>
              <a:rPr lang="en-US" sz="1050" b="1" dirty="0">
                <a:solidFill>
                  <a:srgbClr val="17875E"/>
                </a:solidFill>
                <a:latin typeface="Calibri" pitchFamily="34" charset="0"/>
                <a:ea typeface="Calibri" pitchFamily="34" charset="-122"/>
                <a:cs typeface="Calibri" pitchFamily="34" charset="-120"/>
              </a:rPr>
              <a:t>NOW</a:t>
            </a:r>
            <a:endParaRPr lang="en-US" sz="1050" dirty="0"/>
          </a:p>
        </p:txBody>
      </p:sp>
      <p:sp>
        <p:nvSpPr>
          <p:cNvPr id="9" name="Text 7"/>
          <p:cNvSpPr txBox="1"/>
          <p:nvPr/>
        </p:nvSpPr>
        <p:spPr>
          <a:xfrm>
            <a:off x="4946904" y="1828800"/>
            <a:ext cx="3520440" cy="9144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foreman who is looking at him raises a transfer. Project B's own timekeeper approves it in one tap and the roster moves across. Head office is not in the loop.</a:t>
            </a:r>
            <a:endParaRPr lang="en-US" sz="1100" dirty="0"/>
          </a:p>
        </p:txBody>
      </p:sp>
      <p:sp>
        <p:nvSpPr>
          <p:cNvPr id="10" name="Shape 8"/>
          <p:cNvSpPr/>
          <p:nvPr/>
        </p:nvSpPr>
        <p:spPr>
          <a:xfrm>
            <a:off x="457200" y="3090672"/>
            <a:ext cx="2578608" cy="960120"/>
          </a:xfrm>
          <a:prstGeom prst="roundRect">
            <a:avLst>
              <a:gd name="adj" fmla="val 8571"/>
            </a:avLst>
          </a:prstGeom>
          <a:solidFill>
            <a:srgbClr val="F5F7F5"/>
          </a:solidFill>
          <a:ln w="9525">
            <a:solidFill>
              <a:srgbClr val="DEE6E1"/>
            </a:solidFill>
            <a:prstDash val="solid"/>
          </a:ln>
        </p:spPr>
      </p:sp>
      <p:sp>
        <p:nvSpPr>
          <p:cNvPr id="11" name="Shape 9"/>
          <p:cNvSpPr/>
          <p:nvPr/>
        </p:nvSpPr>
        <p:spPr>
          <a:xfrm>
            <a:off x="676656" y="3310128"/>
            <a:ext cx="384048" cy="384048"/>
          </a:xfrm>
          <a:prstGeom prst="ellipse">
            <a:avLst/>
          </a:prstGeom>
          <a:solidFill>
            <a:srgbClr val="0B66D6"/>
          </a:solidFill>
          <a:ln w="12700">
            <a:solidFill>
              <a:srgbClr val="0B66D6"/>
            </a:solidFill>
            <a:prstDash val="solid"/>
          </a:ln>
        </p:spPr>
      </p:sp>
      <p:sp>
        <p:nvSpPr>
          <p:cNvPr id="12" name="Text 10"/>
          <p:cNvSpPr txBox="1"/>
          <p:nvPr/>
        </p:nvSpPr>
        <p:spPr>
          <a:xfrm>
            <a:off x="676656" y="33101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3" name="Text 11"/>
          <p:cNvSpPr txBox="1"/>
          <p:nvPr/>
        </p:nvSpPr>
        <p:spPr>
          <a:xfrm>
            <a:off x="1170432" y="3291840"/>
            <a:ext cx="1700784"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Foreman</a:t>
            </a:r>
            <a:endParaRPr lang="en-US" sz="1300" dirty="0"/>
          </a:p>
        </p:txBody>
      </p:sp>
      <p:sp>
        <p:nvSpPr>
          <p:cNvPr id="14" name="Text 12"/>
          <p:cNvSpPr txBox="1"/>
          <p:nvPr/>
        </p:nvSpPr>
        <p:spPr>
          <a:xfrm>
            <a:off x="1170432" y="3547872"/>
            <a:ext cx="1700784" cy="2560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raises the transfer</a:t>
            </a:r>
            <a:endParaRPr lang="en-US" sz="1050" dirty="0"/>
          </a:p>
        </p:txBody>
      </p:sp>
      <p:sp>
        <p:nvSpPr>
          <p:cNvPr id="15" name="Text 13"/>
          <p:cNvSpPr txBox="1"/>
          <p:nvPr/>
        </p:nvSpPr>
        <p:spPr>
          <a:xfrm>
            <a:off x="3035808" y="3319272"/>
            <a:ext cx="237744" cy="457200"/>
          </a:xfrm>
          <a:prstGeom prst="rect">
            <a:avLst/>
          </a:prstGeom>
          <a:noFill/>
          <a:ln/>
        </p:spPr>
        <p:txBody>
          <a:bodyPr wrap="square" lIns="0" tIns="0" rIns="0" bIns="0" rtlCol="0" anchor="ctr"/>
          <a:lstStyle/>
          <a:p>
            <a:pPr algn="ctr" indent="0" marL="0">
              <a:buNone/>
            </a:pPr>
            <a:r>
              <a:rPr lang="en-US" sz="2400" b="1" dirty="0">
                <a:solidFill>
                  <a:srgbClr val="DEE6E1"/>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3282696" y="3090672"/>
            <a:ext cx="2578608" cy="960120"/>
          </a:xfrm>
          <a:prstGeom prst="roundRect">
            <a:avLst>
              <a:gd name="adj" fmla="val 8571"/>
            </a:avLst>
          </a:prstGeom>
          <a:solidFill>
            <a:srgbClr val="F5F7F5"/>
          </a:solidFill>
          <a:ln w="9525">
            <a:solidFill>
              <a:srgbClr val="DEE6E1"/>
            </a:solidFill>
            <a:prstDash val="solid"/>
          </a:ln>
        </p:spPr>
      </p:sp>
      <p:sp>
        <p:nvSpPr>
          <p:cNvPr id="17" name="Shape 15"/>
          <p:cNvSpPr/>
          <p:nvPr/>
        </p:nvSpPr>
        <p:spPr>
          <a:xfrm>
            <a:off x="3502152" y="3310128"/>
            <a:ext cx="384048" cy="384048"/>
          </a:xfrm>
          <a:prstGeom prst="ellipse">
            <a:avLst/>
          </a:prstGeom>
          <a:solidFill>
            <a:srgbClr val="00113D"/>
          </a:solidFill>
          <a:ln w="12700">
            <a:solidFill>
              <a:srgbClr val="00113D"/>
            </a:solidFill>
            <a:prstDash val="solid"/>
          </a:ln>
        </p:spPr>
      </p:sp>
      <p:sp>
        <p:nvSpPr>
          <p:cNvPr id="18" name="Text 16"/>
          <p:cNvSpPr txBox="1"/>
          <p:nvPr/>
        </p:nvSpPr>
        <p:spPr>
          <a:xfrm>
            <a:off x="3502152" y="33101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3995928" y="3291840"/>
            <a:ext cx="1700784"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Timekeeper</a:t>
            </a:r>
            <a:endParaRPr lang="en-US" sz="1300" dirty="0"/>
          </a:p>
        </p:txBody>
      </p:sp>
      <p:sp>
        <p:nvSpPr>
          <p:cNvPr id="20" name="Text 18"/>
          <p:cNvSpPr txBox="1"/>
          <p:nvPr/>
        </p:nvSpPr>
        <p:spPr>
          <a:xfrm>
            <a:off x="3995928" y="3547872"/>
            <a:ext cx="1700784" cy="2560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approves it</a:t>
            </a:r>
            <a:endParaRPr lang="en-US" sz="1050" dirty="0"/>
          </a:p>
        </p:txBody>
      </p:sp>
      <p:sp>
        <p:nvSpPr>
          <p:cNvPr id="21" name="Text 19"/>
          <p:cNvSpPr txBox="1"/>
          <p:nvPr/>
        </p:nvSpPr>
        <p:spPr>
          <a:xfrm>
            <a:off x="5861304" y="3319272"/>
            <a:ext cx="237744" cy="457200"/>
          </a:xfrm>
          <a:prstGeom prst="rect">
            <a:avLst/>
          </a:prstGeom>
          <a:noFill/>
          <a:ln/>
        </p:spPr>
        <p:txBody>
          <a:bodyPr wrap="square" lIns="0" tIns="0" rIns="0" bIns="0" rtlCol="0" anchor="ctr"/>
          <a:lstStyle/>
          <a:p>
            <a:pPr algn="ctr" indent="0" marL="0">
              <a:buNone/>
            </a:pPr>
            <a:r>
              <a:rPr lang="en-US" sz="2400" b="1" dirty="0">
                <a:solidFill>
                  <a:srgbClr val="DEE6E1"/>
                </a:solidFill>
                <a:latin typeface="Calibri" pitchFamily="34" charset="0"/>
                <a:ea typeface="Calibri" pitchFamily="34" charset="-122"/>
                <a:cs typeface="Calibri" pitchFamily="34" charset="-120"/>
              </a:rPr>
              <a:t>›</a:t>
            </a:r>
            <a:endParaRPr lang="en-US" sz="2400" dirty="0"/>
          </a:p>
        </p:txBody>
      </p:sp>
      <p:sp>
        <p:nvSpPr>
          <p:cNvPr id="22" name="Shape 20"/>
          <p:cNvSpPr/>
          <p:nvPr/>
        </p:nvSpPr>
        <p:spPr>
          <a:xfrm>
            <a:off x="6108192" y="3090672"/>
            <a:ext cx="2578608" cy="960120"/>
          </a:xfrm>
          <a:prstGeom prst="roundRect">
            <a:avLst>
              <a:gd name="adj" fmla="val 8571"/>
            </a:avLst>
          </a:prstGeom>
          <a:solidFill>
            <a:srgbClr val="F5F7F5"/>
          </a:solidFill>
          <a:ln w="9525">
            <a:solidFill>
              <a:srgbClr val="DEE6E1"/>
            </a:solidFill>
            <a:prstDash val="solid"/>
          </a:ln>
        </p:spPr>
      </p:sp>
      <p:sp>
        <p:nvSpPr>
          <p:cNvPr id="23" name="Shape 21"/>
          <p:cNvSpPr/>
          <p:nvPr/>
        </p:nvSpPr>
        <p:spPr>
          <a:xfrm>
            <a:off x="6327648" y="3310128"/>
            <a:ext cx="384048" cy="384048"/>
          </a:xfrm>
          <a:prstGeom prst="ellipse">
            <a:avLst/>
          </a:prstGeom>
          <a:solidFill>
            <a:srgbClr val="17875E"/>
          </a:solidFill>
          <a:ln w="12700">
            <a:solidFill>
              <a:srgbClr val="17875E"/>
            </a:solidFill>
            <a:prstDash val="solid"/>
          </a:ln>
        </p:spPr>
      </p:sp>
      <p:sp>
        <p:nvSpPr>
          <p:cNvPr id="24" name="Text 22"/>
          <p:cNvSpPr txBox="1"/>
          <p:nvPr/>
        </p:nvSpPr>
        <p:spPr>
          <a:xfrm>
            <a:off x="6327648" y="33101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5" name="Text 23"/>
          <p:cNvSpPr txBox="1"/>
          <p:nvPr/>
        </p:nvSpPr>
        <p:spPr>
          <a:xfrm>
            <a:off x="6821424" y="3291840"/>
            <a:ext cx="1700784"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Roster</a:t>
            </a:r>
            <a:endParaRPr lang="en-US" sz="1300" dirty="0"/>
          </a:p>
        </p:txBody>
      </p:sp>
      <p:sp>
        <p:nvSpPr>
          <p:cNvPr id="26" name="Text 24"/>
          <p:cNvSpPr txBox="1"/>
          <p:nvPr/>
        </p:nvSpPr>
        <p:spPr>
          <a:xfrm>
            <a:off x="6821424" y="3547872"/>
            <a:ext cx="1700784" cy="2560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moves to Project B</a:t>
            </a:r>
            <a:endParaRPr lang="en-US" sz="1050" dirty="0"/>
          </a:p>
        </p:txBody>
      </p:sp>
      <p:sp>
        <p:nvSpPr>
          <p:cNvPr id="27" name="Text 25"/>
          <p:cNvSpPr txBox="1"/>
          <p:nvPr/>
        </p:nvSpPr>
        <p:spPr>
          <a:xfrm>
            <a:off x="457200" y="4206240"/>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A foreman can only pull a worker towards a project he is assigned to, and cannot approve his own request.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Month-end in one tap</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Every report below is generated as a single Excel workbook, ready to send</a:t>
            </a:r>
            <a:endParaRPr lang="en-US" sz="1300" dirty="0"/>
          </a:p>
        </p:txBody>
      </p:sp>
      <p:sp>
        <p:nvSpPr>
          <p:cNvPr id="4" name="Shape 2"/>
          <p:cNvSpPr/>
          <p:nvPr/>
        </p:nvSpPr>
        <p:spPr>
          <a:xfrm>
            <a:off x="457200" y="1444752"/>
            <a:ext cx="310896" cy="310896"/>
          </a:xfrm>
          <a:prstGeom prst="ellipse">
            <a:avLst/>
          </a:prstGeom>
          <a:solidFill>
            <a:srgbClr val="0B66D6"/>
          </a:solidFill>
          <a:ln w="12700">
            <a:solidFill>
              <a:srgbClr val="0B66D6"/>
            </a:solidFill>
            <a:prstDash val="solid"/>
          </a:ln>
        </p:spPr>
      </p:sp>
      <p:sp>
        <p:nvSpPr>
          <p:cNvPr id="5" name="Text 3"/>
          <p:cNvSpPr txBox="1"/>
          <p:nvPr/>
        </p:nvSpPr>
        <p:spPr>
          <a:xfrm>
            <a:off x="457200" y="14447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14400" y="137160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Attendance</a:t>
            </a:r>
            <a:endParaRPr lang="en-US" sz="1300" dirty="0"/>
          </a:p>
        </p:txBody>
      </p:sp>
      <p:sp>
        <p:nvSpPr>
          <p:cNvPr id="7" name="Text 5"/>
          <p:cNvSpPr txBox="1"/>
          <p:nvPr/>
        </p:nvSpPr>
        <p:spPr>
          <a:xfrm>
            <a:off x="914400" y="164592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One sheet per project — every IN and OUT with time and shift</a:t>
            </a:r>
            <a:endParaRPr lang="en-US" sz="1050" dirty="0"/>
          </a:p>
        </p:txBody>
      </p:sp>
      <p:sp>
        <p:nvSpPr>
          <p:cNvPr id="8" name="Shape 6"/>
          <p:cNvSpPr/>
          <p:nvPr/>
        </p:nvSpPr>
        <p:spPr>
          <a:xfrm>
            <a:off x="4709160" y="1444752"/>
            <a:ext cx="310896" cy="310896"/>
          </a:xfrm>
          <a:prstGeom prst="ellipse">
            <a:avLst/>
          </a:prstGeom>
          <a:solidFill>
            <a:srgbClr val="00113D"/>
          </a:solidFill>
          <a:ln w="12700">
            <a:solidFill>
              <a:srgbClr val="00113D"/>
            </a:solidFill>
            <a:prstDash val="solid"/>
          </a:ln>
        </p:spPr>
      </p:sp>
      <p:sp>
        <p:nvSpPr>
          <p:cNvPr id="9" name="Text 7"/>
          <p:cNvSpPr txBox="1"/>
          <p:nvPr/>
        </p:nvSpPr>
        <p:spPr>
          <a:xfrm>
            <a:off x="4709160" y="14447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5166360" y="137160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Project Summary</a:t>
            </a:r>
            <a:endParaRPr lang="en-US" sz="1300" dirty="0"/>
          </a:p>
        </p:txBody>
      </p:sp>
      <p:sp>
        <p:nvSpPr>
          <p:cNvPr id="11" name="Text 9"/>
          <p:cNvSpPr txBox="1"/>
          <p:nvPr/>
        </p:nvSpPr>
        <p:spPr>
          <a:xfrm>
            <a:off x="5166360" y="164592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Headcount and attendance by project, side by side</a:t>
            </a:r>
            <a:endParaRPr lang="en-US" sz="1050" dirty="0"/>
          </a:p>
        </p:txBody>
      </p:sp>
      <p:sp>
        <p:nvSpPr>
          <p:cNvPr id="12" name="Shape 10"/>
          <p:cNvSpPr/>
          <p:nvPr/>
        </p:nvSpPr>
        <p:spPr>
          <a:xfrm>
            <a:off x="457200" y="2404872"/>
            <a:ext cx="310896" cy="310896"/>
          </a:xfrm>
          <a:prstGeom prst="ellipse">
            <a:avLst/>
          </a:prstGeom>
          <a:solidFill>
            <a:srgbClr val="0B66D6"/>
          </a:solidFill>
          <a:ln w="12700">
            <a:solidFill>
              <a:srgbClr val="0B66D6"/>
            </a:solidFill>
            <a:prstDash val="solid"/>
          </a:ln>
        </p:spPr>
      </p:sp>
      <p:sp>
        <p:nvSpPr>
          <p:cNvPr id="13" name="Text 11"/>
          <p:cNvSpPr txBox="1"/>
          <p:nvPr/>
        </p:nvSpPr>
        <p:spPr>
          <a:xfrm>
            <a:off x="457200" y="2404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914400" y="233172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Trade-wise Summary</a:t>
            </a:r>
            <a:endParaRPr lang="en-US" sz="1300" dirty="0"/>
          </a:p>
        </p:txBody>
      </p:sp>
      <p:sp>
        <p:nvSpPr>
          <p:cNvPr id="15" name="Text 13"/>
          <p:cNvSpPr txBox="1"/>
          <p:nvPr/>
        </p:nvSpPr>
        <p:spPr>
          <a:xfrm>
            <a:off x="914400" y="260604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Manpower by trade, per project or across all projects</a:t>
            </a:r>
            <a:endParaRPr lang="en-US" sz="1050" dirty="0"/>
          </a:p>
        </p:txBody>
      </p:sp>
      <p:sp>
        <p:nvSpPr>
          <p:cNvPr id="16" name="Shape 14"/>
          <p:cNvSpPr/>
          <p:nvPr/>
        </p:nvSpPr>
        <p:spPr>
          <a:xfrm>
            <a:off x="4709160" y="2404872"/>
            <a:ext cx="310896" cy="310896"/>
          </a:xfrm>
          <a:prstGeom prst="ellipse">
            <a:avLst/>
          </a:prstGeom>
          <a:solidFill>
            <a:srgbClr val="00113D"/>
          </a:solidFill>
          <a:ln w="12700">
            <a:solidFill>
              <a:srgbClr val="00113D"/>
            </a:solidFill>
            <a:prstDash val="solid"/>
          </a:ln>
        </p:spPr>
      </p:sp>
      <p:sp>
        <p:nvSpPr>
          <p:cNvPr id="17" name="Text 15"/>
          <p:cNvSpPr txBox="1"/>
          <p:nvPr/>
        </p:nvSpPr>
        <p:spPr>
          <a:xfrm>
            <a:off x="4709160" y="2404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5166360" y="233172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Monthly Hours</a:t>
            </a:r>
            <a:endParaRPr lang="en-US" sz="1300" dirty="0"/>
          </a:p>
        </p:txBody>
      </p:sp>
      <p:sp>
        <p:nvSpPr>
          <p:cNvPr id="19" name="Text 17"/>
          <p:cNvSpPr txBox="1"/>
          <p:nvPr/>
        </p:nvSpPr>
        <p:spPr>
          <a:xfrm>
            <a:off x="5166360" y="260604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Hours worked per worker across the month</a:t>
            </a:r>
            <a:endParaRPr lang="en-US" sz="1050" dirty="0"/>
          </a:p>
        </p:txBody>
      </p:sp>
      <p:sp>
        <p:nvSpPr>
          <p:cNvPr id="20" name="Shape 18"/>
          <p:cNvSpPr/>
          <p:nvPr/>
        </p:nvSpPr>
        <p:spPr>
          <a:xfrm>
            <a:off x="457200" y="3364992"/>
            <a:ext cx="310896" cy="310896"/>
          </a:xfrm>
          <a:prstGeom prst="ellipse">
            <a:avLst/>
          </a:prstGeom>
          <a:solidFill>
            <a:srgbClr val="0B66D6"/>
          </a:solidFill>
          <a:ln w="12700">
            <a:solidFill>
              <a:srgbClr val="0B66D6"/>
            </a:solidFill>
            <a:prstDash val="solid"/>
          </a:ln>
        </p:spPr>
      </p:sp>
      <p:sp>
        <p:nvSpPr>
          <p:cNvPr id="21" name="Text 19"/>
          <p:cNvSpPr txBox="1"/>
          <p:nvPr/>
        </p:nvSpPr>
        <p:spPr>
          <a:xfrm>
            <a:off x="457200" y="33649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914400" y="329184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Daily Manpower</a:t>
            </a:r>
            <a:endParaRPr lang="en-US" sz="1300" dirty="0"/>
          </a:p>
        </p:txBody>
      </p:sp>
      <p:sp>
        <p:nvSpPr>
          <p:cNvPr id="23" name="Text 21"/>
          <p:cNvSpPr txBox="1"/>
          <p:nvPr/>
        </p:nvSpPr>
        <p:spPr>
          <a:xfrm>
            <a:off x="914400" y="356616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Present, absent, on leave and late, by project and trade</a:t>
            </a:r>
            <a:endParaRPr lang="en-US" sz="1050" dirty="0"/>
          </a:p>
        </p:txBody>
      </p:sp>
      <p:sp>
        <p:nvSpPr>
          <p:cNvPr id="24" name="Shape 22"/>
          <p:cNvSpPr/>
          <p:nvPr/>
        </p:nvSpPr>
        <p:spPr>
          <a:xfrm>
            <a:off x="4709160" y="3364992"/>
            <a:ext cx="310896" cy="310896"/>
          </a:xfrm>
          <a:prstGeom prst="ellipse">
            <a:avLst/>
          </a:prstGeom>
          <a:solidFill>
            <a:srgbClr val="00113D"/>
          </a:solidFill>
          <a:ln w="12700">
            <a:solidFill>
              <a:srgbClr val="00113D"/>
            </a:solidFill>
            <a:prstDash val="solid"/>
          </a:ln>
        </p:spPr>
      </p:sp>
      <p:sp>
        <p:nvSpPr>
          <p:cNvPr id="25" name="Text 23"/>
          <p:cNvSpPr txBox="1"/>
          <p:nvPr/>
        </p:nvSpPr>
        <p:spPr>
          <a:xfrm>
            <a:off x="4709160" y="33649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5166360" y="329184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Absent Report</a:t>
            </a:r>
            <a:endParaRPr lang="en-US" sz="1300" dirty="0"/>
          </a:p>
        </p:txBody>
      </p:sp>
      <p:sp>
        <p:nvSpPr>
          <p:cNvPr id="27" name="Text 25"/>
          <p:cNvSpPr txBox="1"/>
          <p:nvPr/>
        </p:nvSpPr>
        <p:spPr>
          <a:xfrm>
            <a:off x="5166360" y="356616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Who was absent, with approved leave and public holidays excluded</a:t>
            </a:r>
            <a:endParaRPr lang="en-US" sz="1050" dirty="0"/>
          </a:p>
        </p:txBody>
      </p:sp>
      <p:sp>
        <p:nvSpPr>
          <p:cNvPr id="28" name="Shape 26"/>
          <p:cNvSpPr/>
          <p:nvPr/>
        </p:nvSpPr>
        <p:spPr>
          <a:xfrm>
            <a:off x="457200" y="4315968"/>
            <a:ext cx="8229600" cy="603504"/>
          </a:xfrm>
          <a:prstGeom prst="roundRect">
            <a:avLst>
              <a:gd name="adj" fmla="val 13636"/>
            </a:avLst>
          </a:prstGeom>
          <a:solidFill>
            <a:srgbClr val="E8F1FC"/>
          </a:solidFill>
          <a:ln w="9525">
            <a:solidFill>
              <a:srgbClr val="DEE6E1"/>
            </a:solidFill>
            <a:prstDash val="solid"/>
          </a:ln>
        </p:spPr>
      </p:sp>
      <p:sp>
        <p:nvSpPr>
          <p:cNvPr id="29" name="Text 27"/>
          <p:cNvSpPr txBox="1"/>
          <p:nvPr/>
        </p:nvSpPr>
        <p:spPr>
          <a:xfrm>
            <a:off x="713232" y="4462272"/>
            <a:ext cx="7717536" cy="329184"/>
          </a:xfrm>
          <a:prstGeom prst="rect">
            <a:avLst/>
          </a:prstGeom>
          <a:noFill/>
          <a:ln/>
        </p:spPr>
        <p:txBody>
          <a:bodyPr wrap="square" lIns="0" tIns="0" rIns="0" bIns="0" rtlCol="0" anchor="t"/>
          <a:lstStyle/>
          <a:p>
            <a:pPr algn="l" indent="0" marL="0">
              <a:lnSpc>
                <a:spcPct val="110000"/>
              </a:lnSpc>
              <a:buNone/>
            </a:pPr>
            <a:r>
              <a:rPr lang="en-US" sz="1100" b="1" dirty="0">
                <a:solidFill>
                  <a:srgbClr val="00113D"/>
                </a:solidFill>
                <a:latin typeface="Calibri" pitchFamily="34" charset="0"/>
                <a:ea typeface="Calibri" pitchFamily="34" charset="-122"/>
                <a:cs typeface="Calibri" pitchFamily="34" charset="-120"/>
              </a:rPr>
              <a:t>Reports respect the same access rules — a timekeeper's export contains their projects only, never the whole company.</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The whole workforce on one screen</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Live figures for any date and any project, without waiting for a report</a:t>
            </a:r>
            <a:endParaRPr lang="en-US" sz="1300" dirty="0"/>
          </a:p>
        </p:txBody>
      </p:sp>
      <p:sp>
        <p:nvSpPr>
          <p:cNvPr id="4" name="Shape 2"/>
          <p:cNvSpPr/>
          <p:nvPr/>
        </p:nvSpPr>
        <p:spPr>
          <a:xfrm>
            <a:off x="457200" y="1389888"/>
            <a:ext cx="1280160" cy="786384"/>
          </a:xfrm>
          <a:prstGeom prst="roundRect">
            <a:avLst>
              <a:gd name="adj" fmla="val 10465"/>
            </a:avLst>
          </a:prstGeom>
          <a:solidFill>
            <a:srgbClr val="F5F7F5"/>
          </a:solidFill>
          <a:ln w="9525">
            <a:solidFill>
              <a:srgbClr val="DEE6E1"/>
            </a:solidFill>
            <a:prstDash val="solid"/>
          </a:ln>
        </p:spPr>
      </p:sp>
      <p:sp>
        <p:nvSpPr>
          <p:cNvPr id="5" name="Shape 3"/>
          <p:cNvSpPr/>
          <p:nvPr/>
        </p:nvSpPr>
        <p:spPr>
          <a:xfrm>
            <a:off x="585216" y="1536192"/>
            <a:ext cx="146304" cy="146304"/>
          </a:xfrm>
          <a:prstGeom prst="ellipse">
            <a:avLst/>
          </a:prstGeom>
          <a:solidFill>
            <a:srgbClr val="17875E"/>
          </a:solidFill>
          <a:ln w="12700">
            <a:solidFill>
              <a:srgbClr val="17875E"/>
            </a:solidFill>
            <a:prstDash val="solid"/>
          </a:ln>
        </p:spPr>
      </p:sp>
      <p:sp>
        <p:nvSpPr>
          <p:cNvPr id="6" name="Text 4"/>
          <p:cNvSpPr txBox="1"/>
          <p:nvPr/>
        </p:nvSpPr>
        <p:spPr>
          <a:xfrm>
            <a:off x="585216"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Present</a:t>
            </a:r>
            <a:endParaRPr lang="en-US" sz="950" dirty="0"/>
          </a:p>
        </p:txBody>
      </p:sp>
      <p:sp>
        <p:nvSpPr>
          <p:cNvPr id="7" name="Shape 5"/>
          <p:cNvSpPr/>
          <p:nvPr/>
        </p:nvSpPr>
        <p:spPr>
          <a:xfrm>
            <a:off x="1847088" y="1389888"/>
            <a:ext cx="1280160" cy="786384"/>
          </a:xfrm>
          <a:prstGeom prst="roundRect">
            <a:avLst>
              <a:gd name="adj" fmla="val 10465"/>
            </a:avLst>
          </a:prstGeom>
          <a:solidFill>
            <a:srgbClr val="F5F7F5"/>
          </a:solidFill>
          <a:ln w="9525">
            <a:solidFill>
              <a:srgbClr val="DEE6E1"/>
            </a:solidFill>
            <a:prstDash val="solid"/>
          </a:ln>
        </p:spPr>
      </p:sp>
      <p:sp>
        <p:nvSpPr>
          <p:cNvPr id="8" name="Shape 6"/>
          <p:cNvSpPr/>
          <p:nvPr/>
        </p:nvSpPr>
        <p:spPr>
          <a:xfrm>
            <a:off x="1975104" y="1536192"/>
            <a:ext cx="146304" cy="146304"/>
          </a:xfrm>
          <a:prstGeom prst="ellipse">
            <a:avLst/>
          </a:prstGeom>
          <a:solidFill>
            <a:srgbClr val="B3261E"/>
          </a:solidFill>
          <a:ln w="12700">
            <a:solidFill>
              <a:srgbClr val="B3261E"/>
            </a:solidFill>
            <a:prstDash val="solid"/>
          </a:ln>
        </p:spPr>
      </p:sp>
      <p:sp>
        <p:nvSpPr>
          <p:cNvPr id="9" name="Text 7"/>
          <p:cNvSpPr txBox="1"/>
          <p:nvPr/>
        </p:nvSpPr>
        <p:spPr>
          <a:xfrm>
            <a:off x="1975104"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Absent</a:t>
            </a:r>
            <a:endParaRPr lang="en-US" sz="950" dirty="0"/>
          </a:p>
        </p:txBody>
      </p:sp>
      <p:sp>
        <p:nvSpPr>
          <p:cNvPr id="10" name="Shape 8"/>
          <p:cNvSpPr/>
          <p:nvPr/>
        </p:nvSpPr>
        <p:spPr>
          <a:xfrm>
            <a:off x="3236976" y="1389888"/>
            <a:ext cx="1280160" cy="786384"/>
          </a:xfrm>
          <a:prstGeom prst="roundRect">
            <a:avLst>
              <a:gd name="adj" fmla="val 10465"/>
            </a:avLst>
          </a:prstGeom>
          <a:solidFill>
            <a:srgbClr val="F5F7F5"/>
          </a:solidFill>
          <a:ln w="9525">
            <a:solidFill>
              <a:srgbClr val="DEE6E1"/>
            </a:solidFill>
            <a:prstDash val="solid"/>
          </a:ln>
        </p:spPr>
      </p:sp>
      <p:sp>
        <p:nvSpPr>
          <p:cNvPr id="11" name="Shape 9"/>
          <p:cNvSpPr/>
          <p:nvPr/>
        </p:nvSpPr>
        <p:spPr>
          <a:xfrm>
            <a:off x="3364992" y="1536192"/>
            <a:ext cx="146304" cy="146304"/>
          </a:xfrm>
          <a:prstGeom prst="ellipse">
            <a:avLst/>
          </a:prstGeom>
          <a:solidFill>
            <a:srgbClr val="0378E2"/>
          </a:solidFill>
          <a:ln w="12700">
            <a:solidFill>
              <a:srgbClr val="0378E2"/>
            </a:solidFill>
            <a:prstDash val="solid"/>
          </a:ln>
        </p:spPr>
      </p:sp>
      <p:sp>
        <p:nvSpPr>
          <p:cNvPr id="12" name="Text 10"/>
          <p:cNvSpPr txBox="1"/>
          <p:nvPr/>
        </p:nvSpPr>
        <p:spPr>
          <a:xfrm>
            <a:off x="3364992"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On Leave</a:t>
            </a:r>
            <a:endParaRPr lang="en-US" sz="950" dirty="0"/>
          </a:p>
        </p:txBody>
      </p:sp>
      <p:sp>
        <p:nvSpPr>
          <p:cNvPr id="13" name="Shape 11"/>
          <p:cNvSpPr/>
          <p:nvPr/>
        </p:nvSpPr>
        <p:spPr>
          <a:xfrm>
            <a:off x="4626864" y="1389888"/>
            <a:ext cx="1280160" cy="786384"/>
          </a:xfrm>
          <a:prstGeom prst="roundRect">
            <a:avLst>
              <a:gd name="adj" fmla="val 10465"/>
            </a:avLst>
          </a:prstGeom>
          <a:solidFill>
            <a:srgbClr val="F5F7F5"/>
          </a:solidFill>
          <a:ln w="9525">
            <a:solidFill>
              <a:srgbClr val="DEE6E1"/>
            </a:solidFill>
            <a:prstDash val="solid"/>
          </a:ln>
        </p:spPr>
      </p:sp>
      <p:sp>
        <p:nvSpPr>
          <p:cNvPr id="14" name="Shape 12"/>
          <p:cNvSpPr/>
          <p:nvPr/>
        </p:nvSpPr>
        <p:spPr>
          <a:xfrm>
            <a:off x="4754880" y="1536192"/>
            <a:ext cx="146304" cy="146304"/>
          </a:xfrm>
          <a:prstGeom prst="ellipse">
            <a:avLst/>
          </a:prstGeom>
          <a:solidFill>
            <a:srgbClr val="B8842E"/>
          </a:solidFill>
          <a:ln w="12700">
            <a:solidFill>
              <a:srgbClr val="B8842E"/>
            </a:solidFill>
            <a:prstDash val="solid"/>
          </a:ln>
        </p:spPr>
      </p:sp>
      <p:sp>
        <p:nvSpPr>
          <p:cNvPr id="15" name="Text 13"/>
          <p:cNvSpPr txBox="1"/>
          <p:nvPr/>
        </p:nvSpPr>
        <p:spPr>
          <a:xfrm>
            <a:off x="4754880"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Late</a:t>
            </a:r>
            <a:endParaRPr lang="en-US" sz="950" dirty="0"/>
          </a:p>
        </p:txBody>
      </p:sp>
      <p:sp>
        <p:nvSpPr>
          <p:cNvPr id="16" name="Shape 14"/>
          <p:cNvSpPr/>
          <p:nvPr/>
        </p:nvSpPr>
        <p:spPr>
          <a:xfrm>
            <a:off x="6016752" y="1389888"/>
            <a:ext cx="1280160" cy="786384"/>
          </a:xfrm>
          <a:prstGeom prst="roundRect">
            <a:avLst>
              <a:gd name="adj" fmla="val 10465"/>
            </a:avLst>
          </a:prstGeom>
          <a:solidFill>
            <a:srgbClr val="F5F7F5"/>
          </a:solidFill>
          <a:ln w="9525">
            <a:solidFill>
              <a:srgbClr val="DEE6E1"/>
            </a:solidFill>
            <a:prstDash val="solid"/>
          </a:ln>
        </p:spPr>
      </p:sp>
      <p:sp>
        <p:nvSpPr>
          <p:cNvPr id="17" name="Shape 15"/>
          <p:cNvSpPr/>
          <p:nvPr/>
        </p:nvSpPr>
        <p:spPr>
          <a:xfrm>
            <a:off x="6144768" y="1536192"/>
            <a:ext cx="146304" cy="146304"/>
          </a:xfrm>
          <a:prstGeom prst="ellipse">
            <a:avLst/>
          </a:prstGeom>
          <a:solidFill>
            <a:srgbClr val="5B6B63"/>
          </a:solidFill>
          <a:ln w="12700">
            <a:solidFill>
              <a:srgbClr val="5B6B63"/>
            </a:solidFill>
            <a:prstDash val="solid"/>
          </a:ln>
        </p:spPr>
      </p:sp>
      <p:sp>
        <p:nvSpPr>
          <p:cNvPr id="18" name="Text 16"/>
          <p:cNvSpPr txBox="1"/>
          <p:nvPr/>
        </p:nvSpPr>
        <p:spPr>
          <a:xfrm>
            <a:off x="6144768"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Checked Out</a:t>
            </a:r>
            <a:endParaRPr lang="en-US" sz="950" dirty="0"/>
          </a:p>
        </p:txBody>
      </p:sp>
      <p:sp>
        <p:nvSpPr>
          <p:cNvPr id="19" name="Shape 17"/>
          <p:cNvSpPr/>
          <p:nvPr/>
        </p:nvSpPr>
        <p:spPr>
          <a:xfrm>
            <a:off x="7406640" y="1389888"/>
            <a:ext cx="1280160" cy="786384"/>
          </a:xfrm>
          <a:prstGeom prst="roundRect">
            <a:avLst>
              <a:gd name="adj" fmla="val 10465"/>
            </a:avLst>
          </a:prstGeom>
          <a:solidFill>
            <a:srgbClr val="F5F7F5"/>
          </a:solidFill>
          <a:ln w="9525">
            <a:solidFill>
              <a:srgbClr val="DEE6E1"/>
            </a:solidFill>
            <a:prstDash val="solid"/>
          </a:ln>
        </p:spPr>
      </p:sp>
      <p:sp>
        <p:nvSpPr>
          <p:cNvPr id="20" name="Shape 18"/>
          <p:cNvSpPr/>
          <p:nvPr/>
        </p:nvSpPr>
        <p:spPr>
          <a:xfrm>
            <a:off x="7534656" y="1536192"/>
            <a:ext cx="146304" cy="146304"/>
          </a:xfrm>
          <a:prstGeom prst="ellipse">
            <a:avLst/>
          </a:prstGeom>
          <a:solidFill>
            <a:srgbClr val="B3261E"/>
          </a:solidFill>
          <a:ln w="12700">
            <a:solidFill>
              <a:srgbClr val="B3261E"/>
            </a:solidFill>
            <a:prstDash val="solid"/>
          </a:ln>
        </p:spPr>
      </p:sp>
      <p:sp>
        <p:nvSpPr>
          <p:cNvPr id="21" name="Text 19"/>
          <p:cNvSpPr txBox="1"/>
          <p:nvPr/>
        </p:nvSpPr>
        <p:spPr>
          <a:xfrm>
            <a:off x="7534656"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Blocked</a:t>
            </a:r>
            <a:endParaRPr lang="en-US" sz="950" dirty="0"/>
          </a:p>
        </p:txBody>
      </p:sp>
      <p:sp>
        <p:nvSpPr>
          <p:cNvPr id="22" name="Shape 20"/>
          <p:cNvSpPr/>
          <p:nvPr/>
        </p:nvSpPr>
        <p:spPr>
          <a:xfrm>
            <a:off x="457200" y="2286000"/>
            <a:ext cx="1280160" cy="786384"/>
          </a:xfrm>
          <a:prstGeom prst="roundRect">
            <a:avLst>
              <a:gd name="adj" fmla="val 10465"/>
            </a:avLst>
          </a:prstGeom>
          <a:solidFill>
            <a:srgbClr val="F5F7F5"/>
          </a:solidFill>
          <a:ln w="9525">
            <a:solidFill>
              <a:srgbClr val="DEE6E1"/>
            </a:solidFill>
            <a:prstDash val="solid"/>
          </a:ln>
        </p:spPr>
      </p:sp>
      <p:sp>
        <p:nvSpPr>
          <p:cNvPr id="23" name="Shape 21"/>
          <p:cNvSpPr/>
          <p:nvPr/>
        </p:nvSpPr>
        <p:spPr>
          <a:xfrm>
            <a:off x="585216" y="2432304"/>
            <a:ext cx="146304" cy="146304"/>
          </a:xfrm>
          <a:prstGeom prst="ellipse">
            <a:avLst/>
          </a:prstGeom>
          <a:solidFill>
            <a:srgbClr val="00113D"/>
          </a:solidFill>
          <a:ln w="12700">
            <a:solidFill>
              <a:srgbClr val="00113D"/>
            </a:solidFill>
            <a:prstDash val="solid"/>
          </a:ln>
        </p:spPr>
      </p:sp>
      <p:sp>
        <p:nvSpPr>
          <p:cNvPr id="24" name="Text 22"/>
          <p:cNvSpPr txBox="1"/>
          <p:nvPr/>
        </p:nvSpPr>
        <p:spPr>
          <a:xfrm>
            <a:off x="585216"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Total Staff</a:t>
            </a:r>
            <a:endParaRPr lang="en-US" sz="950" dirty="0"/>
          </a:p>
        </p:txBody>
      </p:sp>
      <p:sp>
        <p:nvSpPr>
          <p:cNvPr id="25" name="Shape 23"/>
          <p:cNvSpPr/>
          <p:nvPr/>
        </p:nvSpPr>
        <p:spPr>
          <a:xfrm>
            <a:off x="1847088" y="2286000"/>
            <a:ext cx="1280160" cy="786384"/>
          </a:xfrm>
          <a:prstGeom prst="roundRect">
            <a:avLst>
              <a:gd name="adj" fmla="val 10465"/>
            </a:avLst>
          </a:prstGeom>
          <a:solidFill>
            <a:srgbClr val="F5F7F5"/>
          </a:solidFill>
          <a:ln w="9525">
            <a:solidFill>
              <a:srgbClr val="DEE6E1"/>
            </a:solidFill>
            <a:prstDash val="solid"/>
          </a:ln>
        </p:spPr>
      </p:sp>
      <p:sp>
        <p:nvSpPr>
          <p:cNvPr id="26" name="Shape 24"/>
          <p:cNvSpPr/>
          <p:nvPr/>
        </p:nvSpPr>
        <p:spPr>
          <a:xfrm>
            <a:off x="1975104" y="2432304"/>
            <a:ext cx="146304" cy="146304"/>
          </a:xfrm>
          <a:prstGeom prst="ellipse">
            <a:avLst/>
          </a:prstGeom>
          <a:solidFill>
            <a:srgbClr val="17875E"/>
          </a:solidFill>
          <a:ln w="12700">
            <a:solidFill>
              <a:srgbClr val="17875E"/>
            </a:solidFill>
            <a:prstDash val="solid"/>
          </a:ln>
        </p:spPr>
      </p:sp>
      <p:sp>
        <p:nvSpPr>
          <p:cNvPr id="27" name="Text 25"/>
          <p:cNvSpPr txBox="1"/>
          <p:nvPr/>
        </p:nvSpPr>
        <p:spPr>
          <a:xfrm>
            <a:off x="1975104"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KTC</a:t>
            </a:r>
            <a:endParaRPr lang="en-US" sz="950" dirty="0"/>
          </a:p>
        </p:txBody>
      </p:sp>
      <p:sp>
        <p:nvSpPr>
          <p:cNvPr id="28" name="Shape 26"/>
          <p:cNvSpPr/>
          <p:nvPr/>
        </p:nvSpPr>
        <p:spPr>
          <a:xfrm>
            <a:off x="3236976" y="2286000"/>
            <a:ext cx="1280160" cy="786384"/>
          </a:xfrm>
          <a:prstGeom prst="roundRect">
            <a:avLst>
              <a:gd name="adj" fmla="val 10465"/>
            </a:avLst>
          </a:prstGeom>
          <a:solidFill>
            <a:srgbClr val="F5F7F5"/>
          </a:solidFill>
          <a:ln w="9525">
            <a:solidFill>
              <a:srgbClr val="DEE6E1"/>
            </a:solidFill>
            <a:prstDash val="solid"/>
          </a:ln>
        </p:spPr>
      </p:sp>
      <p:sp>
        <p:nvSpPr>
          <p:cNvPr id="29" name="Shape 27"/>
          <p:cNvSpPr/>
          <p:nvPr/>
        </p:nvSpPr>
        <p:spPr>
          <a:xfrm>
            <a:off x="3364992" y="2432304"/>
            <a:ext cx="146304" cy="146304"/>
          </a:xfrm>
          <a:prstGeom prst="ellipse">
            <a:avLst/>
          </a:prstGeom>
          <a:solidFill>
            <a:srgbClr val="B8842E"/>
          </a:solidFill>
          <a:ln w="12700">
            <a:solidFill>
              <a:srgbClr val="B8842E"/>
            </a:solidFill>
            <a:prstDash val="solid"/>
          </a:ln>
        </p:spPr>
      </p:sp>
      <p:sp>
        <p:nvSpPr>
          <p:cNvPr id="30" name="Text 28"/>
          <p:cNvSpPr txBox="1"/>
          <p:nvPr/>
        </p:nvSpPr>
        <p:spPr>
          <a:xfrm>
            <a:off x="3364992"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Supplier</a:t>
            </a:r>
            <a:endParaRPr lang="en-US" sz="950" dirty="0"/>
          </a:p>
        </p:txBody>
      </p:sp>
      <p:sp>
        <p:nvSpPr>
          <p:cNvPr id="31" name="Shape 29"/>
          <p:cNvSpPr/>
          <p:nvPr/>
        </p:nvSpPr>
        <p:spPr>
          <a:xfrm>
            <a:off x="4626864" y="2286000"/>
            <a:ext cx="1280160" cy="786384"/>
          </a:xfrm>
          <a:prstGeom prst="roundRect">
            <a:avLst>
              <a:gd name="adj" fmla="val 10465"/>
            </a:avLst>
          </a:prstGeom>
          <a:solidFill>
            <a:srgbClr val="F5F7F5"/>
          </a:solidFill>
          <a:ln w="9525">
            <a:solidFill>
              <a:srgbClr val="DEE6E1"/>
            </a:solidFill>
            <a:prstDash val="solid"/>
          </a:ln>
        </p:spPr>
      </p:sp>
      <p:sp>
        <p:nvSpPr>
          <p:cNvPr id="32" name="Shape 30"/>
          <p:cNvSpPr/>
          <p:nvPr/>
        </p:nvSpPr>
        <p:spPr>
          <a:xfrm>
            <a:off x="4754880" y="2432304"/>
            <a:ext cx="146304" cy="146304"/>
          </a:xfrm>
          <a:prstGeom prst="ellipse">
            <a:avLst/>
          </a:prstGeom>
          <a:solidFill>
            <a:srgbClr val="17875E"/>
          </a:solidFill>
          <a:ln w="12700">
            <a:solidFill>
              <a:srgbClr val="17875E"/>
            </a:solidFill>
            <a:prstDash val="solid"/>
          </a:ln>
        </p:spPr>
      </p:sp>
      <p:sp>
        <p:nvSpPr>
          <p:cNvPr id="33" name="Text 31"/>
          <p:cNvSpPr txBox="1"/>
          <p:nvPr/>
        </p:nvSpPr>
        <p:spPr>
          <a:xfrm>
            <a:off x="4754880"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Active Projects</a:t>
            </a:r>
            <a:endParaRPr lang="en-US" sz="950" dirty="0"/>
          </a:p>
        </p:txBody>
      </p:sp>
      <p:sp>
        <p:nvSpPr>
          <p:cNvPr id="34" name="Shape 32"/>
          <p:cNvSpPr/>
          <p:nvPr/>
        </p:nvSpPr>
        <p:spPr>
          <a:xfrm>
            <a:off x="6016752" y="2286000"/>
            <a:ext cx="1280160" cy="786384"/>
          </a:xfrm>
          <a:prstGeom prst="roundRect">
            <a:avLst>
              <a:gd name="adj" fmla="val 10465"/>
            </a:avLst>
          </a:prstGeom>
          <a:solidFill>
            <a:srgbClr val="F5F7F5"/>
          </a:solidFill>
          <a:ln w="9525">
            <a:solidFill>
              <a:srgbClr val="DEE6E1"/>
            </a:solidFill>
            <a:prstDash val="solid"/>
          </a:ln>
        </p:spPr>
      </p:sp>
      <p:sp>
        <p:nvSpPr>
          <p:cNvPr id="35" name="Shape 33"/>
          <p:cNvSpPr/>
          <p:nvPr/>
        </p:nvSpPr>
        <p:spPr>
          <a:xfrm>
            <a:off x="6144768" y="2432304"/>
            <a:ext cx="146304" cy="146304"/>
          </a:xfrm>
          <a:prstGeom prst="ellipse">
            <a:avLst/>
          </a:prstGeom>
          <a:solidFill>
            <a:srgbClr val="5B6B63"/>
          </a:solidFill>
          <a:ln w="12700">
            <a:solidFill>
              <a:srgbClr val="5B6B63"/>
            </a:solidFill>
            <a:prstDash val="solid"/>
          </a:ln>
        </p:spPr>
      </p:sp>
      <p:sp>
        <p:nvSpPr>
          <p:cNvPr id="36" name="Text 34"/>
          <p:cNvSpPr txBox="1"/>
          <p:nvPr/>
        </p:nvSpPr>
        <p:spPr>
          <a:xfrm>
            <a:off x="6144768"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Total Projects</a:t>
            </a:r>
            <a:endParaRPr lang="en-US" sz="950" dirty="0"/>
          </a:p>
        </p:txBody>
      </p:sp>
      <p:sp>
        <p:nvSpPr>
          <p:cNvPr id="37" name="Text 35"/>
          <p:cNvSpPr txBox="1"/>
          <p:nvPr/>
        </p:nvSpPr>
        <p:spPr>
          <a:xfrm>
            <a:off x="457200" y="3127248"/>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Eleven live figures, illustrated above. Values update as attendance is marked.</a:t>
            </a:r>
            <a:endParaRPr lang="en-US" sz="1000" dirty="0"/>
          </a:p>
        </p:txBody>
      </p:sp>
      <p:sp>
        <p:nvSpPr>
          <p:cNvPr id="38" name="Shape 36"/>
          <p:cNvSpPr/>
          <p:nvPr/>
        </p:nvSpPr>
        <p:spPr>
          <a:xfrm>
            <a:off x="457200" y="3584448"/>
            <a:ext cx="3977640" cy="1170432"/>
          </a:xfrm>
          <a:prstGeom prst="roundRect">
            <a:avLst>
              <a:gd name="adj" fmla="val 7031"/>
            </a:avLst>
          </a:prstGeom>
          <a:solidFill>
            <a:srgbClr val="E8F1FC"/>
          </a:solidFill>
          <a:ln w="9525">
            <a:solidFill>
              <a:srgbClr val="DEE6E1"/>
            </a:solidFill>
            <a:prstDash val="solid"/>
          </a:ln>
        </p:spPr>
      </p:sp>
      <p:sp>
        <p:nvSpPr>
          <p:cNvPr id="39" name="Shape 37"/>
          <p:cNvSpPr/>
          <p:nvPr/>
        </p:nvSpPr>
        <p:spPr>
          <a:xfrm>
            <a:off x="676656" y="3803904"/>
            <a:ext cx="384048" cy="384048"/>
          </a:xfrm>
          <a:prstGeom prst="ellipse">
            <a:avLst/>
          </a:prstGeom>
          <a:solidFill>
            <a:srgbClr val="00113D"/>
          </a:solidFill>
          <a:ln w="12700">
            <a:solidFill>
              <a:srgbClr val="00113D"/>
            </a:solidFill>
            <a:prstDash val="solid"/>
          </a:ln>
        </p:spPr>
      </p:sp>
      <p:sp>
        <p:nvSpPr>
          <p:cNvPr id="40" name="Text 38"/>
          <p:cNvSpPr txBox="1"/>
          <p:nvPr/>
        </p:nvSpPr>
        <p:spPr>
          <a:xfrm>
            <a:off x="676656" y="38039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1" name="Text 39"/>
          <p:cNvSpPr txBox="1"/>
          <p:nvPr/>
        </p:nvSpPr>
        <p:spPr>
          <a:xfrm>
            <a:off x="1170432" y="3785616"/>
            <a:ext cx="301752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Worker Locator</a:t>
            </a:r>
            <a:endParaRPr lang="en-US" sz="1300" dirty="0"/>
          </a:p>
        </p:txBody>
      </p:sp>
      <p:sp>
        <p:nvSpPr>
          <p:cNvPr id="42" name="Text 40"/>
          <p:cNvSpPr txBox="1"/>
          <p:nvPr/>
        </p:nvSpPr>
        <p:spPr>
          <a:xfrm>
            <a:off x="1170432" y="4078224"/>
            <a:ext cx="3017520" cy="54864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Type a name or ID and see which project he was on for any chosen date.</a:t>
            </a:r>
            <a:endParaRPr lang="en-US" sz="1050" dirty="0"/>
          </a:p>
        </p:txBody>
      </p:sp>
      <p:sp>
        <p:nvSpPr>
          <p:cNvPr id="43" name="Shape 41"/>
          <p:cNvSpPr/>
          <p:nvPr/>
        </p:nvSpPr>
        <p:spPr>
          <a:xfrm>
            <a:off x="4709160" y="3584448"/>
            <a:ext cx="3977640" cy="1170432"/>
          </a:xfrm>
          <a:prstGeom prst="roundRect">
            <a:avLst>
              <a:gd name="adj" fmla="val 7031"/>
            </a:avLst>
          </a:prstGeom>
          <a:solidFill>
            <a:srgbClr val="FDF7E8"/>
          </a:solidFill>
          <a:ln w="9525">
            <a:solidFill>
              <a:srgbClr val="DEE6E1"/>
            </a:solidFill>
            <a:prstDash val="solid"/>
          </a:ln>
        </p:spPr>
      </p:sp>
      <p:sp>
        <p:nvSpPr>
          <p:cNvPr id="44" name="Shape 42"/>
          <p:cNvSpPr/>
          <p:nvPr/>
        </p:nvSpPr>
        <p:spPr>
          <a:xfrm>
            <a:off x="4928616" y="3803904"/>
            <a:ext cx="384048" cy="384048"/>
          </a:xfrm>
          <a:prstGeom prst="ellipse">
            <a:avLst/>
          </a:prstGeom>
          <a:solidFill>
            <a:srgbClr val="B8842E"/>
          </a:solidFill>
          <a:ln w="12700">
            <a:solidFill>
              <a:srgbClr val="B8842E"/>
            </a:solidFill>
            <a:prstDash val="solid"/>
          </a:ln>
        </p:spPr>
      </p:sp>
      <p:sp>
        <p:nvSpPr>
          <p:cNvPr id="45" name="Text 43"/>
          <p:cNvSpPr txBox="1"/>
          <p:nvPr/>
        </p:nvSpPr>
        <p:spPr>
          <a:xfrm>
            <a:off x="4928616" y="38039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6" name="Text 44"/>
          <p:cNvSpPr txBox="1"/>
          <p:nvPr/>
        </p:nvSpPr>
        <p:spPr>
          <a:xfrm>
            <a:off x="5422392" y="3785616"/>
            <a:ext cx="301752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Site Deviations</a:t>
            </a:r>
            <a:endParaRPr lang="en-US" sz="1300" dirty="0"/>
          </a:p>
        </p:txBody>
      </p:sp>
      <p:sp>
        <p:nvSpPr>
          <p:cNvPr id="47" name="Text 45"/>
          <p:cNvSpPr txBox="1"/>
          <p:nvPr/>
        </p:nvSpPr>
        <p:spPr>
          <a:xfrm>
            <a:off x="5422392" y="4078224"/>
            <a:ext cx="3017520" cy="54864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Anyone marked at a project other than their roster, listed for review the same day.</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113D"/>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Access is enforced by the database</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8FA8CC"/>
                </a:solidFill>
                <a:latin typeface="Calibri" pitchFamily="34" charset="0"/>
                <a:ea typeface="Calibri" pitchFamily="34" charset="-122"/>
                <a:cs typeface="Calibri" pitchFamily="34" charset="-120"/>
              </a:rPr>
              <a:t>Hiding a button is a convenience. It is never the security boundary.</a:t>
            </a:r>
            <a:endParaRPr lang="en-US" sz="1300" dirty="0"/>
          </a:p>
        </p:txBody>
      </p:sp>
      <p:sp>
        <p:nvSpPr>
          <p:cNvPr id="4" name="Shape 2"/>
          <p:cNvSpPr/>
          <p:nvPr/>
        </p:nvSpPr>
        <p:spPr>
          <a:xfrm>
            <a:off x="457200" y="1517904"/>
            <a:ext cx="329184" cy="329184"/>
          </a:xfrm>
          <a:prstGeom prst="ellipse">
            <a:avLst/>
          </a:prstGeom>
          <a:solidFill>
            <a:srgbClr val="F9CB14"/>
          </a:solidFill>
          <a:ln w="12700">
            <a:solidFill>
              <a:srgbClr val="F9CB14"/>
            </a:solidFill>
            <a:prstDash val="solid"/>
          </a:ln>
        </p:spPr>
      </p:sp>
      <p:sp>
        <p:nvSpPr>
          <p:cNvPr id="5" name="Text 3"/>
          <p:cNvSpPr txBox="1"/>
          <p:nvPr/>
        </p:nvSpPr>
        <p:spPr>
          <a:xfrm>
            <a:off x="457200" y="1517904"/>
            <a:ext cx="329184" cy="329184"/>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87552" y="1481328"/>
            <a:ext cx="5120640" cy="27432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Rules live on Google's servers</a:t>
            </a:r>
            <a:endParaRPr lang="en-US" sz="1400" dirty="0"/>
          </a:p>
        </p:txBody>
      </p:sp>
      <p:sp>
        <p:nvSpPr>
          <p:cNvPr id="7" name="Text 5"/>
          <p:cNvSpPr txBox="1"/>
          <p:nvPr/>
        </p:nvSpPr>
        <p:spPr>
          <a:xfrm>
            <a:off x="987552" y="1783080"/>
            <a:ext cx="5120640" cy="566928"/>
          </a:xfrm>
          <a:prstGeom prst="rect">
            <a:avLst/>
          </a:prstGeom>
          <a:noFill/>
          <a:ln/>
        </p:spPr>
        <p:txBody>
          <a:bodyPr wrap="square" lIns="0" tIns="0" rIns="0" bIns="0" rtlCol="0" anchor="t"/>
          <a:lstStyle/>
          <a:p>
            <a:pPr algn="l" indent="0" marL="0">
              <a:lnSpc>
                <a:spcPct val="110000"/>
              </a:lnSpc>
              <a:buNone/>
            </a:pPr>
            <a:r>
              <a:rPr lang="en-US" sz="1100" dirty="0">
                <a:solidFill>
                  <a:srgbClr val="B9C7DE"/>
                </a:solidFill>
                <a:latin typeface="Calibri" pitchFamily="34" charset="0"/>
                <a:ea typeface="Calibri" pitchFamily="34" charset="-122"/>
                <a:cs typeface="Calibri" pitchFamily="34" charset="-120"/>
              </a:rPr>
              <a:t>Even a modified app cannot read another project's attendance — the request is refused before it reaches the data.</a:t>
            </a:r>
            <a:endParaRPr lang="en-US" sz="1100" dirty="0"/>
          </a:p>
        </p:txBody>
      </p:sp>
      <p:sp>
        <p:nvSpPr>
          <p:cNvPr id="8" name="Shape 6"/>
          <p:cNvSpPr/>
          <p:nvPr/>
        </p:nvSpPr>
        <p:spPr>
          <a:xfrm>
            <a:off x="457200" y="2487168"/>
            <a:ext cx="329184" cy="329184"/>
          </a:xfrm>
          <a:prstGeom prst="ellipse">
            <a:avLst/>
          </a:prstGeom>
          <a:solidFill>
            <a:srgbClr val="F9CB14"/>
          </a:solidFill>
          <a:ln w="12700">
            <a:solidFill>
              <a:srgbClr val="F9CB14"/>
            </a:solidFill>
            <a:prstDash val="solid"/>
          </a:ln>
        </p:spPr>
      </p:sp>
      <p:sp>
        <p:nvSpPr>
          <p:cNvPr id="9" name="Text 7"/>
          <p:cNvSpPr txBox="1"/>
          <p:nvPr/>
        </p:nvSpPr>
        <p:spPr>
          <a:xfrm>
            <a:off x="457200" y="2487168"/>
            <a:ext cx="329184" cy="329184"/>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987552" y="2450592"/>
            <a:ext cx="5120640" cy="27432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Nobody can promote themselves</a:t>
            </a:r>
            <a:endParaRPr lang="en-US" sz="1400" dirty="0"/>
          </a:p>
        </p:txBody>
      </p:sp>
      <p:sp>
        <p:nvSpPr>
          <p:cNvPr id="11" name="Text 9"/>
          <p:cNvSpPr txBox="1"/>
          <p:nvPr/>
        </p:nvSpPr>
        <p:spPr>
          <a:xfrm>
            <a:off x="987552" y="2752344"/>
            <a:ext cx="5120640" cy="566928"/>
          </a:xfrm>
          <a:prstGeom prst="rect">
            <a:avLst/>
          </a:prstGeom>
          <a:noFill/>
          <a:ln/>
        </p:spPr>
        <p:txBody>
          <a:bodyPr wrap="square" lIns="0" tIns="0" rIns="0" bIns="0" rtlCol="0" anchor="t"/>
          <a:lstStyle/>
          <a:p>
            <a:pPr algn="l" indent="0" marL="0">
              <a:lnSpc>
                <a:spcPct val="110000"/>
              </a:lnSpc>
              <a:buNone/>
            </a:pPr>
            <a:r>
              <a:rPr lang="en-US" sz="1100" dirty="0">
                <a:solidFill>
                  <a:srgbClr val="B9C7DE"/>
                </a:solidFill>
                <a:latin typeface="Calibri" pitchFamily="34" charset="0"/>
                <a:ea typeface="Calibri" pitchFamily="34" charset="-122"/>
                <a:cs typeface="Calibri" pitchFamily="34" charset="-120"/>
              </a:rPr>
              <a:t>A user cannot write their own role or site list. Only Super Admin can, and every change is stamped with who made it.</a:t>
            </a:r>
            <a:endParaRPr lang="en-US" sz="1100" dirty="0"/>
          </a:p>
        </p:txBody>
      </p:sp>
      <p:sp>
        <p:nvSpPr>
          <p:cNvPr id="12" name="Shape 10"/>
          <p:cNvSpPr/>
          <p:nvPr/>
        </p:nvSpPr>
        <p:spPr>
          <a:xfrm>
            <a:off x="457200" y="3456432"/>
            <a:ext cx="329184" cy="329184"/>
          </a:xfrm>
          <a:prstGeom prst="ellipse">
            <a:avLst/>
          </a:prstGeom>
          <a:solidFill>
            <a:srgbClr val="F9CB14"/>
          </a:solidFill>
          <a:ln w="12700">
            <a:solidFill>
              <a:srgbClr val="F9CB14"/>
            </a:solidFill>
            <a:prstDash val="solid"/>
          </a:ln>
        </p:spPr>
      </p:sp>
      <p:sp>
        <p:nvSpPr>
          <p:cNvPr id="13" name="Text 11"/>
          <p:cNvSpPr txBox="1"/>
          <p:nvPr/>
        </p:nvSpPr>
        <p:spPr>
          <a:xfrm>
            <a:off x="457200" y="3456432"/>
            <a:ext cx="329184" cy="329184"/>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987552" y="3419856"/>
            <a:ext cx="5120640" cy="27432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Attendance is never deleted</a:t>
            </a:r>
            <a:endParaRPr lang="en-US" sz="1400" dirty="0"/>
          </a:p>
        </p:txBody>
      </p:sp>
      <p:sp>
        <p:nvSpPr>
          <p:cNvPr id="15" name="Text 13"/>
          <p:cNvSpPr txBox="1"/>
          <p:nvPr/>
        </p:nvSpPr>
        <p:spPr>
          <a:xfrm>
            <a:off x="987552" y="3721608"/>
            <a:ext cx="5120640" cy="566928"/>
          </a:xfrm>
          <a:prstGeom prst="rect">
            <a:avLst/>
          </a:prstGeom>
          <a:noFill/>
          <a:ln/>
        </p:spPr>
        <p:txBody>
          <a:bodyPr wrap="square" lIns="0" tIns="0" rIns="0" bIns="0" rtlCol="0" anchor="t"/>
          <a:lstStyle/>
          <a:p>
            <a:pPr algn="l" indent="0" marL="0">
              <a:lnSpc>
                <a:spcPct val="110000"/>
              </a:lnSpc>
              <a:buNone/>
            </a:pPr>
            <a:r>
              <a:rPr lang="en-US" sz="1100" dirty="0">
                <a:solidFill>
                  <a:srgbClr val="B9C7DE"/>
                </a:solidFill>
                <a:latin typeface="Calibri" pitchFamily="34" charset="0"/>
                <a:ea typeface="Calibri" pitchFamily="34" charset="-122"/>
                <a:cs typeface="Calibri" pitchFamily="34" charset="-120"/>
              </a:rPr>
              <a:t>Corrections are recorded as edits, so the original entry and the correction both survive for audit.</a:t>
            </a:r>
            <a:endParaRPr lang="en-US" sz="1100" dirty="0"/>
          </a:p>
        </p:txBody>
      </p:sp>
      <p:sp>
        <p:nvSpPr>
          <p:cNvPr id="16" name="Shape 14"/>
          <p:cNvSpPr/>
          <p:nvPr/>
        </p:nvSpPr>
        <p:spPr>
          <a:xfrm>
            <a:off x="6053328" y="1481328"/>
            <a:ext cx="2633472" cy="2395728"/>
          </a:xfrm>
          <a:prstGeom prst="roundRect">
            <a:avLst>
              <a:gd name="adj" fmla="val 3435"/>
            </a:avLst>
          </a:prstGeom>
          <a:solidFill>
            <a:srgbClr val="0A2050"/>
          </a:solidFill>
          <a:ln w="9525">
            <a:solidFill>
              <a:srgbClr val="DEE6E1"/>
            </a:solidFill>
            <a:prstDash val="solid"/>
          </a:ln>
        </p:spPr>
      </p:sp>
      <p:sp>
        <p:nvSpPr>
          <p:cNvPr id="17" name="Shape 15"/>
          <p:cNvSpPr/>
          <p:nvPr/>
        </p:nvSpPr>
        <p:spPr>
          <a:xfrm>
            <a:off x="6053328" y="1481328"/>
            <a:ext cx="2633472" cy="2395728"/>
          </a:xfrm>
          <a:prstGeom prst="roundRect">
            <a:avLst>
              <a:gd name="adj" fmla="val 3435"/>
            </a:avLst>
          </a:prstGeom>
          <a:solidFill>
            <a:srgbClr val="0A2050"/>
          </a:solidFill>
          <a:ln w="12700">
            <a:solidFill>
              <a:srgbClr val="1B3468"/>
            </a:solidFill>
            <a:prstDash val="solid"/>
          </a:ln>
        </p:spPr>
      </p:sp>
      <p:sp>
        <p:nvSpPr>
          <p:cNvPr id="18" name="Text 16"/>
          <p:cNvSpPr txBox="1"/>
          <p:nvPr/>
        </p:nvSpPr>
        <p:spPr>
          <a:xfrm>
            <a:off x="6053328" y="1828800"/>
            <a:ext cx="2633472" cy="914400"/>
          </a:xfrm>
          <a:prstGeom prst="rect">
            <a:avLst/>
          </a:prstGeom>
          <a:noFill/>
          <a:ln/>
        </p:spPr>
        <p:txBody>
          <a:bodyPr wrap="square" lIns="0" tIns="0" rIns="0" bIns="0" rtlCol="0" anchor="ctr"/>
          <a:lstStyle/>
          <a:p>
            <a:pPr algn="ctr" indent="0" marL="0">
              <a:buNone/>
            </a:pPr>
            <a:r>
              <a:rPr lang="en-US" sz="6000" b="1" dirty="0">
                <a:solidFill>
                  <a:srgbClr val="F9CB14"/>
                </a:solidFill>
                <a:latin typeface="Cambria" pitchFamily="34" charset="0"/>
                <a:ea typeface="Cambria" pitchFamily="34" charset="-122"/>
                <a:cs typeface="Cambria" pitchFamily="34" charset="-120"/>
              </a:rPr>
              <a:t>56</a:t>
            </a:r>
            <a:endParaRPr lang="en-US" sz="6000" dirty="0"/>
          </a:p>
        </p:txBody>
      </p:sp>
      <p:sp>
        <p:nvSpPr>
          <p:cNvPr id="19" name="Text 17"/>
          <p:cNvSpPr txBox="1"/>
          <p:nvPr/>
        </p:nvSpPr>
        <p:spPr>
          <a:xfrm>
            <a:off x="6144768" y="2706624"/>
            <a:ext cx="2450592"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automated security tests</a:t>
            </a:r>
            <a:endParaRPr lang="en-US" sz="1200" dirty="0"/>
          </a:p>
        </p:txBody>
      </p:sp>
      <p:sp>
        <p:nvSpPr>
          <p:cNvPr id="20" name="Text 18"/>
          <p:cNvSpPr txBox="1"/>
          <p:nvPr/>
        </p:nvSpPr>
        <p:spPr>
          <a:xfrm>
            <a:off x="6272784" y="3017520"/>
            <a:ext cx="2194560" cy="731520"/>
          </a:xfrm>
          <a:prstGeom prst="rect">
            <a:avLst/>
          </a:prstGeom>
          <a:noFill/>
          <a:ln/>
        </p:spPr>
        <p:txBody>
          <a:bodyPr wrap="square" lIns="0" tIns="0" rIns="0" bIns="0" rtlCol="0" anchor="ctr"/>
          <a:lstStyle/>
          <a:p>
            <a:pPr algn="ctr" indent="0" marL="0">
              <a:lnSpc>
                <a:spcPct val="110000"/>
              </a:lnSpc>
              <a:buNone/>
            </a:pPr>
            <a:r>
              <a:rPr lang="en-US" sz="1000" dirty="0">
                <a:solidFill>
                  <a:srgbClr val="B9C7DE"/>
                </a:solidFill>
                <a:latin typeface="Calibri" pitchFamily="34" charset="0"/>
                <a:ea typeface="Calibri" pitchFamily="34" charset="-122"/>
                <a:cs typeface="Calibri" pitchFamily="34" charset="-120"/>
              </a:rPr>
              <a:t>Each one checks a permission that must be granted — and one that must be refused. All 56 pass.</a:t>
            </a:r>
            <a:endParaRPr lang="en-US" sz="1000" dirty="0"/>
          </a:p>
        </p:txBody>
      </p:sp>
      <p:sp>
        <p:nvSpPr>
          <p:cNvPr id="21" name="Text 19"/>
          <p:cNvSpPr txBox="1"/>
          <p:nvPr/>
        </p:nvSpPr>
        <p:spPr>
          <a:xfrm>
            <a:off x="457200" y="4389120"/>
            <a:ext cx="8229600" cy="274320"/>
          </a:xfrm>
          <a:prstGeom prst="rect">
            <a:avLst/>
          </a:prstGeom>
          <a:noFill/>
          <a:ln/>
        </p:spPr>
        <p:txBody>
          <a:bodyPr wrap="square" lIns="0" tIns="0" rIns="0" bIns="0" rtlCol="0" anchor="ctr"/>
          <a:lstStyle/>
          <a:p>
            <a:pPr indent="0" marL="0">
              <a:buNone/>
            </a:pPr>
            <a:r>
              <a:rPr lang="en-US" sz="1000" i="1" dirty="0">
                <a:solidFill>
                  <a:srgbClr val="8FA8CC"/>
                </a:solidFill>
                <a:latin typeface="Calibri" pitchFamily="34" charset="0"/>
                <a:ea typeface="Calibri" pitchFamily="34" charset="-122"/>
                <a:cs typeface="Calibri" pitchFamily="34" charset="-120"/>
              </a:rPr>
              <a:t>Tests are re-run against a Firebase emulator before every release.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Measured for 4,000 workers</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Report generation timed on the standard build, not estimated</a:t>
            </a:r>
            <a:endParaRPr lang="en-US" sz="1300" dirty="0"/>
          </a:p>
        </p:txBody>
      </p:sp>
      <p:graphicFrame>
        <p:nvGraphicFramePr>
          <p:cNvPr id="4" name="Chart 0" descr=""/>
          <p:cNvGraphicFramePr/>
          <p:nvPr/>
        </p:nvGraphicFramePr>
        <p:xfrm>
          <a:off x="457200" y="132588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577840" y="1517904"/>
            <a:ext cx="310896" cy="310896"/>
          </a:xfrm>
          <a:prstGeom prst="ellipse">
            <a:avLst/>
          </a:prstGeom>
          <a:solidFill>
            <a:srgbClr val="0B66D6"/>
          </a:solidFill>
          <a:ln w="12700">
            <a:solidFill>
              <a:srgbClr val="0B66D6"/>
            </a:solidFill>
            <a:prstDash val="solid"/>
          </a:ln>
        </p:spPr>
      </p:sp>
      <p:sp>
        <p:nvSpPr>
          <p:cNvPr id="6" name="Text 3"/>
          <p:cNvSpPr txBox="1"/>
          <p:nvPr/>
        </p:nvSpPr>
        <p:spPr>
          <a:xfrm>
            <a:off x="5577840" y="15179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txBox="1"/>
          <p:nvPr/>
        </p:nvSpPr>
        <p:spPr>
          <a:xfrm>
            <a:off x="6035040" y="1481328"/>
            <a:ext cx="2651760" cy="402336"/>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Attendance is written per project, per day</a:t>
            </a:r>
            <a:endParaRPr lang="en-US" sz="1150" dirty="0"/>
          </a:p>
        </p:txBody>
      </p:sp>
      <p:sp>
        <p:nvSpPr>
          <p:cNvPr id="8" name="Text 5"/>
          <p:cNvSpPr txBox="1"/>
          <p:nvPr/>
        </p:nvSpPr>
        <p:spPr>
          <a:xfrm>
            <a:off x="6035040" y="1901952"/>
            <a:ext cx="2651760" cy="548640"/>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The system never has to load the whole company at once, so adding projects does not slow the existing ones down.</a:t>
            </a:r>
            <a:endParaRPr lang="en-US" sz="1000" dirty="0"/>
          </a:p>
        </p:txBody>
      </p:sp>
      <p:sp>
        <p:nvSpPr>
          <p:cNvPr id="9" name="Shape 6"/>
          <p:cNvSpPr/>
          <p:nvPr/>
        </p:nvSpPr>
        <p:spPr>
          <a:xfrm>
            <a:off x="5577840" y="2542032"/>
            <a:ext cx="310896" cy="310896"/>
          </a:xfrm>
          <a:prstGeom prst="ellipse">
            <a:avLst/>
          </a:prstGeom>
          <a:solidFill>
            <a:srgbClr val="00113D"/>
          </a:solidFill>
          <a:ln w="12700">
            <a:solidFill>
              <a:srgbClr val="00113D"/>
            </a:solidFill>
            <a:prstDash val="solid"/>
          </a:ln>
        </p:spPr>
      </p:sp>
      <p:sp>
        <p:nvSpPr>
          <p:cNvPr id="10" name="Text 7"/>
          <p:cNvSpPr txBox="1"/>
          <p:nvPr/>
        </p:nvSpPr>
        <p:spPr>
          <a:xfrm>
            <a:off x="5577840" y="25420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8"/>
          <p:cNvSpPr txBox="1"/>
          <p:nvPr/>
        </p:nvSpPr>
        <p:spPr>
          <a:xfrm>
            <a:off x="6035040" y="2505456"/>
            <a:ext cx="2651760" cy="402336"/>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Every phone loads only its own projects</a:t>
            </a:r>
            <a:endParaRPr lang="en-US" sz="1150" dirty="0"/>
          </a:p>
        </p:txBody>
      </p:sp>
      <p:sp>
        <p:nvSpPr>
          <p:cNvPr id="12" name="Text 9"/>
          <p:cNvSpPr txBox="1"/>
          <p:nvPr/>
        </p:nvSpPr>
        <p:spPr>
          <a:xfrm>
            <a:off x="6035040" y="2926080"/>
            <a:ext cx="2651760" cy="548640"/>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 foreman's phone fetches his site's crew, not 4,000 records.</a:t>
            </a:r>
            <a:endParaRPr lang="en-US" sz="1000" dirty="0"/>
          </a:p>
        </p:txBody>
      </p:sp>
      <p:sp>
        <p:nvSpPr>
          <p:cNvPr id="13" name="Shape 10"/>
          <p:cNvSpPr/>
          <p:nvPr/>
        </p:nvSpPr>
        <p:spPr>
          <a:xfrm>
            <a:off x="5577840" y="3566160"/>
            <a:ext cx="310896" cy="310896"/>
          </a:xfrm>
          <a:prstGeom prst="ellipse">
            <a:avLst/>
          </a:prstGeom>
          <a:solidFill>
            <a:srgbClr val="0B66D6"/>
          </a:solidFill>
          <a:ln w="12700">
            <a:solidFill>
              <a:srgbClr val="0B66D6"/>
            </a:solidFill>
            <a:prstDash val="solid"/>
          </a:ln>
        </p:spPr>
      </p:sp>
      <p:sp>
        <p:nvSpPr>
          <p:cNvPr id="14" name="Text 11"/>
          <p:cNvSpPr txBox="1"/>
          <p:nvPr/>
        </p:nvSpPr>
        <p:spPr>
          <a:xfrm>
            <a:off x="5577840" y="3566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6035040" y="3529584"/>
            <a:ext cx="2651760" cy="402336"/>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Growth is priced per record, not per user</a:t>
            </a:r>
            <a:endParaRPr lang="en-US" sz="1150" dirty="0"/>
          </a:p>
        </p:txBody>
      </p:sp>
      <p:sp>
        <p:nvSpPr>
          <p:cNvPr id="16" name="Text 13"/>
          <p:cNvSpPr txBox="1"/>
          <p:nvPr/>
        </p:nvSpPr>
        <p:spPr>
          <a:xfrm>
            <a:off x="6035040" y="3950208"/>
            <a:ext cx="2651760" cy="548640"/>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Adding a site or a supervisor costs nothing extra by itself.</a:t>
            </a:r>
            <a:endParaRPr lang="en-US" sz="1000" dirty="0"/>
          </a:p>
        </p:txBody>
      </p:sp>
      <p:sp>
        <p:nvSpPr>
          <p:cNvPr id="17" name="Text 14"/>
          <p:cNvSpPr txBox="1"/>
          <p:nvPr/>
        </p:nvSpPr>
        <p:spPr>
          <a:xfrm>
            <a:off x="457200" y="4572000"/>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Measured on the release build with an Android-sized memory limit. Both reports completed well inside it.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What this changes for HR</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Six outcomes, in the order HR feels them</a:t>
            </a:r>
            <a:endParaRPr lang="en-US" sz="1300" dirty="0"/>
          </a:p>
        </p:txBody>
      </p:sp>
      <p:sp>
        <p:nvSpPr>
          <p:cNvPr id="4" name="Shape 2"/>
          <p:cNvSpPr/>
          <p:nvPr/>
        </p:nvSpPr>
        <p:spPr>
          <a:xfrm>
            <a:off x="457200" y="1371600"/>
            <a:ext cx="2578608" cy="1371600"/>
          </a:xfrm>
          <a:prstGeom prst="roundRect">
            <a:avLst>
              <a:gd name="adj" fmla="val 6000"/>
            </a:avLst>
          </a:prstGeom>
          <a:solidFill>
            <a:srgbClr val="F5F7F5"/>
          </a:solidFill>
          <a:ln w="9525">
            <a:solidFill>
              <a:srgbClr val="DEE6E1"/>
            </a:solidFill>
            <a:prstDash val="solid"/>
          </a:ln>
        </p:spPr>
      </p:sp>
      <p:sp>
        <p:nvSpPr>
          <p:cNvPr id="5" name="Shape 3"/>
          <p:cNvSpPr/>
          <p:nvPr/>
        </p:nvSpPr>
        <p:spPr>
          <a:xfrm>
            <a:off x="676656" y="1572768"/>
            <a:ext cx="384048" cy="384048"/>
          </a:xfrm>
          <a:prstGeom prst="ellipse">
            <a:avLst/>
          </a:prstGeom>
          <a:solidFill>
            <a:srgbClr val="17875E"/>
          </a:solidFill>
          <a:ln w="12700">
            <a:solidFill>
              <a:srgbClr val="17875E"/>
            </a:solidFill>
            <a:prstDash val="solid"/>
          </a:ln>
        </p:spPr>
      </p:sp>
      <p:sp>
        <p:nvSpPr>
          <p:cNvPr id="6" name="Text 4"/>
          <p:cNvSpPr txBox="1"/>
          <p:nvPr/>
        </p:nvSpPr>
        <p:spPr>
          <a:xfrm>
            <a:off x="676656"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152144" y="1554480"/>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Payroll you can defend</a:t>
            </a:r>
            <a:endParaRPr lang="en-US" sz="1200" dirty="0"/>
          </a:p>
        </p:txBody>
      </p:sp>
      <p:sp>
        <p:nvSpPr>
          <p:cNvPr id="8" name="Text 6"/>
          <p:cNvSpPr txBox="1"/>
          <p:nvPr/>
        </p:nvSpPr>
        <p:spPr>
          <a:xfrm>
            <a:off x="676656" y="2084832"/>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Every paid day traces back to a GPS-verified record naming the person who marked it.</a:t>
            </a:r>
            <a:endParaRPr lang="en-US" sz="1000" dirty="0"/>
          </a:p>
        </p:txBody>
      </p:sp>
      <p:sp>
        <p:nvSpPr>
          <p:cNvPr id="9" name="Shape 7"/>
          <p:cNvSpPr/>
          <p:nvPr/>
        </p:nvSpPr>
        <p:spPr>
          <a:xfrm>
            <a:off x="3282696" y="1371600"/>
            <a:ext cx="2578608" cy="1371600"/>
          </a:xfrm>
          <a:prstGeom prst="roundRect">
            <a:avLst>
              <a:gd name="adj" fmla="val 6000"/>
            </a:avLst>
          </a:prstGeom>
          <a:solidFill>
            <a:srgbClr val="F5F7F5"/>
          </a:solidFill>
          <a:ln w="9525">
            <a:solidFill>
              <a:srgbClr val="DEE6E1"/>
            </a:solidFill>
            <a:prstDash val="solid"/>
          </a:ln>
        </p:spPr>
      </p:sp>
      <p:sp>
        <p:nvSpPr>
          <p:cNvPr id="10" name="Shape 8"/>
          <p:cNvSpPr/>
          <p:nvPr/>
        </p:nvSpPr>
        <p:spPr>
          <a:xfrm>
            <a:off x="3502152" y="1572768"/>
            <a:ext cx="384048" cy="384048"/>
          </a:xfrm>
          <a:prstGeom prst="ellipse">
            <a:avLst/>
          </a:prstGeom>
          <a:solidFill>
            <a:srgbClr val="0B66D6"/>
          </a:solidFill>
          <a:ln w="12700">
            <a:solidFill>
              <a:srgbClr val="0B66D6"/>
            </a:solidFill>
            <a:prstDash val="solid"/>
          </a:ln>
        </p:spPr>
      </p:sp>
      <p:sp>
        <p:nvSpPr>
          <p:cNvPr id="11" name="Text 9"/>
          <p:cNvSpPr txBox="1"/>
          <p:nvPr/>
        </p:nvSpPr>
        <p:spPr>
          <a:xfrm>
            <a:off x="3502152"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977640" y="1554480"/>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Month-end in minutes</a:t>
            </a:r>
            <a:endParaRPr lang="en-US" sz="1200" dirty="0"/>
          </a:p>
        </p:txBody>
      </p:sp>
      <p:sp>
        <p:nvSpPr>
          <p:cNvPr id="13" name="Text 11"/>
          <p:cNvSpPr txBox="1"/>
          <p:nvPr/>
        </p:nvSpPr>
        <p:spPr>
          <a:xfrm>
            <a:off x="3502152" y="2084832"/>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Trade-wise, absentee and hours reports generate on demand instead of being rebuilt by hand.</a:t>
            </a:r>
            <a:endParaRPr lang="en-US" sz="1000" dirty="0"/>
          </a:p>
        </p:txBody>
      </p:sp>
      <p:sp>
        <p:nvSpPr>
          <p:cNvPr id="14" name="Shape 12"/>
          <p:cNvSpPr/>
          <p:nvPr/>
        </p:nvSpPr>
        <p:spPr>
          <a:xfrm>
            <a:off x="6108192" y="1371600"/>
            <a:ext cx="2578608" cy="1371600"/>
          </a:xfrm>
          <a:prstGeom prst="roundRect">
            <a:avLst>
              <a:gd name="adj" fmla="val 6000"/>
            </a:avLst>
          </a:prstGeom>
          <a:solidFill>
            <a:srgbClr val="F5F7F5"/>
          </a:solidFill>
          <a:ln w="9525">
            <a:solidFill>
              <a:srgbClr val="DEE6E1"/>
            </a:solidFill>
            <a:prstDash val="solid"/>
          </a:ln>
        </p:spPr>
      </p:sp>
      <p:sp>
        <p:nvSpPr>
          <p:cNvPr id="15" name="Shape 13"/>
          <p:cNvSpPr/>
          <p:nvPr/>
        </p:nvSpPr>
        <p:spPr>
          <a:xfrm>
            <a:off x="6327648" y="1572768"/>
            <a:ext cx="384048" cy="384048"/>
          </a:xfrm>
          <a:prstGeom prst="ellipse">
            <a:avLst/>
          </a:prstGeom>
          <a:solidFill>
            <a:srgbClr val="00113D"/>
          </a:solidFill>
          <a:ln w="12700">
            <a:solidFill>
              <a:srgbClr val="00113D"/>
            </a:solidFill>
            <a:prstDash val="solid"/>
          </a:ln>
        </p:spPr>
      </p:sp>
      <p:sp>
        <p:nvSpPr>
          <p:cNvPr id="16" name="Text 14"/>
          <p:cNvSpPr txBox="1"/>
          <p:nvPr/>
        </p:nvSpPr>
        <p:spPr>
          <a:xfrm>
            <a:off x="6327648"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803136" y="1554480"/>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Accurate cost allocation</a:t>
            </a:r>
            <a:endParaRPr lang="en-US" sz="1200" dirty="0"/>
          </a:p>
        </p:txBody>
      </p:sp>
      <p:sp>
        <p:nvSpPr>
          <p:cNvPr id="18" name="Text 16"/>
          <p:cNvSpPr txBox="1"/>
          <p:nvPr/>
        </p:nvSpPr>
        <p:spPr>
          <a:xfrm>
            <a:off x="6327648" y="2084832"/>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Transfers move the roster the same day, so a worker is charged to the project he actually worked on.</a:t>
            </a:r>
            <a:endParaRPr lang="en-US" sz="1000" dirty="0"/>
          </a:p>
        </p:txBody>
      </p:sp>
      <p:sp>
        <p:nvSpPr>
          <p:cNvPr id="19" name="Shape 17"/>
          <p:cNvSpPr/>
          <p:nvPr/>
        </p:nvSpPr>
        <p:spPr>
          <a:xfrm>
            <a:off x="457200" y="2944368"/>
            <a:ext cx="2578608" cy="1371600"/>
          </a:xfrm>
          <a:prstGeom prst="roundRect">
            <a:avLst>
              <a:gd name="adj" fmla="val 6000"/>
            </a:avLst>
          </a:prstGeom>
          <a:solidFill>
            <a:srgbClr val="F5F7F5"/>
          </a:solidFill>
          <a:ln w="9525">
            <a:solidFill>
              <a:srgbClr val="DEE6E1"/>
            </a:solidFill>
            <a:prstDash val="solid"/>
          </a:ln>
        </p:spPr>
      </p:sp>
      <p:sp>
        <p:nvSpPr>
          <p:cNvPr id="20" name="Shape 18"/>
          <p:cNvSpPr/>
          <p:nvPr/>
        </p:nvSpPr>
        <p:spPr>
          <a:xfrm>
            <a:off x="676656" y="3145536"/>
            <a:ext cx="384048" cy="384048"/>
          </a:xfrm>
          <a:prstGeom prst="ellipse">
            <a:avLst/>
          </a:prstGeom>
          <a:solidFill>
            <a:srgbClr val="0378E2"/>
          </a:solidFill>
          <a:ln w="12700">
            <a:solidFill>
              <a:srgbClr val="0378E2"/>
            </a:solidFill>
            <a:prstDash val="solid"/>
          </a:ln>
        </p:spPr>
      </p:sp>
      <p:sp>
        <p:nvSpPr>
          <p:cNvPr id="21" name="Text 19"/>
          <p:cNvSpPr txBox="1"/>
          <p:nvPr/>
        </p:nvSpPr>
        <p:spPr>
          <a:xfrm>
            <a:off x="676656"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152144" y="3127248"/>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Leave handled in the system</a:t>
            </a:r>
            <a:endParaRPr lang="en-US" sz="1200" dirty="0"/>
          </a:p>
        </p:txBody>
      </p:sp>
      <p:sp>
        <p:nvSpPr>
          <p:cNvPr id="23" name="Text 21"/>
          <p:cNvSpPr txBox="1"/>
          <p:nvPr/>
        </p:nvSpPr>
        <p:spPr>
          <a:xfrm>
            <a:off x="676656" y="3657600"/>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Staff apply, admin approves, and approved leave is automatically excluded from absence.</a:t>
            </a:r>
            <a:endParaRPr lang="en-US" sz="1000" dirty="0"/>
          </a:p>
        </p:txBody>
      </p:sp>
      <p:sp>
        <p:nvSpPr>
          <p:cNvPr id="24" name="Shape 22"/>
          <p:cNvSpPr/>
          <p:nvPr/>
        </p:nvSpPr>
        <p:spPr>
          <a:xfrm>
            <a:off x="3282696" y="2944368"/>
            <a:ext cx="2578608" cy="1371600"/>
          </a:xfrm>
          <a:prstGeom prst="roundRect">
            <a:avLst>
              <a:gd name="adj" fmla="val 6000"/>
            </a:avLst>
          </a:prstGeom>
          <a:solidFill>
            <a:srgbClr val="F5F7F5"/>
          </a:solidFill>
          <a:ln w="9525">
            <a:solidFill>
              <a:srgbClr val="DEE6E1"/>
            </a:solidFill>
            <a:prstDash val="solid"/>
          </a:ln>
        </p:spPr>
      </p:sp>
      <p:sp>
        <p:nvSpPr>
          <p:cNvPr id="25" name="Shape 23"/>
          <p:cNvSpPr/>
          <p:nvPr/>
        </p:nvSpPr>
        <p:spPr>
          <a:xfrm>
            <a:off x="3502152" y="3145536"/>
            <a:ext cx="384048" cy="384048"/>
          </a:xfrm>
          <a:prstGeom prst="ellipse">
            <a:avLst/>
          </a:prstGeom>
          <a:solidFill>
            <a:srgbClr val="B8842E"/>
          </a:solidFill>
          <a:ln w="12700">
            <a:solidFill>
              <a:srgbClr val="B8842E"/>
            </a:solidFill>
            <a:prstDash val="solid"/>
          </a:ln>
        </p:spPr>
      </p:sp>
      <p:sp>
        <p:nvSpPr>
          <p:cNvPr id="26" name="Text 24"/>
          <p:cNvSpPr txBox="1"/>
          <p:nvPr/>
        </p:nvSpPr>
        <p:spPr>
          <a:xfrm>
            <a:off x="3502152"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3977640" y="3127248"/>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Disputes settled by record</a:t>
            </a:r>
            <a:endParaRPr lang="en-US" sz="1200" dirty="0"/>
          </a:p>
        </p:txBody>
      </p:sp>
      <p:sp>
        <p:nvSpPr>
          <p:cNvPr id="28" name="Text 26"/>
          <p:cNvSpPr txBox="1"/>
          <p:nvPr/>
        </p:nvSpPr>
        <p:spPr>
          <a:xfrm>
            <a:off x="3502152" y="3657600"/>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Worker Locator answers 'where was he on the 14th?' in seconds, for any past date.</a:t>
            </a:r>
            <a:endParaRPr lang="en-US" sz="1000" dirty="0"/>
          </a:p>
        </p:txBody>
      </p:sp>
      <p:sp>
        <p:nvSpPr>
          <p:cNvPr id="29" name="Shape 27"/>
          <p:cNvSpPr/>
          <p:nvPr/>
        </p:nvSpPr>
        <p:spPr>
          <a:xfrm>
            <a:off x="6108192" y="2944368"/>
            <a:ext cx="2578608" cy="1371600"/>
          </a:xfrm>
          <a:prstGeom prst="roundRect">
            <a:avLst>
              <a:gd name="adj" fmla="val 6000"/>
            </a:avLst>
          </a:prstGeom>
          <a:solidFill>
            <a:srgbClr val="F5F7F5"/>
          </a:solidFill>
          <a:ln w="9525">
            <a:solidFill>
              <a:srgbClr val="DEE6E1"/>
            </a:solidFill>
            <a:prstDash val="solid"/>
          </a:ln>
        </p:spPr>
      </p:sp>
      <p:sp>
        <p:nvSpPr>
          <p:cNvPr id="30" name="Shape 28"/>
          <p:cNvSpPr/>
          <p:nvPr/>
        </p:nvSpPr>
        <p:spPr>
          <a:xfrm>
            <a:off x="6327648" y="3145536"/>
            <a:ext cx="384048" cy="384048"/>
          </a:xfrm>
          <a:prstGeom prst="ellipse">
            <a:avLst/>
          </a:prstGeom>
          <a:solidFill>
            <a:srgbClr val="5B6B63"/>
          </a:solidFill>
          <a:ln w="12700">
            <a:solidFill>
              <a:srgbClr val="5B6B63"/>
            </a:solidFill>
            <a:prstDash val="solid"/>
          </a:ln>
        </p:spPr>
      </p:sp>
      <p:sp>
        <p:nvSpPr>
          <p:cNvPr id="31" name="Text 29"/>
          <p:cNvSpPr txBox="1"/>
          <p:nvPr/>
        </p:nvSpPr>
        <p:spPr>
          <a:xfrm>
            <a:off x="6327648"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6803136" y="3127248"/>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Nothing lost with a phone</a:t>
            </a:r>
            <a:endParaRPr lang="en-US" sz="1200" dirty="0"/>
          </a:p>
        </p:txBody>
      </p:sp>
      <p:sp>
        <p:nvSpPr>
          <p:cNvPr id="33" name="Text 31"/>
          <p:cNvSpPr txBox="1"/>
          <p:nvPr/>
        </p:nvSpPr>
        <p:spPr>
          <a:xfrm>
            <a:off x="6327648" y="3657600"/>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Data lives in Google's cloud, not on the device. A broken or stolen phone loses no attendance.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Running cost and what comes next</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No licence fees, no per-user charge, no server to buy</a:t>
            </a:r>
            <a:endParaRPr lang="en-US" sz="1300" dirty="0"/>
          </a:p>
        </p:txBody>
      </p:sp>
      <p:sp>
        <p:nvSpPr>
          <p:cNvPr id="4" name="Shape 2"/>
          <p:cNvSpPr/>
          <p:nvPr/>
        </p:nvSpPr>
        <p:spPr>
          <a:xfrm>
            <a:off x="457200" y="1371600"/>
            <a:ext cx="3977640" cy="1783080"/>
          </a:xfrm>
          <a:prstGeom prst="roundRect">
            <a:avLst>
              <a:gd name="adj" fmla="val 4615"/>
            </a:avLst>
          </a:prstGeom>
          <a:solidFill>
            <a:srgbClr val="E9F2ED"/>
          </a:solidFill>
          <a:ln w="9525">
            <a:solidFill>
              <a:srgbClr val="DEE6E1"/>
            </a:solidFill>
            <a:prstDash val="solid"/>
          </a:ln>
        </p:spPr>
      </p:sp>
      <p:sp>
        <p:nvSpPr>
          <p:cNvPr id="5" name="Text 3"/>
          <p:cNvSpPr txBox="1"/>
          <p:nvPr/>
        </p:nvSpPr>
        <p:spPr>
          <a:xfrm>
            <a:off x="694944" y="1536192"/>
            <a:ext cx="3474720" cy="237744"/>
          </a:xfrm>
          <a:prstGeom prst="rect">
            <a:avLst/>
          </a:prstGeom>
          <a:noFill/>
          <a:ln/>
        </p:spPr>
        <p:txBody>
          <a:bodyPr wrap="square" lIns="0" tIns="0" rIns="0" bIns="0" rtlCol="0" anchor="t"/>
          <a:lstStyle/>
          <a:p>
            <a:pPr algn="l" indent="0" marL="0">
              <a:lnSpc>
                <a:spcPct val="110000"/>
              </a:lnSpc>
              <a:buNone/>
            </a:pPr>
            <a:r>
              <a:rPr lang="en-US" sz="1050" b="1" dirty="0">
                <a:solidFill>
                  <a:srgbClr val="17875E"/>
                </a:solidFill>
                <a:latin typeface="Calibri" pitchFamily="34" charset="0"/>
                <a:ea typeface="Calibri" pitchFamily="34" charset="-122"/>
                <a:cs typeface="Calibri" pitchFamily="34" charset="-120"/>
              </a:rPr>
              <a:t>COST</a:t>
            </a:r>
            <a:endParaRPr lang="en-US" sz="1050" dirty="0"/>
          </a:p>
        </p:txBody>
      </p:sp>
      <p:sp>
        <p:nvSpPr>
          <p:cNvPr id="6" name="Text 4"/>
          <p:cNvSpPr txBox="1"/>
          <p:nvPr/>
        </p:nvSpPr>
        <p:spPr>
          <a:xfrm>
            <a:off x="694944" y="1828800"/>
            <a:ext cx="3520440" cy="77724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There is no software licence and no per-user fee. The only cost is Google's charge for data stored and read, which scales with how much the system is actually used.</a:t>
            </a:r>
            <a:endParaRPr lang="en-US" sz="1100" dirty="0"/>
          </a:p>
        </p:txBody>
      </p:sp>
      <p:sp>
        <p:nvSpPr>
          <p:cNvPr id="7" name="Text 5"/>
          <p:cNvSpPr txBox="1"/>
          <p:nvPr/>
        </p:nvSpPr>
        <p:spPr>
          <a:xfrm>
            <a:off x="694944" y="2633472"/>
            <a:ext cx="3520440" cy="384048"/>
          </a:xfrm>
          <a:prstGeom prst="rect">
            <a:avLst/>
          </a:prstGeom>
          <a:noFill/>
          <a:ln/>
        </p:spPr>
        <p:txBody>
          <a:bodyPr wrap="square" lIns="0" tIns="0" rIns="0" bIns="0" rtlCol="0" anchor="t"/>
          <a:lstStyle/>
          <a:p>
            <a:pPr algn="l" indent="0" marL="0">
              <a:lnSpc>
                <a:spcPct val="110000"/>
              </a:lnSpc>
              <a:buNone/>
            </a:pPr>
            <a:r>
              <a:rPr lang="en-US" sz="1100" b="1" dirty="0">
                <a:solidFill>
                  <a:srgbClr val="17875E"/>
                </a:solidFill>
                <a:latin typeface="Calibri" pitchFamily="34" charset="0"/>
                <a:ea typeface="Calibri" pitchFamily="34" charset="-122"/>
                <a:cs typeface="Calibri" pitchFamily="34" charset="-120"/>
              </a:rPr>
              <a:t>At 4,000 workers this is projected to sit well inside a USD 100 per month budget.</a:t>
            </a:r>
            <a:endParaRPr lang="en-US" sz="1100" dirty="0"/>
          </a:p>
        </p:txBody>
      </p:sp>
      <p:sp>
        <p:nvSpPr>
          <p:cNvPr id="8" name="Text 6"/>
          <p:cNvSpPr txBox="1"/>
          <p:nvPr/>
        </p:nvSpPr>
        <p:spPr>
          <a:xfrm>
            <a:off x="4709160" y="1536192"/>
            <a:ext cx="3840480" cy="237744"/>
          </a:xfrm>
          <a:prstGeom prst="rect">
            <a:avLst/>
          </a:prstGeom>
          <a:noFill/>
          <a:ln/>
        </p:spPr>
        <p:txBody>
          <a:bodyPr wrap="square" lIns="0" tIns="0" rIns="0" bIns="0" rtlCol="0" anchor="t"/>
          <a:lstStyle/>
          <a:p>
            <a:pPr algn="l" indent="0" marL="0">
              <a:lnSpc>
                <a:spcPct val="110000"/>
              </a:lnSpc>
              <a:buNone/>
            </a:pPr>
            <a:r>
              <a:rPr lang="en-US" sz="1050" b="1" dirty="0">
                <a:solidFill>
                  <a:srgbClr val="00113D"/>
                </a:solidFill>
                <a:latin typeface="Calibri" pitchFamily="34" charset="0"/>
                <a:ea typeface="Calibri" pitchFamily="34" charset="-122"/>
                <a:cs typeface="Calibri" pitchFamily="34" charset="-120"/>
              </a:rPr>
              <a:t>ALREADY PLANNED</a:t>
            </a:r>
            <a:endParaRPr lang="en-US" sz="1050" dirty="0"/>
          </a:p>
        </p:txBody>
      </p:sp>
      <p:sp>
        <p:nvSpPr>
          <p:cNvPr id="9" name="Shape 7"/>
          <p:cNvSpPr/>
          <p:nvPr/>
        </p:nvSpPr>
        <p:spPr>
          <a:xfrm>
            <a:off x="4709160" y="1874520"/>
            <a:ext cx="274320" cy="274320"/>
          </a:xfrm>
          <a:prstGeom prst="ellipse">
            <a:avLst/>
          </a:prstGeom>
          <a:solidFill>
            <a:srgbClr val="0B66D6"/>
          </a:solidFill>
          <a:ln w="12700">
            <a:solidFill>
              <a:srgbClr val="0B66D6"/>
            </a:solidFill>
            <a:prstDash val="solid"/>
          </a:ln>
        </p:spPr>
      </p:sp>
      <p:sp>
        <p:nvSpPr>
          <p:cNvPr id="10" name="Text 8"/>
          <p:cNvSpPr txBox="1"/>
          <p:nvPr/>
        </p:nvSpPr>
        <p:spPr>
          <a:xfrm>
            <a:off x="4709160" y="18745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5120640" y="1847088"/>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Broadcast notifications</a:t>
            </a:r>
            <a:endParaRPr lang="en-US" sz="1150" dirty="0"/>
          </a:p>
        </p:txBody>
      </p:sp>
      <p:sp>
        <p:nvSpPr>
          <p:cNvPr id="12" name="Text 10"/>
          <p:cNvSpPr txBox="1"/>
          <p:nvPr/>
        </p:nvSpPr>
        <p:spPr>
          <a:xfrm>
            <a:off x="5120640" y="2103120"/>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Alerts for transfers, arrivals and leave. The daily biometric reminder already works.</a:t>
            </a:r>
            <a:endParaRPr lang="en-US" sz="1000" dirty="0"/>
          </a:p>
        </p:txBody>
      </p:sp>
      <p:sp>
        <p:nvSpPr>
          <p:cNvPr id="13" name="Shape 11"/>
          <p:cNvSpPr/>
          <p:nvPr/>
        </p:nvSpPr>
        <p:spPr>
          <a:xfrm>
            <a:off x="4709160" y="2551176"/>
            <a:ext cx="274320" cy="274320"/>
          </a:xfrm>
          <a:prstGeom prst="ellipse">
            <a:avLst/>
          </a:prstGeom>
          <a:solidFill>
            <a:srgbClr val="00113D"/>
          </a:solidFill>
          <a:ln w="12700">
            <a:solidFill>
              <a:srgbClr val="00113D"/>
            </a:solidFill>
            <a:prstDash val="solid"/>
          </a:ln>
        </p:spPr>
      </p:sp>
      <p:sp>
        <p:nvSpPr>
          <p:cNvPr id="14" name="Text 12"/>
          <p:cNvSpPr txBox="1"/>
          <p:nvPr/>
        </p:nvSpPr>
        <p:spPr>
          <a:xfrm>
            <a:off x="4709160" y="255117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5120640" y="2523744"/>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Photo on check-in</a:t>
            </a:r>
            <a:endParaRPr lang="en-US" sz="1150" dirty="0"/>
          </a:p>
        </p:txBody>
      </p:sp>
      <p:sp>
        <p:nvSpPr>
          <p:cNvPr id="16" name="Text 14"/>
          <p:cNvSpPr txBox="1"/>
          <p:nvPr/>
        </p:nvSpPr>
        <p:spPr>
          <a:xfrm>
            <a:off x="5120640" y="2779776"/>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An optional photo stored with the attendance record.</a:t>
            </a:r>
            <a:endParaRPr lang="en-US" sz="1000" dirty="0"/>
          </a:p>
        </p:txBody>
      </p:sp>
      <p:sp>
        <p:nvSpPr>
          <p:cNvPr id="17" name="Shape 15"/>
          <p:cNvSpPr/>
          <p:nvPr/>
        </p:nvSpPr>
        <p:spPr>
          <a:xfrm>
            <a:off x="4709160" y="3227832"/>
            <a:ext cx="274320" cy="274320"/>
          </a:xfrm>
          <a:prstGeom prst="ellipse">
            <a:avLst/>
          </a:prstGeom>
          <a:solidFill>
            <a:srgbClr val="0B66D6"/>
          </a:solidFill>
          <a:ln w="12700">
            <a:solidFill>
              <a:srgbClr val="0B66D6"/>
            </a:solidFill>
            <a:prstDash val="solid"/>
          </a:ln>
        </p:spPr>
      </p:sp>
      <p:sp>
        <p:nvSpPr>
          <p:cNvPr id="18" name="Text 16"/>
          <p:cNvSpPr txBox="1"/>
          <p:nvPr/>
        </p:nvSpPr>
        <p:spPr>
          <a:xfrm>
            <a:off x="4709160" y="322783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5120640" y="3200400"/>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Power BI / Excel reporting</a:t>
            </a:r>
            <a:endParaRPr lang="en-US" sz="1150" dirty="0"/>
          </a:p>
        </p:txBody>
      </p:sp>
      <p:sp>
        <p:nvSpPr>
          <p:cNvPr id="20" name="Text 18"/>
          <p:cNvSpPr txBox="1"/>
          <p:nvPr/>
        </p:nvSpPr>
        <p:spPr>
          <a:xfrm>
            <a:off x="5120640" y="3456432"/>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Live connection for HR's own analysis, without touching the app.</a:t>
            </a:r>
            <a:endParaRPr lang="en-US" sz="1000" dirty="0"/>
          </a:p>
        </p:txBody>
      </p:sp>
      <p:sp>
        <p:nvSpPr>
          <p:cNvPr id="21" name="Shape 19"/>
          <p:cNvSpPr/>
          <p:nvPr/>
        </p:nvSpPr>
        <p:spPr>
          <a:xfrm>
            <a:off x="4709160" y="3904488"/>
            <a:ext cx="274320" cy="274320"/>
          </a:xfrm>
          <a:prstGeom prst="ellipse">
            <a:avLst/>
          </a:prstGeom>
          <a:solidFill>
            <a:srgbClr val="00113D"/>
          </a:solidFill>
          <a:ln w="12700">
            <a:solidFill>
              <a:srgbClr val="00113D"/>
            </a:solidFill>
            <a:prstDash val="solid"/>
          </a:ln>
        </p:spPr>
      </p:sp>
      <p:sp>
        <p:nvSpPr>
          <p:cNvPr id="22" name="Text 20"/>
          <p:cNvSpPr txBox="1"/>
          <p:nvPr/>
        </p:nvSpPr>
        <p:spPr>
          <a:xfrm>
            <a:off x="4709160" y="390448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5120640" y="3877056"/>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ERP roster sync</a:t>
            </a:r>
            <a:endParaRPr lang="en-US" sz="1150" dirty="0"/>
          </a:p>
        </p:txBody>
      </p:sp>
      <p:sp>
        <p:nvSpPr>
          <p:cNvPr id="24" name="Text 22"/>
          <p:cNvSpPr txBox="1"/>
          <p:nvPr/>
        </p:nvSpPr>
        <p:spPr>
          <a:xfrm>
            <a:off x="5120640" y="4133088"/>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Roster arriving automatically from the ERP instead of an Excel upload.</a:t>
            </a:r>
            <a:endParaRPr lang="en-US" sz="1000" dirty="0"/>
          </a:p>
        </p:txBody>
      </p:sp>
      <p:sp>
        <p:nvSpPr>
          <p:cNvPr id="25" name="Shape 23"/>
          <p:cNvSpPr/>
          <p:nvPr/>
        </p:nvSpPr>
        <p:spPr>
          <a:xfrm>
            <a:off x="457200" y="3364992"/>
            <a:ext cx="3977640" cy="1234440"/>
          </a:xfrm>
          <a:prstGeom prst="roundRect">
            <a:avLst>
              <a:gd name="adj" fmla="val 6667"/>
            </a:avLst>
          </a:prstGeom>
          <a:solidFill>
            <a:srgbClr val="F5F7F5"/>
          </a:solidFill>
          <a:ln w="9525">
            <a:solidFill>
              <a:srgbClr val="DEE6E1"/>
            </a:solidFill>
            <a:prstDash val="solid"/>
          </a:ln>
        </p:spPr>
      </p:sp>
      <p:sp>
        <p:nvSpPr>
          <p:cNvPr id="26" name="Text 24"/>
          <p:cNvSpPr txBox="1"/>
          <p:nvPr/>
        </p:nvSpPr>
        <p:spPr>
          <a:xfrm>
            <a:off x="694944" y="3529584"/>
            <a:ext cx="3520440" cy="256032"/>
          </a:xfrm>
          <a:prstGeom prst="rect">
            <a:avLst/>
          </a:prstGeom>
          <a:noFill/>
          <a:ln/>
        </p:spPr>
        <p:txBody>
          <a:bodyPr wrap="square" lIns="0" tIns="0" rIns="0" bIns="0" rtlCol="0" anchor="t"/>
          <a:lstStyle/>
          <a:p>
            <a:pPr algn="l" indent="0" marL="0">
              <a:lnSpc>
                <a:spcPct val="110000"/>
              </a:lnSpc>
              <a:buNone/>
            </a:pPr>
            <a:r>
              <a:rPr lang="en-US" sz="1200" b="1" dirty="0">
                <a:solidFill>
                  <a:srgbClr val="00113D"/>
                </a:solidFill>
                <a:latin typeface="Calibri" pitchFamily="34" charset="0"/>
                <a:ea typeface="Calibri" pitchFamily="34" charset="-122"/>
                <a:cs typeface="Calibri" pitchFamily="34" charset="-120"/>
              </a:rPr>
              <a:t>Already live today</a:t>
            </a:r>
            <a:endParaRPr lang="en-US" sz="1200" dirty="0"/>
          </a:p>
        </p:txBody>
      </p:sp>
      <p:sp>
        <p:nvSpPr>
          <p:cNvPr id="27" name="Text 25"/>
          <p:cNvSpPr txBox="1"/>
          <p:nvPr/>
        </p:nvSpPr>
        <p:spPr>
          <a:xfrm>
            <a:off x="694944" y="3822192"/>
            <a:ext cx="3520440" cy="65836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GPS check-in, QR badges, ERP biometric cross-check, five roles, site scoping, transfers, leave, holidays, dashboards, Excel reports and full backup.</a:t>
            </a:r>
            <a:endParaRPr lang="en-US" sz="1050" dirty="0"/>
          </a:p>
        </p:txBody>
      </p:sp>
      <p:sp>
        <p:nvSpPr>
          <p:cNvPr id="28" name="Text 26"/>
          <p:cNvSpPr txBox="1"/>
          <p:nvPr/>
        </p:nvSpPr>
        <p:spPr>
          <a:xfrm>
            <a:off x="457200" y="4572000"/>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Cost figure is a projection based on expected usage, not a quoted price.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113D"/>
        </a:solidFill>
      </p:bgPr>
    </p:bg>
    <p:spTree>
      <p:nvGrpSpPr>
        <p:cNvPr id="1" name=""/>
        <p:cNvGrpSpPr/>
        <p:nvPr/>
      </p:nvGrpSpPr>
      <p:grpSpPr>
        <a:xfrm>
          <a:off x="0" y="0"/>
          <a:ext cx="0" cy="0"/>
          <a:chOff x="0" y="0"/>
          <a:chExt cx="0" cy="0"/>
        </a:xfrm>
      </p:grpSpPr>
      <p:sp>
        <p:nvSpPr>
          <p:cNvPr id="2" name="Shape 0"/>
          <p:cNvSpPr/>
          <p:nvPr/>
        </p:nvSpPr>
        <p:spPr>
          <a:xfrm>
            <a:off x="-1280160" y="2926080"/>
            <a:ext cx="3291840" cy="3291840"/>
          </a:xfrm>
          <a:prstGeom prst="ellipse">
            <a:avLst/>
          </a:prstGeom>
          <a:solidFill>
            <a:srgbClr val="0A2050"/>
          </a:solidFill>
          <a:ln w="12700">
            <a:solidFill>
              <a:srgbClr val="0A2050"/>
            </a:solidFill>
            <a:prstDash val="solid"/>
          </a:ln>
        </p:spPr>
      </p:sp>
      <p:sp>
        <p:nvSpPr>
          <p:cNvPr id="3" name="Shape 1"/>
          <p:cNvSpPr/>
          <p:nvPr/>
        </p:nvSpPr>
        <p:spPr>
          <a:xfrm>
            <a:off x="7680960" y="-1097280"/>
            <a:ext cx="2926080" cy="2926080"/>
          </a:xfrm>
          <a:prstGeom prst="ellipse">
            <a:avLst/>
          </a:prstGeom>
          <a:solidFill>
            <a:srgbClr val="0A2050"/>
          </a:solidFill>
          <a:ln w="12700">
            <a:solidFill>
              <a:srgbClr val="0A2050"/>
            </a:solidFill>
            <a:prstDash val="solid"/>
          </a:ln>
        </p:spPr>
      </p:sp>
      <p:sp>
        <p:nvSpPr>
          <p:cNvPr id="4" name="Text 2"/>
          <p:cNvSpPr txBox="1"/>
          <p:nvPr/>
        </p:nvSpPr>
        <p:spPr>
          <a:xfrm>
            <a:off x="457200" y="1170432"/>
            <a:ext cx="822960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Built, tested, ready to roll out</a:t>
            </a:r>
            <a:endParaRPr lang="en-US" sz="4000" dirty="0"/>
          </a:p>
        </p:txBody>
      </p:sp>
      <p:sp>
        <p:nvSpPr>
          <p:cNvPr id="5" name="Text 3"/>
          <p:cNvSpPr txBox="1"/>
          <p:nvPr/>
        </p:nvSpPr>
        <p:spPr>
          <a:xfrm>
            <a:off x="457200" y="2523744"/>
            <a:ext cx="6766560" cy="658368"/>
          </a:xfrm>
          <a:prstGeom prst="rect">
            <a:avLst/>
          </a:prstGeom>
          <a:noFill/>
          <a:ln/>
        </p:spPr>
        <p:txBody>
          <a:bodyPr wrap="square" lIns="0" tIns="0" rIns="0" bIns="0" rtlCol="0" anchor="ctr"/>
          <a:lstStyle/>
          <a:p>
            <a:pPr indent="0" marL="0">
              <a:lnSpc>
                <a:spcPct val="115000"/>
              </a:lnSpc>
              <a:buNone/>
            </a:pPr>
            <a:r>
              <a:rPr lang="en-US" sz="1400" dirty="0">
                <a:solidFill>
                  <a:srgbClr val="CADCFC"/>
                </a:solidFill>
                <a:latin typeface="Calibri" pitchFamily="34" charset="0"/>
                <a:ea typeface="Calibri" pitchFamily="34" charset="-122"/>
                <a:cs typeface="Calibri" pitchFamily="34" charset="-120"/>
              </a:rPr>
              <a:t>Both apps are complete and running against the live database. What remains is a pilot on one project, then a staged rollout across the rest.</a:t>
            </a:r>
            <a:endParaRPr lang="en-US" sz="1400" dirty="0"/>
          </a:p>
        </p:txBody>
      </p:sp>
      <p:sp>
        <p:nvSpPr>
          <p:cNvPr id="6" name="Text 4"/>
          <p:cNvSpPr txBox="1"/>
          <p:nvPr/>
        </p:nvSpPr>
        <p:spPr>
          <a:xfrm>
            <a:off x="457200" y="3310128"/>
            <a:ext cx="2560320" cy="548640"/>
          </a:xfrm>
          <a:prstGeom prst="rect">
            <a:avLst/>
          </a:prstGeom>
          <a:noFill/>
          <a:ln/>
        </p:spPr>
        <p:txBody>
          <a:bodyPr wrap="square" lIns="0" tIns="0" rIns="0" bIns="0" rtlCol="0" anchor="ctr"/>
          <a:lstStyle/>
          <a:p>
            <a:pPr indent="0" marL="0">
              <a:buNone/>
            </a:pPr>
            <a:r>
              <a:rPr lang="en-US" sz="3200" b="1" dirty="0">
                <a:solidFill>
                  <a:srgbClr val="F9CB14"/>
                </a:solidFill>
                <a:latin typeface="Cambria" pitchFamily="34" charset="0"/>
                <a:ea typeface="Cambria" pitchFamily="34" charset="-122"/>
                <a:cs typeface="Cambria" pitchFamily="34" charset="-120"/>
              </a:rPr>
              <a:t>4,000</a:t>
            </a:r>
            <a:endParaRPr lang="en-US" sz="3200" dirty="0"/>
          </a:p>
        </p:txBody>
      </p:sp>
      <p:sp>
        <p:nvSpPr>
          <p:cNvPr id="7" name="Text 5"/>
          <p:cNvSpPr txBox="1"/>
          <p:nvPr/>
        </p:nvSpPr>
        <p:spPr>
          <a:xfrm>
            <a:off x="457200" y="3840480"/>
            <a:ext cx="2560320" cy="329184"/>
          </a:xfrm>
          <a:prstGeom prst="rect">
            <a:avLst/>
          </a:prstGeom>
          <a:noFill/>
          <a:ln/>
        </p:spPr>
        <p:txBody>
          <a:bodyPr wrap="square" lIns="0" tIns="0" rIns="0" bIns="0" rtlCol="0" anchor="ctr"/>
          <a:lstStyle/>
          <a:p>
            <a:pPr indent="0" marL="0">
              <a:buNone/>
            </a:pPr>
            <a:r>
              <a:rPr lang="en-US" sz="1100" dirty="0">
                <a:solidFill>
                  <a:srgbClr val="8FA8CC"/>
                </a:solidFill>
                <a:latin typeface="Calibri" pitchFamily="34" charset="0"/>
                <a:ea typeface="Calibri" pitchFamily="34" charset="-122"/>
                <a:cs typeface="Calibri" pitchFamily="34" charset="-120"/>
              </a:rPr>
              <a:t>workers supported</a:t>
            </a:r>
            <a:endParaRPr lang="en-US" sz="1100" dirty="0"/>
          </a:p>
        </p:txBody>
      </p:sp>
      <p:sp>
        <p:nvSpPr>
          <p:cNvPr id="8" name="Text 6"/>
          <p:cNvSpPr txBox="1"/>
          <p:nvPr/>
        </p:nvSpPr>
        <p:spPr>
          <a:xfrm>
            <a:off x="3246120" y="3310128"/>
            <a:ext cx="2560320" cy="548640"/>
          </a:xfrm>
          <a:prstGeom prst="rect">
            <a:avLst/>
          </a:prstGeom>
          <a:noFill/>
          <a:ln/>
        </p:spPr>
        <p:txBody>
          <a:bodyPr wrap="square" lIns="0" tIns="0" rIns="0" bIns="0" rtlCol="0" anchor="ctr"/>
          <a:lstStyle/>
          <a:p>
            <a:pPr indent="0" marL="0">
              <a:buNone/>
            </a:pPr>
            <a:r>
              <a:rPr lang="en-US" sz="3200" b="1" dirty="0">
                <a:solidFill>
                  <a:srgbClr val="F9CB14"/>
                </a:solidFill>
                <a:latin typeface="Cambria" pitchFamily="34" charset="0"/>
                <a:ea typeface="Cambria" pitchFamily="34" charset="-122"/>
                <a:cs typeface="Cambria" pitchFamily="34" charset="-120"/>
              </a:rPr>
              <a:t>5</a:t>
            </a:r>
            <a:endParaRPr lang="en-US" sz="3200" dirty="0"/>
          </a:p>
        </p:txBody>
      </p:sp>
      <p:sp>
        <p:nvSpPr>
          <p:cNvPr id="9" name="Text 7"/>
          <p:cNvSpPr txBox="1"/>
          <p:nvPr/>
        </p:nvSpPr>
        <p:spPr>
          <a:xfrm>
            <a:off x="3246120" y="3840480"/>
            <a:ext cx="2560320" cy="329184"/>
          </a:xfrm>
          <a:prstGeom prst="rect">
            <a:avLst/>
          </a:prstGeom>
          <a:noFill/>
          <a:ln/>
        </p:spPr>
        <p:txBody>
          <a:bodyPr wrap="square" lIns="0" tIns="0" rIns="0" bIns="0" rtlCol="0" anchor="ctr"/>
          <a:lstStyle/>
          <a:p>
            <a:pPr indent="0" marL="0">
              <a:buNone/>
            </a:pPr>
            <a:r>
              <a:rPr lang="en-US" sz="1100" dirty="0">
                <a:solidFill>
                  <a:srgbClr val="8FA8CC"/>
                </a:solidFill>
                <a:latin typeface="Calibri" pitchFamily="34" charset="0"/>
                <a:ea typeface="Calibri" pitchFamily="34" charset="-122"/>
                <a:cs typeface="Calibri" pitchFamily="34" charset="-120"/>
              </a:rPr>
              <a:t>roles</a:t>
            </a:r>
            <a:endParaRPr lang="en-US" sz="1100" dirty="0"/>
          </a:p>
        </p:txBody>
      </p:sp>
      <p:sp>
        <p:nvSpPr>
          <p:cNvPr id="10" name="Text 8"/>
          <p:cNvSpPr txBox="1"/>
          <p:nvPr/>
        </p:nvSpPr>
        <p:spPr>
          <a:xfrm>
            <a:off x="6035040" y="3310128"/>
            <a:ext cx="2560320" cy="548640"/>
          </a:xfrm>
          <a:prstGeom prst="rect">
            <a:avLst/>
          </a:prstGeom>
          <a:noFill/>
          <a:ln/>
        </p:spPr>
        <p:txBody>
          <a:bodyPr wrap="square" lIns="0" tIns="0" rIns="0" bIns="0" rtlCol="0" anchor="ctr"/>
          <a:lstStyle/>
          <a:p>
            <a:pPr indent="0" marL="0">
              <a:buNone/>
            </a:pPr>
            <a:r>
              <a:rPr lang="en-US" sz="3200" b="1" dirty="0">
                <a:solidFill>
                  <a:srgbClr val="F9CB14"/>
                </a:solidFill>
                <a:latin typeface="Cambria" pitchFamily="34" charset="0"/>
                <a:ea typeface="Cambria" pitchFamily="34" charset="-122"/>
                <a:cs typeface="Cambria" pitchFamily="34" charset="-120"/>
              </a:rPr>
              <a:t>56</a:t>
            </a:r>
            <a:endParaRPr lang="en-US" sz="3200" dirty="0"/>
          </a:p>
        </p:txBody>
      </p:sp>
      <p:sp>
        <p:nvSpPr>
          <p:cNvPr id="11" name="Text 9"/>
          <p:cNvSpPr txBox="1"/>
          <p:nvPr/>
        </p:nvSpPr>
        <p:spPr>
          <a:xfrm>
            <a:off x="6035040" y="3840480"/>
            <a:ext cx="2560320" cy="329184"/>
          </a:xfrm>
          <a:prstGeom prst="rect">
            <a:avLst/>
          </a:prstGeom>
          <a:noFill/>
          <a:ln/>
        </p:spPr>
        <p:txBody>
          <a:bodyPr wrap="square" lIns="0" tIns="0" rIns="0" bIns="0" rtlCol="0" anchor="ctr"/>
          <a:lstStyle/>
          <a:p>
            <a:pPr indent="0" marL="0">
              <a:buNone/>
            </a:pPr>
            <a:r>
              <a:rPr lang="en-US" sz="1100" dirty="0">
                <a:solidFill>
                  <a:srgbClr val="8FA8CC"/>
                </a:solidFill>
                <a:latin typeface="Calibri" pitchFamily="34" charset="0"/>
                <a:ea typeface="Calibri" pitchFamily="34" charset="-122"/>
                <a:cs typeface="Calibri" pitchFamily="34" charset="-120"/>
              </a:rPr>
              <a:t>security tests passing</a:t>
            </a:r>
            <a:endParaRPr lang="en-US" sz="1100" dirty="0"/>
          </a:p>
        </p:txBody>
      </p:sp>
      <p:sp>
        <p:nvSpPr>
          <p:cNvPr id="12" name="Text 10"/>
          <p:cNvSpPr txBox="1"/>
          <p:nvPr/>
        </p:nvSpPr>
        <p:spPr>
          <a:xfrm>
            <a:off x="457200" y="4434840"/>
            <a:ext cx="8229600" cy="310896"/>
          </a:xfrm>
          <a:prstGeom prst="rect">
            <a:avLst/>
          </a:prstGeom>
          <a:noFill/>
          <a:ln/>
        </p:spPr>
        <p:txBody>
          <a:bodyPr wrap="square" lIns="0" tIns="0" rIns="0" bIns="0" rtlCol="0" anchor="ctr"/>
          <a:lstStyle/>
          <a:p>
            <a:pPr indent="0" marL="0">
              <a:buNone/>
            </a:pPr>
            <a:r>
              <a:rPr lang="en-US" sz="1100" dirty="0">
                <a:solidFill>
                  <a:srgbClr val="6B84AB"/>
                </a:solidFill>
                <a:latin typeface="Calibri" pitchFamily="34" charset="0"/>
                <a:ea typeface="Calibri" pitchFamily="34" charset="-122"/>
                <a:cs typeface="Calibri" pitchFamily="34" charset="-120"/>
              </a:rPr>
              <a:t>SitePulse  ·  KTC International Contracting</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KTC International Contracting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SitePulse — Workforce Attendance &amp; Manpower Control</dc:title>
  <dc:subject>PptxGenJS Presentation</dc:subject>
  <dc:creator>SitePulse</dc:creator>
  <cp:lastModifiedBy>SitePulse</cp:lastModifiedBy>
  <cp:revision>1</cp:revision>
  <dcterms:created xsi:type="dcterms:W3CDTF">2026-09-11T05:52:04Z</dcterms:created>
  <dcterms:modified xsi:type="dcterms:W3CDTF">2026-09-11T05:52:04Z</dcterms:modified>
</cp:coreProperties>
</file>